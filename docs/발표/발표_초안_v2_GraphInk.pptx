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>
                <a:solidFill>
                  <a:srgbClr val="1F2430"/>
                </a:solidFill>
                <a:latin typeface="Malgun Gothic"/>
              </a:rPr>
              <a:t>질문 1번에 AI가 읽는 토큰 (실측)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질문 1번에 읽는 토큰</c:v>
                </c:pt>
              </c:strCache>
            </c:strRef>
          </c:tx>
          <c:spPr>
            <a:solidFill>
              <a:srgbClr val="2F3C7E"/>
            </a:solidFill>
          </c:spPr>
          <c:dPt>
            <c:idx val="2"/>
            <c:spPr>
              <a:solidFill>
                <a:srgbClr val="1A9E7A"/>
              </a:solidFill>
            </c:spPr>
          </c:dPt>
          <c:dPt>
            <c:idx val="1"/>
            <c:spPr>
              <a:solidFill>
                <a:srgbClr val="F96167"/>
              </a:solidFill>
            </c:spPr>
          </c:dPt>
          <c:cat>
            <c:strRef>
              <c:f>Sheet1!$A$2:$A$4</c:f>
              <c:strCache>
                <c:ptCount val="3"/>
                <c:pt idx="0">
                  <c:v>A. 챗봇에 그냥 묻기</c:v>
                </c:pt>
                <c:pt idx="1">
                  <c:v>B. 데이터를 통째로 주고 묻기</c:v>
                </c:pt>
                <c:pt idx="2">
                  <c:v>C. 우리 (지도를 읽기)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500</c:v>
                </c:pt>
                <c:pt idx="1">
                  <c:v>115000</c:v>
                </c:pt>
                <c:pt idx="2">
                  <c:v>1400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>
                  <a:solidFill>
                    <a:srgbClr val="1F2430"/>
                  </a:solidFill>
                  <a:latin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1D5DB"/>
            </a:solidFill>
          </a:ln>
        </c:spPr>
        <c:txPr>
          <a:bodyPr/>
          <a:lstStyle/>
          <a:p>
            <a:pPr>
              <a:defRPr sz="1100">
                <a:solidFill>
                  <a:srgbClr val="1F2430"/>
                </a:solidFill>
                <a:latin typeface="Malgun Gothi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5E7EB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발표는 결과 자랑이 아니라, 나흘 동안 무엇이 틀렸고 어떻게 알아챘는지에 대한 이야기입니다.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위: 지도 만들기(한 번, AI 277번). 아래: 학생이 올 때마다 읽기. 초록 띠 — 전공·직무·과목을 고르는 세 칸은 위에서 만든 지도를 읽을 뿐 AI가 고르지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[틀렸던 이야기 ① — AI는 시키면 채운다] 무슨 일이 → 왜 → 어떻게 알아챘나 → 어떻게 바꿨나. 마지막에 배운 문장을 그대로 읽는다: AI에게 "없다"라고 말할 권리를 주지 않으면, 있는 것처럼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 그림: 공고의 말(빨강)과 과목의 말(초록)을 가운데 개념으로 잇는다. '위로만' — 전공이 Database를 가르친다고 Oracle을 안다고는 말하지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핵심은 점수식이 아니라 알아채는 방법. 정답지 24개가 자동으로 채점된다.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[틀렸던 이야기 ④ — 한 단어의 무게] 무슨 일이 → 왜 → 어떻게 알아챘나 → 어떻게 바꿨나. 마지막에 배운 문장을 그대로 읽는다: "약점을 쓰지 않는다"는 결정과 "약점이란 단어를 지운다"는 구현은 다른 일이었다. 첫 짐작은 틀렸고, 비교가 맞았다.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[틀렸던 이야기 ⑤ — 대화는 입력만] 무슨 일이 → 왜 → 어떻게 알아챘나 → 어떻게 바꿨나. 마지막에 배운 문장을 그대로 읽는다: 더 많이 물으면 더 잘 아는 게 아니라, 더 많이 흔들렸다.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[틀렸던 이야기 ⑥ — 넷이 한 파일을 고치면] 무슨 일이 → 왜 → 어떻게 알아챘나 → 어떻게 바꿨나. 마지막에 배운 문장을 그대로 읽는다: 역할을 나눠도 파일은 겹친다. 문서와 숫자가 없었으면 누가 맞는지 다투다 끝났을 것이다.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 뤼튼: 과목 이름과 직무를 자신 있게 말했지만, 우리 데이터에 없다. 물어보니 '특정 출처에서 가져온 게 아니다'라고 답했다. 오른쪽 ChatGPT: 같은 질문에 못 한다고 비웠다. 둘 다 학생더러 직접 확인하라고 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표는 전문(docs/20260917_챗봇_대조.md)의 판정표를 줄인 것. 결론이 같아도(통계학과) 근거가 다르다.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 flipV="1">
            <a:off x="9039758" y="1267358"/>
            <a:ext cx="1307592" cy="594360"/>
          </a:xfrm>
          <a:prstGeom prst="line">
            <a:avLst/>
          </a:prstGeom>
          <a:ln w="4953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347350" y="1267358"/>
            <a:ext cx="1188720" cy="713232"/>
          </a:xfrm>
          <a:prstGeom prst="line">
            <a:avLst/>
          </a:prstGeom>
          <a:ln w="4953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8778240" y="1600200"/>
            <a:ext cx="523036" cy="523036"/>
          </a:xfrm>
          <a:prstGeom prst="ellipse">
            <a:avLst/>
          </a:prstGeom>
          <a:solidFill>
            <a:srgbClr val="5B6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85832" y="1005840"/>
            <a:ext cx="523036" cy="523036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74552" y="1719072"/>
            <a:ext cx="523036" cy="523036"/>
          </a:xfrm>
          <a:prstGeom prst="ellipse">
            <a:avLst/>
          </a:prstGeom>
          <a:solidFill>
            <a:srgbClr val="5B6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B8C0E0"/>
                </a:solidFill>
                <a:latin typeface="Malgun Gothic"/>
              </a:rPr>
              <a:t>LG CNS AI캠퍼스 · Knowledge Graph 과정 · 3주차 미니 프로젝트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84124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Malgun Gothic"/>
              </a:rPr>
              <a:t>역량 경로 추천</a:t>
            </a:r>
          </a:p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FFFFFF"/>
                </a:solidFill>
                <a:latin typeface="Malgun Gothic"/>
              </a:rPr>
              <a:t>내 관심사 → 전공 → 과목 → LG 신입 직무를 데이터로 잇는 지도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B8C0E0"/>
                </a:solidFill>
                <a:latin typeface="Malgun Gothic"/>
              </a:rPr>
              <a:t>"좋아하는 것"에서 "첫 직장"까지 — </a:t>
            </a:r>
            <a:r>
              <a:rPr sz="1800" b="1" i="0">
                <a:solidFill>
                  <a:srgbClr val="F96167"/>
                </a:solidFill>
                <a:latin typeface="Malgun Gothic"/>
              </a:rPr>
              <a:t>지어내지 않고 데이터로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20640"/>
            <a:ext cx="8686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B8C0E0"/>
                </a:solidFill>
                <a:latin typeface="Malgun Gothic"/>
              </a:rPr>
              <a:t>무엇을 만들었나보다 </a:t>
            </a:r>
            <a:r>
              <a:rPr sz="1400" b="1" i="0">
                <a:solidFill>
                  <a:srgbClr val="FFFFFF"/>
                </a:solidFill>
                <a:latin typeface="Malgun Gothic"/>
              </a:rPr>
              <a:t>무엇이 틀렸고, 어떻게 알아챘고, 무엇을 배웠나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8C0E0"/>
                </a:solidFill>
                <a:latin typeface="Malgun Gothic"/>
              </a:rPr>
              <a:t>팀 4명 · 2026-09-14 ~ 09-18 · 서울대 교육과정 × LG 채용 공고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오늘 이야기 — 성과 두 장, 틀렸던 이야기 여섯 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Malgun Gothic"/>
              </a:rPr>
              <a:t>여섯 장 모두 같은 순서로: 무슨 일이 → 왜 → 어떻게 알아챘나 → 어떻게 바꿨나 → 배운 문장 한 줄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82880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49808" y="197510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02082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F3C7E"/>
                </a:solidFill>
                <a:latin typeface="Malgun Gothic"/>
              </a:rPr>
              <a:t>AI는 시키면 채운다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496312"/>
            <a:ext cx="3063240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F2430"/>
                </a:solidFill>
                <a:latin typeface="Malgun Gothic"/>
              </a:rPr>
              <a:t>첫 시도에서 102개 전공 중 22개만 잡힘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9" y="182880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498847" y="197510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0912" y="202082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F3C7E"/>
                </a:solidFill>
                <a:latin typeface="Malgun Gothic"/>
              </a:rPr>
              <a:t>글자가 같아야 이어진다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2496312"/>
            <a:ext cx="3063240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F2430"/>
                </a:solidFill>
                <a:latin typeface="Malgun Gothic"/>
              </a:rPr>
              <a:t>전공과 직무가 서로 다른 말을 쓰고 있었다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182880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247888" y="197510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9951" y="202082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F3C7E"/>
                </a:solidFill>
                <a:latin typeface="Malgun Gothic"/>
              </a:rPr>
              <a:t>눈 대신 정답지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2496312"/>
            <a:ext cx="3063240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F2430"/>
                </a:solidFill>
                <a:latin typeface="Malgun Gothic"/>
              </a:rPr>
              <a:t>점수 계산을 세 번 바꿨고, 매번 정답지가 잡았다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65760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749808" y="380390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1872" y="384962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F3C7E"/>
                </a:solidFill>
                <a:latin typeface="Malgun Gothic"/>
              </a:rPr>
              <a:t>한 단어의 무게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325112"/>
            <a:ext cx="3063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F2430"/>
                </a:solidFill>
                <a:latin typeface="Malgun Gothic"/>
              </a:rPr>
              <a:t>"명확하게" 한 단어에 결과가 흔들렸다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79" y="365760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4498847" y="380390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0912" y="384962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F3C7E"/>
                </a:solidFill>
                <a:latin typeface="Malgun Gothic"/>
              </a:rPr>
              <a:t>대화는 입력만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79" y="4325112"/>
            <a:ext cx="3063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F2430"/>
                </a:solidFill>
                <a:latin typeface="Malgun Gothic"/>
              </a:rPr>
              <a:t>더 많이 물으면 더 많이 흔들렸다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19" y="365760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8247888" y="380390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59951" y="384962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F3C7E"/>
                </a:solidFill>
                <a:latin typeface="Malgun Gothic"/>
              </a:rPr>
              <a:t>넷이 한 파일을 고치면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19" y="4325112"/>
            <a:ext cx="3063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F2430"/>
                </a:solidFill>
                <a:latin typeface="Malgun Gothic"/>
              </a:rPr>
              <a:t>같은 파일을 동시에 고쳐 세 번 부딪혔다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715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280"/>
                </a:solidFill>
                <a:latin typeface="Malgun Gothic"/>
              </a:rPr>
              <a:t>앞뒤로: 무엇을 만들었나(30초 데모) · 챗봇에게 같은 질문을 해 보니 · 한계 · 다른 팀에 묻고 싶은 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EF1FB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무엇을 만들었나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Malgun Gothic"/>
              </a:rPr>
              <a:t>고등학생이 "이런 걸 좋아해요"라고 말하면 → "이 전공, 이 과목, 그리고 LG의 이 일"을 근거와 함께 답한다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011680"/>
            <a:ext cx="2011680" cy="1463040"/>
          </a:xfrm>
          <a:prstGeom prst="roundRect">
            <a:avLst>
              <a:gd name="adj" fmla="val 8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1371600" y="1810512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3317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F2430"/>
                </a:solidFill>
                <a:latin typeface="Malgun Gothic"/>
              </a:rPr>
              <a:t>학생 이야기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74320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Malgun Gothic"/>
              </a:rPr>
              <a:t>자기소개나
질문 3개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87752" y="2743200"/>
            <a:ext cx="265176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80360" y="2011680"/>
            <a:ext cx="2011680" cy="1463040"/>
          </a:xfrm>
          <a:prstGeom prst="roundRect">
            <a:avLst>
              <a:gd name="adj" fmla="val 8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3703320" y="1810512"/>
            <a:ext cx="365760" cy="365760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23317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F2430"/>
                </a:solidFill>
                <a:latin typeface="Malgun Gothic"/>
              </a:rPr>
              <a:t>역량 태그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274320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Malgun Gothic"/>
              </a:rPr>
              <a:t>사전에 있는 단어로
예) 데이터 분석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919472" y="2743200"/>
            <a:ext cx="265176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212080" y="2011680"/>
            <a:ext cx="2011680" cy="1463040"/>
          </a:xfrm>
          <a:prstGeom prst="roundRect">
            <a:avLst>
              <a:gd name="adj" fmla="val 8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6035040" y="1810512"/>
            <a:ext cx="365760" cy="365760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23317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F2430"/>
                </a:solidFill>
                <a:latin typeface="Malgun Gothic"/>
              </a:rPr>
              <a:t>전공 1위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274320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Malgun Gothic"/>
              </a:rPr>
              <a:t>전공 61개 전부 비교
예) 통계학과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251192" y="2743200"/>
            <a:ext cx="265176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543800" y="2011680"/>
            <a:ext cx="2011680" cy="1463040"/>
          </a:xfrm>
          <a:prstGeom prst="roundRect">
            <a:avLst>
              <a:gd name="adj" fmla="val 8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8366760" y="1810512"/>
            <a:ext cx="365760" cy="365760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0" y="23317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F2430"/>
                </a:solidFill>
                <a:latin typeface="Malgun Gothic"/>
              </a:rPr>
              <a:t>직무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274320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Malgun Gothic"/>
              </a:rPr>
              <a:t>전공이 기르는 역량으로
예) LG에너지솔루션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582911" y="2743200"/>
            <a:ext cx="265177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875520" y="2011680"/>
            <a:ext cx="2011680" cy="1463040"/>
          </a:xfrm>
          <a:prstGeom prst="roundRect">
            <a:avLst>
              <a:gd name="adj" fmla="val 8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10698480" y="1810512"/>
            <a:ext cx="365760" cy="365760"/>
          </a:xfrm>
          <a:prstGeom prst="ellipse">
            <a:avLst/>
          </a:prstGeom>
          <a:solidFill>
            <a:srgbClr val="1A9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12680" y="23317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F2430"/>
                </a:solidFill>
                <a:latin typeface="Malgun Gothic"/>
              </a:rPr>
              <a:t>과목 3개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274320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Malgun Gothic"/>
              </a:rPr>
              <a:t>전공과 직무를 잇는 다리
예) 데이터마이닝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023360"/>
            <a:ext cx="5394960" cy="160020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749808" y="416966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=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61872" y="4215384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Malgun Gothic"/>
              </a:rPr>
              <a:t>답은 "지도" 위에서만 찾는다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4690872"/>
            <a:ext cx="4937760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F2430"/>
                </a:solidFill>
                <a:latin typeface="Malgun Gothic"/>
              </a:rPr>
              <a:t>실제 교육과정과 실제 채용 공고를 모아 전공–역량–직무를 선으로 이어 둔 지도. 카드에 나오는 전공·과목·직무 이름은 전부 이 지도에 실제로 있는 것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4023360"/>
            <a:ext cx="5394960" cy="160020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6419088" y="416966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31152" y="4215384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Malgun Gothic"/>
              </a:rPr>
              <a:t>AI는 두 군데에만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4690872"/>
            <a:ext cx="4937760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F2430"/>
                </a:solidFill>
                <a:latin typeface="Malgun Gothic"/>
              </a:rPr>
              <a:t>① 글에서 역량 이름 뽑기  ② 카드를 친절한 말로 풀어 쓰기. 어떤 전공·직무를 고를지(판정)는 AI가 아니라 계산이 한다 — 그래서 같은 이야기에 같은 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EF1FB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30초 데모 — 학생이 보는 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Malgun Gothic"/>
              </a:rPr>
              <a:t>입력: "데이터 분석이 재미있어요 / 통계 수업, 파이썬으로 데이터 정리"  (실제 출력)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645920"/>
            <a:ext cx="7223760" cy="4709160"/>
          </a:xfrm>
          <a:prstGeom prst="roundRect">
            <a:avLst>
              <a:gd name="adj" fmla="val 3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1783080"/>
            <a:ext cx="6858000" cy="4434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[프로필]  Data Analysis · Statistics · Python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[전공]    통계학과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          선택 이유: 전체 61개 전공 중 보유 역량과 관련된 46개를 선정,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          그 중 1위가 통계학과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          ✓ Data Analysis (과목 7개) · Statistics (과목 14개)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          ○ 아직 안 이어진 역량 — Python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          역량 연결도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            █████░░░░░  46%  통계학과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            ████░░░░░░  39%  화학생물공학부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            ████░░░░░░  38%  첨단융합학부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[과목]    통계학과에서 이 역량을 기르는 과목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          기계학습과 계산금융 → Machine Learning 역량 향상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          데이터마이닝 방법 및 실습 → Data Analysis 역량 향상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          다변량자료분석 및 실습 → Data Analysis 역량 향상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[직무]    LG에너지솔루션 소재개발AX (신입)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          요구 역량 2/2 충족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          Data Analysis(O), Machine Learning(O)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[다음 후보]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          1. LG CNS AI (AX) (신입) — 요구 역량 7/10 충족 …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──────────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F2430"/>
                </a:solidFill>
                <a:latin typeface="Consolas"/>
              </a:rPr>
              <a:t>출처 · 과목: 서울대학교 교육과정 — 대학알리미 · 공고: LG Careers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148840"/>
            <a:ext cx="3657600" cy="384048"/>
          </a:xfrm>
          <a:prstGeom prst="roundRect">
            <a:avLst>
              <a:gd name="adj" fmla="val 4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83880" y="222199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Malgun Gothic"/>
              </a:rPr>
              <a:t>① 61개 전공을 전부 비교했다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578608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Malgun Gothic"/>
              </a:rPr>
              <a:t>떠오른 서너 개 중에 고르는 챗봇과 다른 첫 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154680"/>
            <a:ext cx="3657600" cy="384048"/>
          </a:xfrm>
          <a:prstGeom prst="roundRect">
            <a:avLst>
              <a:gd name="adj" fmla="val 40000"/>
            </a:avLst>
          </a:prstGeom>
          <a:solidFill>
            <a:srgbClr val="1A9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183880" y="322783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Malgun Gothic"/>
              </a:rPr>
              <a:t>② 이어진 것 ✓ · 안 이어진 것 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58444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Malgun Gothic"/>
              </a:rPr>
              <a:t>안 이어진 역량(Python)도 숨기지 않는다. 46%는 "어울릴 확률"이 아니라 역량이 이어진 정도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343400"/>
            <a:ext cx="3657600" cy="384048"/>
          </a:xfrm>
          <a:prstGeom prst="roundRect">
            <a:avLst>
              <a:gd name="adj" fmla="val 40000"/>
            </a:avLst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83880" y="441655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Malgun Gothic"/>
              </a:rPr>
              <a:t>③ 전부 실제로 있는 과목·직무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773168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Malgun Gothic"/>
              </a:rPr>
              <a:t>3,829개 과목·172개 직무 데이터에 있는 이름만 나온다 — 매번 자동 확인. 이 아래에 AI가 쓴 설명 문단이 붙는다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EF1FB"/>
                </a:solidFill>
                <a:latin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재료 — 숫자 여덟 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Malgun Gothic"/>
              </a:rPr>
              <a:t>지어내지 않으려면 진짜 재료가 있어야 한다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78308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201168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2F3C7E"/>
                </a:solidFill>
                <a:latin typeface="Arial"/>
              </a:rPr>
              <a:t>105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788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430"/>
                </a:solidFill>
                <a:latin typeface="Malgun Gothic"/>
              </a:rPr>
              <a:t>서울대 전공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36391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Malgun Gothic"/>
              </a:rPr>
              <a:t>과목 3,829개 (대학알리미)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178308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566160" y="201168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2F3C7E"/>
                </a:solidFill>
                <a:latin typeface="Arial"/>
              </a:rPr>
              <a:t>9곳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788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430"/>
                </a:solidFill>
                <a:latin typeface="Malgun Gothic"/>
              </a:rPr>
              <a:t>LG 계열사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136391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Malgun Gothic"/>
              </a:rPr>
              <a:t>공고 50건 → 직무 172개 (신입 85)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78308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00800" y="201168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F3C7E"/>
                </a:solidFill>
                <a:latin typeface="Arial"/>
              </a:rPr>
              <a:t>61·120·108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788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430"/>
                </a:solidFill>
                <a:latin typeface="Malgun Gothic"/>
              </a:rPr>
              <a:t>전공 · 역량 · 직무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136391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Malgun Gothic"/>
              </a:rPr>
              <a:t>지도의 점 세 종류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178308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235440" y="201168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2F3C7E"/>
                </a:solidFill>
                <a:latin typeface="Arial"/>
              </a:rPr>
              <a:t>139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788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430"/>
                </a:solidFill>
                <a:latin typeface="Malgun Gothic"/>
              </a:rPr>
              <a:t>사전의 단어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136391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Malgun Gothic"/>
              </a:rPr>
              <a:t>같은 뜻은 한 단어로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93192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31520" y="416052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2F3C7E"/>
                </a:solidFill>
                <a:latin typeface="Arial"/>
              </a:rPr>
              <a:t>277번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937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430"/>
                </a:solidFill>
                <a:latin typeface="Malgun Gothic"/>
              </a:rPr>
              <a:t>지도 만들 때 AI 호출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285231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Malgun Gothic"/>
              </a:rPr>
              <a:t>한 번만, 결과는 저장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83280" y="393192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566160" y="416052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2F3C7E"/>
                </a:solidFill>
                <a:latin typeface="Arial"/>
              </a:rPr>
              <a:t>2~6번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4937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430"/>
                </a:solidFill>
                <a:latin typeface="Malgun Gothic"/>
              </a:rPr>
              <a:t>학생 1명당 AI 호출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5285231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Malgun Gothic"/>
              </a:rPr>
              <a:t>판정에는 0번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393192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00800" y="416052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2F3C7E"/>
                </a:solidFill>
                <a:latin typeface="Arial"/>
              </a:rPr>
              <a:t>24 / 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937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430"/>
                </a:solidFill>
                <a:latin typeface="Malgun Gothic"/>
              </a:rPr>
              <a:t>정답지 통과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285231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Malgun Gothic"/>
              </a:rPr>
              <a:t>고칠 때마다 자동 채점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52560" y="393192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235440" y="416052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2F3C7E"/>
                </a:solidFill>
                <a:latin typeface="Arial"/>
              </a:rPr>
              <a:t>3가지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4937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430"/>
                </a:solidFill>
                <a:latin typeface="Malgun Gothic"/>
              </a:rPr>
              <a:t>매번 확인하는 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5285231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Malgun Gothic"/>
              </a:rPr>
              <a:t>같은 답 · 실제 이름 · 개수가 맞나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EF1FB"/>
                </a:solidFill>
                <a:latin typeface="Arial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어떻게 동작하나 — 지도를 한 번 만들고, 매번 읽는다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Malgun Gothic"/>
              </a:rPr>
              <a:t>① 지도 만들기 — 미리, 한 번만</a:t>
            </a:r>
            <a:r>
              <a:rPr sz="1050" b="0" i="0">
                <a:solidFill>
                  <a:srgbClr val="6B7280"/>
                </a:solidFill>
                <a:latin typeface="Malgun Gothic"/>
              </a:rPr>
              <a:t>   AI가 글을 읽어 역량 이름을 뽑는다 (총 277번, 결과는 저장)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783080"/>
            <a:ext cx="2011680" cy="658368"/>
          </a:xfrm>
          <a:prstGeom prst="roundRect">
            <a:avLst>
              <a:gd name="adj" fmla="val 10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" y="1911095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F2430"/>
                </a:solidFill>
                <a:latin typeface="Malgun Gothic"/>
              </a:rPr>
              <a:t>과목 이름 3,829개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258568"/>
            <a:ext cx="18288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Malgun Gothic"/>
              </a:rPr>
              <a:t>서울대 105개 전공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560320"/>
            <a:ext cx="2011680" cy="658368"/>
          </a:xfrm>
          <a:prstGeom prst="roundRect">
            <a:avLst>
              <a:gd name="adj" fmla="val 10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0080" y="2688336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F2430"/>
                </a:solidFill>
                <a:latin typeface="Malgun Gothic"/>
              </a:rPr>
              <a:t>채용 공고 172개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035808"/>
            <a:ext cx="18288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Malgun Gothic"/>
              </a:rPr>
              <a:t>LG 계열사 9곳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606040" y="2112264"/>
            <a:ext cx="411480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606040" y="2889504"/>
            <a:ext cx="411480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063240" y="1828800"/>
            <a:ext cx="2514600" cy="1371600"/>
          </a:xfrm>
          <a:prstGeom prst="roundRect">
            <a:avLst>
              <a:gd name="adj" fmla="val 10000"/>
            </a:avLst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154680" y="1956816"/>
            <a:ext cx="2331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F3C7E"/>
                </a:solidFill>
                <a:latin typeface="Malgun Gothic"/>
              </a:rPr>
              <a:t>AI가 역량 이름 뽑기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2304288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Malgun Gothic"/>
              </a:rPr>
              <a:t>"통계학과는 통계를 기른다"
"이 직무는 머신러닝을 요구한다"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23560" y="2514600"/>
            <a:ext cx="320040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989320" y="1828800"/>
            <a:ext cx="2514600" cy="1371600"/>
          </a:xfrm>
          <a:prstGeom prst="roundRect">
            <a:avLst>
              <a:gd name="adj" fmla="val 10000"/>
            </a:avLst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080759" y="1956816"/>
            <a:ext cx="2331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F3C7E"/>
                </a:solidFill>
                <a:latin typeface="Malgun Gothic"/>
              </a:rPr>
              <a:t>사전으로 이름 통일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59" y="2304288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Malgun Gothic"/>
              </a:rPr>
              <a:t>같은 뜻은 한 단어로 — 139개
"Oracle은 Database의 한 종류" 102개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49640" y="2514600"/>
            <a:ext cx="320040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915400" y="1828800"/>
            <a:ext cx="2697480" cy="1371600"/>
          </a:xfrm>
          <a:prstGeom prst="roundRect">
            <a:avLst>
              <a:gd name="adj" fmla="val 10000"/>
            </a:avLst>
          </a:prstGeom>
          <a:solidFill>
            <a:srgbClr val="DF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006840" y="1956816"/>
            <a:ext cx="2514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F3C7E"/>
                </a:solidFill>
                <a:latin typeface="Malgun Gothic"/>
              </a:rPr>
              <a:t>지도 완성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2304288"/>
            <a:ext cx="2514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Malgun Gothic"/>
              </a:rPr>
              <a:t>전공 61 — 역량 120 — 직무 108
관계 5종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5204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Malgun Gothic"/>
              </a:rPr>
              <a:t>② 지도 읽기 — 학생이 올 때마다</a:t>
            </a:r>
            <a:r>
              <a:rPr sz="1050" b="0" i="0">
                <a:solidFill>
                  <a:srgbClr val="6B7280"/>
                </a:solidFill>
                <a:latin typeface="Malgun Gothic"/>
              </a:rPr>
              <a:t>   전공·직무·과목은 위 지도에서 찾는다 — AI는 맨 앞과 맨 뒤에만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3931920"/>
            <a:ext cx="1691640" cy="1188720"/>
          </a:xfrm>
          <a:prstGeom prst="roundRect">
            <a:avLst>
              <a:gd name="adj" fmla="val 10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40080" y="4059935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F2430"/>
                </a:solidFill>
                <a:latin typeface="Malgun Gothic"/>
              </a:rPr>
              <a:t>학생 이야기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407408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Malgun Gothic"/>
              </a:rPr>
              <a:t>자기소개나
질문 3개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258568" y="4526280"/>
            <a:ext cx="14630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2423160" y="3931920"/>
            <a:ext cx="1691640" cy="1188720"/>
          </a:xfrm>
          <a:prstGeom prst="roundRect">
            <a:avLst>
              <a:gd name="adj" fmla="val 10000"/>
            </a:avLst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2514600" y="4059935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F3C7E"/>
                </a:solidFill>
                <a:latin typeface="Malgun Gothic"/>
              </a:rPr>
              <a:t>역량 태그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14600" y="4407408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Malgun Gothic"/>
              </a:rPr>
              <a:t>AI 1번 —
사전에 있는 단어만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133087" y="4526280"/>
            <a:ext cx="146305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4297680" y="3931920"/>
            <a:ext cx="1691640" cy="1188720"/>
          </a:xfrm>
          <a:prstGeom prst="roundRect">
            <a:avLst>
              <a:gd name="adj" fmla="val 10000"/>
            </a:avLst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389120" y="4059935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F3C7E"/>
                </a:solidFill>
                <a:latin typeface="Malgun Gothic"/>
              </a:rPr>
              <a:t>전공 1위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4407408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Malgun Gothic"/>
              </a:rPr>
              <a:t>61개 전부 비교
예) 통계학과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007608" y="4526280"/>
            <a:ext cx="14630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6172200" y="3931920"/>
            <a:ext cx="1691640" cy="1188720"/>
          </a:xfrm>
          <a:prstGeom prst="roundRect">
            <a:avLst>
              <a:gd name="adj" fmla="val 10000"/>
            </a:avLst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263640" y="4059935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F3C7E"/>
                </a:solidFill>
                <a:latin typeface="Malgun Gothic"/>
              </a:rPr>
              <a:t>직무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4407408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Malgun Gothic"/>
              </a:rPr>
              <a:t>전공이 기르는 역량으로
충족/부족 세기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882127" y="4526280"/>
            <a:ext cx="14630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046720" y="3931920"/>
            <a:ext cx="1691640" cy="1188720"/>
          </a:xfrm>
          <a:prstGeom prst="roundRect">
            <a:avLst>
              <a:gd name="adj" fmla="val 10000"/>
            </a:avLst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138160" y="4059935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F3C7E"/>
                </a:solidFill>
                <a:latin typeface="Malgun Gothic"/>
              </a:rPr>
              <a:t>과목 3개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8160" y="4407408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Malgun Gothic"/>
              </a:rPr>
              <a:t>전공과 직무를
잇는 다리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756648" y="4526280"/>
            <a:ext cx="14630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9921240" y="3931920"/>
            <a:ext cx="1691640" cy="1188720"/>
          </a:xfrm>
          <a:prstGeom prst="roundRect">
            <a:avLst>
              <a:gd name="adj" fmla="val 10000"/>
            </a:avLst>
          </a:prstGeom>
          <a:solidFill>
            <a:srgbClr val="DF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0012680" y="4059935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F3C7E"/>
                </a:solidFill>
                <a:latin typeface="Malgun Gothic"/>
              </a:rPr>
              <a:t>카드 + 설명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12680" y="4407408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Malgun Gothic"/>
              </a:rPr>
              <a:t>숫자·근거는 카드
말은 AI 1번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24528" y="5257800"/>
            <a:ext cx="5586984" cy="566928"/>
          </a:xfrm>
          <a:prstGeom prst="roundRect">
            <a:avLst>
              <a:gd name="adj" fmla="val 30000"/>
            </a:avLst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4297680" y="5276088"/>
            <a:ext cx="54406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A9E7A"/>
                </a:solidFill>
                <a:latin typeface="Malgun Gothic"/>
              </a:rPr>
              <a:t>↑ 위에서 만든 지도를 여기서 읽는다</a:t>
            </a:r>
          </a:p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A9E7A"/>
                </a:solidFill>
                <a:latin typeface="Malgun Gothic"/>
              </a:rPr>
              <a:t>전공·직무·과목은 AI가 고르지 않고, 지도에서 찾는다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1612880" y="2514600"/>
            <a:ext cx="228600" cy="0"/>
          </a:xfrm>
          <a:prstGeom prst="line">
            <a:avLst/>
          </a:prstGeom>
          <a:ln w="25400">
            <a:prstDash val="dash"/>
            <a:solidFill>
              <a:srgbClr val="1A9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1841480" y="2514600"/>
            <a:ext cx="0" cy="3017520"/>
          </a:xfrm>
          <a:prstGeom prst="line">
            <a:avLst/>
          </a:prstGeom>
          <a:ln w="25400">
            <a:prstDash val="dash"/>
            <a:solidFill>
              <a:srgbClr val="1A9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9829800" y="5532120"/>
            <a:ext cx="2011680" cy="0"/>
          </a:xfrm>
          <a:prstGeom prst="line">
            <a:avLst/>
          </a:prstGeom>
          <a:ln w="25400">
            <a:prstDash val="dash"/>
            <a:solidFill>
              <a:srgbClr val="1A9E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915400" y="3218688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1A9E7A"/>
                </a:solidFill>
                <a:latin typeface="Malgun Gothic"/>
              </a:rPr>
              <a:t>이 지도를 읽어서 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430"/>
                </a:solidFill>
                <a:latin typeface="Malgun Gothic"/>
              </a:rPr>
              <a:t>같은 이야기를 두 번 넣으면 같은 답이 나오고, 카드에 나오는 전공·과목·직무 이름은 전부 실제 데이터에 있는 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EF1FB"/>
                </a:solidFill>
                <a:latin typeface="Arial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무엇으로 만들었나 — 작게, 표준으로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Malgun Gothic"/>
              </a:rPr>
              <a:t>Python 약 3,100줄 · 파일 7개 · 외부 라이브러리 5개. 판정을 계산에 맡기려면 도구가 단순해야 했다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645920"/>
            <a:ext cx="3520440" cy="2176272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9808" y="179222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1837943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Malgun Gothic"/>
              </a:rPr>
              <a:t>언어 · 협업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13432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050" b="1">
                <a:solidFill>
                  <a:srgbClr val="1F2430"/>
                </a:solidFill>
                <a:latin typeface="Malgun Gothic"/>
              </a:rPr>
              <a:t>Python</a:t>
            </a:r>
            <a:r>
              <a:rPr sz="1050" b="0">
                <a:solidFill>
                  <a:srgbClr val="1F2430"/>
                </a:solidFill>
                <a:latin typeface="Malgun Gothic"/>
              </a:rPr>
              <a:t> — 코드 3,100줄(팀 모듈 포함 4,500), 파일 7개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050" b="1">
                <a:solidFill>
                  <a:srgbClr val="1F2430"/>
                </a:solidFill>
                <a:latin typeface="Malgun Gothic"/>
              </a:rPr>
              <a:t>Git · GitHub</a:t>
            </a:r>
            <a:r>
              <a:rPr sz="1050" b="0">
                <a:solidFill>
                  <a:srgbClr val="1F2430"/>
                </a:solidFill>
                <a:latin typeface="Malgun Gothic"/>
              </a:rPr>
              <a:t> — 커밋 167 · PR 15 · 기능별 가지에서 작업 후 합치기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050" b="1">
                <a:solidFill>
                  <a:srgbClr val="1F2430"/>
                </a:solidFill>
                <a:latin typeface="Malgun Gothic"/>
              </a:rPr>
              <a:t>VS Code · Claude Code</a:t>
            </a:r>
            <a:r>
              <a:rPr sz="1050" b="0">
                <a:solidFill>
                  <a:srgbClr val="1F2430"/>
                </a:solidFill>
                <a:latin typeface="Malgun Gothic"/>
              </a:rPr>
              <a:t> — 코딩 보조 (동시 편집 사고의 원인이자, 문서화의 도구)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1645920"/>
            <a:ext cx="3520440" cy="2176272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4498847" y="179222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1837943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Malgun Gothic"/>
              </a:rPr>
              <a:t>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2313432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050" b="1">
                <a:solidFill>
                  <a:srgbClr val="1F2430"/>
                </a:solidFill>
                <a:latin typeface="Malgun Gothic"/>
              </a:rPr>
              <a:t>OpenAI gpt-4o-mini</a:t>
            </a:r>
            <a:r>
              <a:rPr sz="1050" b="0">
                <a:solidFill>
                  <a:srgbClr val="1F2430"/>
                </a:solidFill>
                <a:latin typeface="Malgun Gothic"/>
              </a:rPr>
              <a:t> — 역량 뽑기·설명 문단 전부 같은 모델, 무작위성 끔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050" b="1">
                <a:solidFill>
                  <a:srgbClr val="1F2430"/>
                </a:solidFill>
                <a:latin typeface="Malgun Gothic"/>
              </a:rPr>
              <a:t>LangChain</a:t>
            </a:r>
            <a:r>
              <a:rPr sz="1050" b="0">
                <a:solidFill>
                  <a:srgbClr val="1F2430"/>
                </a:solidFill>
                <a:latin typeface="Malgun Gothic"/>
              </a:rPr>
              <a:t> — 프롬프트 틀 · 정해진 형식으로 답 받기 · 글자 흘려보내기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050" b="1">
                <a:solidFill>
                  <a:srgbClr val="1F2430"/>
                </a:solidFill>
                <a:latin typeface="Malgun Gothic"/>
              </a:rPr>
              <a:t>pydantic</a:t>
            </a:r>
            <a:r>
              <a:rPr sz="1050" b="0">
                <a:solidFill>
                  <a:srgbClr val="1F2430"/>
                </a:solidFill>
                <a:latin typeface="Malgun Gothic"/>
              </a:rPr>
              <a:t> — AI 답의 형식을 미리 정해 두는 틀(스키마)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1645920"/>
            <a:ext cx="3520440" cy="2176272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8247888" y="179222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9951" y="1837943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Malgun Gothic"/>
              </a:rPr>
              <a:t>데이터 · 수집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9" y="2313432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050" b="1">
                <a:solidFill>
                  <a:srgbClr val="1F2430"/>
                </a:solidFill>
                <a:latin typeface="Malgun Gothic"/>
              </a:rPr>
              <a:t>requests</a:t>
            </a:r>
            <a:r>
              <a:rPr sz="1050" b="0">
                <a:solidFill>
                  <a:srgbClr val="1F2430"/>
                </a:solidFill>
                <a:latin typeface="Malgun Gothic"/>
              </a:rPr>
              <a:t> — LG Careers 내부 API에서 공고 받기, 날짜별로 저장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050" b="1">
                <a:solidFill>
                  <a:srgbClr val="1F2430"/>
                </a:solidFill>
                <a:latin typeface="Malgun Gothic"/>
              </a:rPr>
              <a:t>pandas</a:t>
            </a:r>
            <a:r>
              <a:rPr sz="1050" b="0">
                <a:solidFill>
                  <a:srgbClr val="1F2430"/>
                </a:solidFill>
                <a:latin typeface="Malgun Gothic"/>
              </a:rPr>
              <a:t> — 과목표(3,829행)를 전공 단위로 묶기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050" b="1">
                <a:solidFill>
                  <a:srgbClr val="1F2430"/>
                </a:solidFill>
                <a:latin typeface="Malgun Gothic"/>
              </a:rPr>
              <a:t>JSON 파일 3층</a:t>
            </a:r>
            <a:r>
              <a:rPr sz="1050" b="0">
                <a:solidFill>
                  <a:srgbClr val="1F2430"/>
                </a:solidFill>
                <a:latin typeface="Malgun Gothic"/>
              </a:rPr>
              <a:t> — AI 원답 저장 → 걸러낸 것 → 지도. 별도 DB 없음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931920"/>
            <a:ext cx="3520440" cy="2176272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749808" y="4078224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KG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1872" y="412394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Malgun Gothic"/>
              </a:rPr>
              <a:t>지식그래프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599431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050" b="1">
                <a:solidFill>
                  <a:srgbClr val="1F2430"/>
                </a:solidFill>
                <a:latin typeface="Malgun Gothic"/>
              </a:rPr>
              <a:t>graph.json + Python 사전/집합</a:t>
            </a:r>
            <a:r>
              <a:rPr sz="1050" b="0">
                <a:solidFill>
                  <a:srgbClr val="1F2430"/>
                </a:solidFill>
                <a:latin typeface="Malgun Gothic"/>
              </a:rPr>
              <a:t> — 점 5종·관계 5종, 겹치는 것 세기로 판정 (AI 0번)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050" b="1">
                <a:solidFill>
                  <a:srgbClr val="1F2430"/>
                </a:solidFill>
                <a:latin typeface="Malgun Gothic"/>
              </a:rPr>
              <a:t>vocab.py</a:t>
            </a:r>
            <a:r>
              <a:rPr sz="1050" b="0">
                <a:solidFill>
                  <a:srgbClr val="1F2430"/>
                </a:solidFill>
                <a:latin typeface="Malgun Gothic"/>
              </a:rPr>
              <a:t> — 공통 사전 139 · '한 종류' 102 · 성향↔역량 (사람이 관리)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050" b="1">
                <a:solidFill>
                  <a:srgbClr val="F96167"/>
                </a:solidFill>
                <a:latin typeface="Malgun Gothic"/>
              </a:rPr>
              <a:t>일부러 뺀 것: Neo4j · 벡터 임베딩</a:t>
            </a:r>
            <a:r>
              <a:rPr sz="1050" b="0">
                <a:solidFill>
                  <a:srgbClr val="1F2430"/>
                </a:solidFill>
                <a:latin typeface="Malgun Gothic"/>
              </a:rPr>
              <a:t> — 점 300개 규모라 사전으로 충분. 나중에 옮길 수 있게 설계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79" y="3931920"/>
            <a:ext cx="3520440" cy="2176272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4498847" y="407822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UI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10912" y="412394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Malgun Gothic"/>
              </a:rPr>
              <a:t>화면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79" y="4599431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050" b="1">
                <a:solidFill>
                  <a:srgbClr val="1F2430"/>
                </a:solidFill>
                <a:latin typeface="Malgun Gothic"/>
              </a:rPr>
              <a:t>명령줄(CLI)</a:t>
            </a:r>
            <a:r>
              <a:rPr sz="1050" b="0">
                <a:solidFill>
                  <a:srgbClr val="1F2430"/>
                </a:solidFill>
                <a:latin typeface="Malgun Gothic"/>
              </a:rPr>
              <a:t> — 입력 4방식 + 역방향 질문(--job)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050" b="1">
                <a:solidFill>
                  <a:srgbClr val="1F2430"/>
                </a:solidFill>
                <a:latin typeface="Malgun Gothic"/>
              </a:rPr>
              <a:t>Flask 웹</a:t>
            </a:r>
            <a:r>
              <a:rPr sz="1050" b="0">
                <a:solidFill>
                  <a:srgbClr val="1F2430"/>
                </a:solidFill>
                <a:latin typeface="Malgun Gothic"/>
              </a:rPr>
              <a:t> — 채팅 화면 · 결과 카드 · 설명 문단. 판정은 여기서 하지 않는다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050" b="1">
                <a:solidFill>
                  <a:srgbClr val="1F2430"/>
                </a:solidFill>
                <a:latin typeface="Malgun Gothic"/>
              </a:rPr>
              <a:t>실시간 스트리밍</a:t>
            </a:r>
            <a:r>
              <a:rPr sz="1050" b="0">
                <a:solidFill>
                  <a:srgbClr val="1F2430"/>
                </a:solidFill>
                <a:latin typeface="Malgun Gothic"/>
              </a:rPr>
              <a:t> — 카드는 즉시, 설명 문단은 글자가 흘러나오게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19" y="3931920"/>
            <a:ext cx="3520440" cy="2176272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8247888" y="407822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59951" y="412394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Malgun Gothic"/>
              </a:rPr>
              <a:t>검증 · 문서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19" y="4599431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050" b="1">
                <a:solidFill>
                  <a:srgbClr val="1F2430"/>
                </a:solidFill>
                <a:latin typeface="Malgun Gothic"/>
              </a:rPr>
              <a:t>check.py</a:t>
            </a:r>
            <a:r>
              <a:rPr sz="1050" b="0">
                <a:solidFill>
                  <a:srgbClr val="1F2430"/>
                </a:solidFill>
                <a:latin typeface="Malgun Gothic"/>
              </a:rPr>
              <a:t> — 확인 3가지 + 정답지 24개 자동 채점 (대화도 대본으로 자동)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050" b="1">
                <a:solidFill>
                  <a:srgbClr val="1F2430"/>
                </a:solidFill>
                <a:latin typeface="Malgun Gothic"/>
              </a:rPr>
              <a:t>tiktoken</a:t>
            </a:r>
            <a:r>
              <a:rPr sz="1050" b="0">
                <a:solidFill>
                  <a:srgbClr val="1F2430"/>
                </a:solidFill>
                <a:latin typeface="Malgun Gothic"/>
              </a:rPr>
              <a:t> — AI가 읽는 양(토큰) 실측. 감으로 말하지 않기 위해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050" b="1">
                <a:solidFill>
                  <a:srgbClr val="1F2430"/>
                </a:solidFill>
                <a:latin typeface="Malgun Gothic"/>
              </a:rPr>
              <a:t>Markdown + Mermaid</a:t>
            </a:r>
            <a:r>
              <a:rPr sz="1050" b="0">
                <a:solidFill>
                  <a:srgbClr val="1F2430"/>
                </a:solidFill>
                <a:latin typeface="Malgun Gothic"/>
              </a:rPr>
              <a:t> — 설명서 1,200줄 · 결정 기록 12개 · 시연 대본 · 챗봇 대조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19963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Malgun Gothic"/>
              </a:rPr>
              <a:t>설치 목록 5줄: flask · langchain-core · langchain-openai · python-dotenv · pydantic (+ pandas · requests · tiktoken)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EF1FB"/>
                </a:solidFill>
                <a:latin typeface="Arial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틀렸던 이야기 ① — AI는 시키면 채운다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Malgun Gothic"/>
              </a:rPr>
              <a:t>9/14 밤, 전공 102개 첫 시도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691640"/>
            <a:ext cx="2606040" cy="35204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9808" y="1837944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Malgun Gothic"/>
              </a:rPr>
              <a:t>무슨 일이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59152"/>
            <a:ext cx="2148840" cy="2715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1">
                <a:solidFill>
                  <a:srgbClr val="1F2430"/>
                </a:solidFill>
                <a:latin typeface="Malgun Gothic"/>
              </a:rPr>
              <a:t>102개 전공 중 22개만 역량이 잡혔다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0">
                <a:solidFill>
                  <a:srgbClr val="1F2430"/>
                </a:solidFill>
                <a:latin typeface="Malgun Gothic"/>
              </a:rPr>
              <a:t>컴퓨터공학부 = '보안' 하나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0">
                <a:solidFill>
                  <a:srgbClr val="1F2430"/>
                </a:solidFill>
                <a:latin typeface="Malgun Gothic"/>
              </a:rPr>
              <a:t>간호학과 = '보안, 클라우드'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0">
                <a:solidFill>
                  <a:srgbClr val="1F2430"/>
                </a:solidFill>
                <a:latin typeface="Malgun Gothic"/>
              </a:rPr>
              <a:t>통계학과 = 아무것도 없음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2" y="1691640"/>
            <a:ext cx="2606040" cy="35204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3566160" y="1837944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8224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Malgun Gothic"/>
              </a:rPr>
              <a:t>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2" y="2359152"/>
            <a:ext cx="2148840" cy="2715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0">
                <a:solidFill>
                  <a:srgbClr val="1F2430"/>
                </a:solidFill>
                <a:latin typeface="Malgun Gothic"/>
              </a:rPr>
              <a:t>"근거 과목 2개 이상" 규칙 — 대학 과목은 주제당 1개뿐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1">
                <a:solidFill>
                  <a:srgbClr val="1F2430"/>
                </a:solidFill>
                <a:latin typeface="Malgun Gothic"/>
              </a:rPr>
              <a:t>"없으면 없다고 답해도 된다"는 말이 없었다</a:t>
            </a:r>
            <a:r>
              <a:rPr sz="1250" b="0">
                <a:solidFill>
                  <a:srgbClr val="1F2430"/>
                </a:solidFill>
                <a:latin typeface="Malgun Gothic"/>
              </a:rPr>
              <a:t> → 간호학과에도 무언가를 붙임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0">
                <a:solidFill>
                  <a:srgbClr val="1F2430"/>
                </a:solidFill>
                <a:latin typeface="Malgun Gothic"/>
              </a:rPr>
              <a:t>AI가 과목명을 줄여 쓰면 근거로 안 쳐줌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1691640"/>
            <a:ext cx="2606040" cy="35204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382512" y="183794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Malgun Gothic"/>
              </a:rPr>
              <a:t>어떻게 알아챘나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359152"/>
            <a:ext cx="2148840" cy="2715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0">
                <a:solidFill>
                  <a:srgbClr val="1F2430"/>
                </a:solidFill>
                <a:latin typeface="Malgun Gothic"/>
              </a:rPr>
              <a:t>결과 파일을 눈으로 열어 봤다 — "컴공 = 보안 하나"는 누가 봐도 이상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1">
                <a:solidFill>
                  <a:srgbClr val="1F2430"/>
                </a:solidFill>
                <a:latin typeface="Malgun Gothic"/>
              </a:rPr>
              <a:t>같은 일이 4번 더: </a:t>
            </a:r>
            <a:r>
              <a:rPr sz="1250" b="0">
                <a:solidFill>
                  <a:srgbClr val="1F2430"/>
                </a:solidFill>
                <a:latin typeface="Malgun Gothic"/>
              </a:rPr>
              <a:t>"정확히 3개", "최대 5개", "3문장 이상"이라고 시키면 채우려고 지어냈다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97696" y="1691640"/>
            <a:ext cx="2606040" cy="35204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9198864" y="1837944"/>
            <a:ext cx="384048" cy="384048"/>
          </a:xfrm>
          <a:prstGeom prst="ellipse">
            <a:avLst/>
          </a:prstGeom>
          <a:solidFill>
            <a:srgbClr val="1A9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0928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9E7A"/>
                </a:solidFill>
                <a:latin typeface="Malgun Gothic"/>
              </a:rPr>
              <a:t>어떻게 바꿨나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2359152"/>
            <a:ext cx="2148840" cy="2715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0">
                <a:solidFill>
                  <a:srgbClr val="1F2430"/>
                </a:solidFill>
                <a:latin typeface="Malgun Gothic"/>
              </a:rPr>
              <a:t>근거 과목 1개면 인정, 줄여 쓴 이름도 인정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0">
                <a:solidFill>
                  <a:srgbClr val="1F2430"/>
                </a:solidFill>
                <a:latin typeface="Malgun Gothic"/>
              </a:rPr>
              <a:t>"없으면 빈 칸이 정답" + 틀린 예 4개를 보여줌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1">
                <a:solidFill>
                  <a:srgbClr val="1F2430"/>
                </a:solidFill>
                <a:latin typeface="Malgun Gothic"/>
              </a:rPr>
              <a:t>개수 지시 전부 삭제 — 근거가 1개면 1개만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0">
                <a:solidFill>
                  <a:srgbClr val="1F2430"/>
                </a:solidFill>
                <a:latin typeface="Malgun Gothic"/>
              </a:rPr>
              <a:t>AI 답을 파일에 저장 → 규칙을 고칠 때 다시 안 물어봄 (0원)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486400"/>
            <a:ext cx="11064240" cy="566928"/>
          </a:xfrm>
          <a:prstGeom prst="roundRect">
            <a:avLst>
              <a:gd name="adj" fmla="val 30000"/>
            </a:avLst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2960" y="560527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Malgun Gothic"/>
              </a:rPr>
              <a:t>배운 문장  </a:t>
            </a:r>
            <a:r>
              <a:rPr sz="1400" b="1" i="0">
                <a:solidFill>
                  <a:srgbClr val="1F2430"/>
                </a:solidFill>
                <a:latin typeface="Malgun Gothic"/>
              </a:rPr>
              <a:t>AI에게 "없다"라고 말할 권리를 주지 않으면, 있는 것처럼 말한다.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EF1FB"/>
                </a:solidFill>
                <a:latin typeface="Arial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틀렸던 이야기 ② — 글자가 같아야 이어진다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Malgun Gothic"/>
              </a:rPr>
              <a:t>9/15 낮, 전공과 직무가 공유하는 역량이 8개에서 멈췄다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pic>
        <p:nvPicPr>
          <p:cNvPr id="13" name="Picture 12" descr="i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6766560" cy="33832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589520" y="1645920"/>
            <a:ext cx="4023360" cy="118872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90688" y="1792224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837943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Malgun Gothic"/>
              </a:rPr>
              <a:t>무슨 일이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313432"/>
            <a:ext cx="3566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430"/>
                </a:solidFill>
                <a:latin typeface="Malgun Gothic"/>
              </a:rPr>
              <a:t>직무는 Oracle·Java·AWS(도구 이름), 전공은 Database·Programming(학문 이름). 같은 뜻인데 글자가 달라 선이 안 이어졌다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2971800"/>
            <a:ext cx="4023360" cy="118872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90688" y="3118104"/>
            <a:ext cx="384048" cy="384048"/>
          </a:xfrm>
          <a:prstGeom prst="ellipse">
            <a:avLst/>
          </a:prstGeom>
          <a:solidFill>
            <a:srgbClr val="1A9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316382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9E7A"/>
                </a:solidFill>
                <a:latin typeface="Malgun Gothic"/>
              </a:rPr>
              <a:t>어떻게 바꿨나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3639312"/>
            <a:ext cx="3566160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430"/>
                </a:solidFill>
                <a:latin typeface="Malgun Gothic"/>
              </a:rPr>
              <a:t>"Oracle은 Database의 한 종류" 같은 관계 102개를 사전에 적었다. 단 한 단계만, 위로만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4297680"/>
            <a:ext cx="4023360" cy="8686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7790688" y="444398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448970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Malgun Gothic"/>
              </a:rPr>
              <a:t>결과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4965192"/>
            <a:ext cx="3566160" cy="64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430"/>
                </a:solidFill>
                <a:latin typeface="Malgun Gothic"/>
              </a:rPr>
              <a:t>공유 역량 8 → 30개 · 이어진 직무 역량 0 → 75개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486400"/>
            <a:ext cx="11064240" cy="566928"/>
          </a:xfrm>
          <a:prstGeom prst="roundRect">
            <a:avLst>
              <a:gd name="adj" fmla="val 30000"/>
            </a:avLst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2960" y="560527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Malgun Gothic"/>
              </a:rPr>
              <a:t>배운 문장  </a:t>
            </a:r>
            <a:r>
              <a:rPr sz="1400" b="1" i="0">
                <a:solidFill>
                  <a:srgbClr val="1F2430"/>
                </a:solidFill>
                <a:latin typeface="Malgun Gothic"/>
              </a:rPr>
              <a:t>거창한 온톨로지가 아니라 "A는 B의 한 종류" 100줄이었다. 대신 방향(위로만)을 지키는 게 전부.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EF1FB"/>
                </a:solidFill>
                <a:latin typeface="Arial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틀렸던 이야기 ③ — 눈 대신 정답지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Malgun Gothic"/>
              </a:rPr>
              <a:t>점수 계산을 세 번 바꿨다. 매번 "이상한 1위"가 알려줬다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1691640"/>
          <a:ext cx="11064240" cy="2267712"/>
        </p:xfrm>
        <a:graphic>
          <a:graphicData uri="http://schemas.openxmlformats.org/drawingml/2006/table">
            <a:tbl>
              <a:tblPr firstRow="0" bandRow="0"/>
              <a:tblGrid>
                <a:gridCol w="2194560"/>
                <a:gridCol w="3931920"/>
                <a:gridCol w="2377440"/>
                <a:gridCol w="256032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</a:rPr>
                        <a:t>시도</a:t>
                      </a:r>
                    </a:p>
                  </a:txBody>
                  <a:tcPr marL="73152" marR="73152" marT="36576" marB="36576" anchor="ctr">
                    <a:solidFill>
                      <a:srgbClr val="2F3C7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</a:rPr>
                        <a:t>이상한 1위</a:t>
                      </a:r>
                    </a:p>
                  </a:txBody>
                  <a:tcPr marL="73152" marR="73152" marT="36576" marB="36576" anchor="ctr">
                    <a:solidFill>
                      <a:srgbClr val="2F3C7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</a:rPr>
                        <a:t>왜</a:t>
                      </a:r>
                    </a:p>
                  </a:txBody>
                  <a:tcPr marL="73152" marR="73152" marT="36576" marB="36576" anchor="ctr">
                    <a:solidFill>
                      <a:srgbClr val="2F3C7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</a:rPr>
                        <a:t>어떻게 바꿨나</a:t>
                      </a:r>
                    </a:p>
                  </a:txBody>
                  <a:tcPr marL="73152" marR="73152" marT="36576" marB="36576" anchor="ctr">
                    <a:solidFill>
                      <a:srgbClr val="2F3C7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2430"/>
                          </a:solidFill>
                          <a:latin typeface="Malgun Gothic"/>
                        </a:rPr>
                        <a:t>1차: 겹치는 비율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430"/>
                          </a:solidFill>
                          <a:latin typeface="Malgun Gothic"/>
                        </a:rPr>
                        <a:t>"데이터 분석·통계"에 식물생산과학부가 통계학과를 이김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430"/>
                          </a:solidFill>
                          <a:latin typeface="Malgun Gothic"/>
                        </a:rPr>
                        <a:t>역량이 적은 전공이 유리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430"/>
                          </a:solidFill>
                          <a:latin typeface="Malgun Gothic"/>
                        </a:rPr>
                        <a:t>학생 역량 중 채운 비율로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2430"/>
                          </a:solidFill>
                          <a:latin typeface="Malgun Gothic"/>
                        </a:rPr>
                        <a:t>2차: 드문 역량에 가중치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430"/>
                          </a:solidFill>
                          <a:latin typeface="Malgun Gothic"/>
                        </a:rPr>
                        <a:t>과목 1개짜리 전공이 근거 19과목의 통계학과를 이김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430"/>
                          </a:solidFill>
                          <a:latin typeface="Malgun Gothic"/>
                        </a:rPr>
                        <a:t>드문 역량을 너무 세게 침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430"/>
                          </a:solidFill>
                          <a:latin typeface="Malgun Gothic"/>
                        </a:rPr>
                        <a:t>가중치를 줄이고, 과목이 적으면 덜 믿기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2430"/>
                          </a:solidFill>
                          <a:latin typeface="Malgun Gothic"/>
                        </a:rPr>
                        <a:t>3차: 직무 쪽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430"/>
                          </a:solidFill>
                          <a:latin typeface="Malgun Gothic"/>
                        </a:rPr>
                        <a:t>역량 1개짜리 공고가 항상 만점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430"/>
                          </a:solidFill>
                          <a:latin typeface="Malgun Gothic"/>
                        </a:rPr>
                        <a:t>적은 쪽이 유리한 같은 문제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430"/>
                          </a:solidFill>
                          <a:latin typeface="Malgun Gothic"/>
                        </a:rPr>
                        <a:t>역량 2개 이상인 공고만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548640" y="4206240"/>
            <a:ext cx="5394960" cy="10972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49808" y="435254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4398264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Malgun Gothic"/>
              </a:rPr>
              <a:t>알아채는 방법이 바뀌었다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73751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430"/>
                </a:solidFill>
                <a:latin typeface="Malgun Gothic"/>
              </a:rPr>
              <a:t>눈으로 서너 개 보고 고치기 → 고칠 때마다 다른 데가 깨짐 → "이 입력이면 이 전공" 정답지 10개 → 24개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206240"/>
            <a:ext cx="5394960" cy="10972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19088" y="4352544"/>
            <a:ext cx="384048" cy="384048"/>
          </a:xfrm>
          <a:prstGeom prst="ellipse">
            <a:avLst/>
          </a:prstGeom>
          <a:solidFill>
            <a:srgbClr val="1A9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4398264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9E7A"/>
                </a:solidFill>
                <a:latin typeface="Malgun Gothic"/>
              </a:rPr>
              <a:t>정답지가 실제로 잡은 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873751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430"/>
                </a:solidFill>
                <a:latin typeface="Malgun Gothic"/>
              </a:rPr>
              <a:t>사전에 단어 하나 넣었더니 엉뚱한 직무가 1위 — 두 번 다 정답지가 먼저 알려줬다. 그 뒤 점수 계산은 손대지 않기로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486400"/>
            <a:ext cx="11064240" cy="566928"/>
          </a:xfrm>
          <a:prstGeom prst="roundRect">
            <a:avLst>
              <a:gd name="adj" fmla="val 30000"/>
            </a:avLst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2960" y="560527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Malgun Gothic"/>
              </a:rPr>
              <a:t>배운 문장  </a:t>
            </a:r>
            <a:r>
              <a:rPr sz="1400" b="1" i="0">
                <a:solidFill>
                  <a:srgbClr val="1F2430"/>
                </a:solidFill>
                <a:latin typeface="Malgun Gothic"/>
              </a:rPr>
              <a:t>고치기 전에 정답지를 먼저 쓴다. 없으면 "고쳤다"와 "옮겼다"를 구분할 수 없다.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EF1FB"/>
                </a:solidFill>
                <a:latin typeface="Arial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틀렸던 이야기 ④ — 한 단어의 무게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Malgun Gothic"/>
              </a:rPr>
              <a:t>9/16 저녁, 같은 자기소개에 결과가 실행마다 달랐다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691640"/>
            <a:ext cx="2606040" cy="35204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9808" y="1837944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Malgun Gothic"/>
              </a:rPr>
              <a:t>무슨 일이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59152"/>
            <a:ext cx="2148840" cy="2715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1">
                <a:solidFill>
                  <a:srgbClr val="1F2430"/>
                </a:solidFill>
                <a:latin typeface="Malgun Gothic"/>
              </a:rPr>
              <a:t>같은 자기소개인데 강점이 실행마다 다르게 나왔다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0">
                <a:solidFill>
                  <a:srgbClr val="1F2430"/>
                </a:solidFill>
                <a:latin typeface="Malgun Gothic"/>
              </a:rPr>
              <a:t>"발표력·설득력" ↔ "분석력만"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0">
                <a:solidFill>
                  <a:srgbClr val="1F2430"/>
                </a:solidFill>
                <a:latin typeface="Malgun Gothic"/>
              </a:rPr>
              <a:t>그래서 1위 전공도 왔다 갔다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2" y="1691640"/>
            <a:ext cx="2606040" cy="35204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3566160" y="1837944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8224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Malgun Gothic"/>
              </a:rPr>
              <a:t>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2" y="2359152"/>
            <a:ext cx="2148840" cy="2715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1">
                <a:solidFill>
                  <a:srgbClr val="F96167"/>
                </a:solidFill>
                <a:latin typeface="Malgun Gothic"/>
              </a:rPr>
              <a:t>처음 짐작(틀림): </a:t>
            </a:r>
            <a:r>
              <a:rPr sz="1250" b="0">
                <a:solidFill>
                  <a:srgbClr val="1F2430"/>
                </a:solidFill>
                <a:latin typeface="Malgun Gothic"/>
              </a:rPr>
              <a:t>"규칙 100줄이 지워졌다"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0">
                <a:solidFill>
                  <a:srgbClr val="1F2430"/>
                </a:solidFill>
                <a:latin typeface="Malgun Gothic"/>
              </a:rPr>
              <a:t>두 버전을 나란히 비교하니 </a:t>
            </a:r>
            <a:r>
              <a:rPr sz="1250" b="1">
                <a:solidFill>
                  <a:srgbClr val="1F2430"/>
                </a:solidFill>
                <a:latin typeface="Malgun Gothic"/>
              </a:rPr>
              <a:t>차이는 '약점' 관련 몇 줄뿐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0">
                <a:solidFill>
                  <a:srgbClr val="1F2430"/>
                </a:solidFill>
                <a:latin typeface="Malgun Gothic"/>
              </a:rPr>
              <a:t>① "강점으로 나타남" → "강점으로 명확하게 나타남"  ② 분류 선택지 3개 → 2개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1691640"/>
            <a:ext cx="2606040" cy="35204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382512" y="183794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Malgun Gothic"/>
              </a:rPr>
              <a:t>어떻게 알아챘나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359152"/>
            <a:ext cx="2148840" cy="2715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0">
                <a:solidFill>
                  <a:srgbClr val="1F2430"/>
                </a:solidFill>
                <a:latin typeface="Malgun Gothic"/>
              </a:rPr>
              <a:t>실험 3번 — 무엇을 되돌리면 안정되는지 하나씩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0">
                <a:solidFill>
                  <a:srgbClr val="1F2430"/>
                </a:solidFill>
                <a:latin typeface="Malgun Gothic"/>
              </a:rPr>
              <a:t>가중치는 원인이 아니었다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0">
                <a:solidFill>
                  <a:srgbClr val="1F2430"/>
                </a:solidFill>
                <a:latin typeface="Malgun Gothic"/>
              </a:rPr>
              <a:t>문구와 선택지를 되돌리니 두 번 연속 4/4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97696" y="1691640"/>
            <a:ext cx="2606040" cy="35204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9198864" y="1837944"/>
            <a:ext cx="384048" cy="384048"/>
          </a:xfrm>
          <a:prstGeom prst="ellipse">
            <a:avLst/>
          </a:prstGeom>
          <a:solidFill>
            <a:srgbClr val="1A9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0928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9E7A"/>
                </a:solidFill>
                <a:latin typeface="Malgun Gothic"/>
              </a:rPr>
              <a:t>어떻게 바꿨나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2359152"/>
            <a:ext cx="2148840" cy="2715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1">
                <a:solidFill>
                  <a:srgbClr val="1F2430"/>
                </a:solidFill>
                <a:latin typeface="Malgun Gothic"/>
              </a:rPr>
              <a:t>약점은 "묻지 않는다"만 하고, 분류 선택지는 남겨 둔다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0">
                <a:solidFill>
                  <a:srgbClr val="1F2430"/>
                </a:solidFill>
                <a:latin typeface="Malgun Gothic"/>
              </a:rPr>
              <a:t>"명확하게"를 뺐다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1">
                <a:solidFill>
                  <a:srgbClr val="1F2430"/>
                </a:solidFill>
                <a:latin typeface="Malgun Gothic"/>
              </a:rPr>
              <a:t>AI는 같은 입력에도 조금씩 다르게 답한다 → 고치면 두 번 채점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486400"/>
            <a:ext cx="11064240" cy="566928"/>
          </a:xfrm>
          <a:prstGeom prst="roundRect">
            <a:avLst>
              <a:gd name="adj" fmla="val 30000"/>
            </a:avLst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2960" y="560527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Malgun Gothic"/>
              </a:rPr>
              <a:t>배운 문장  </a:t>
            </a:r>
            <a:r>
              <a:rPr sz="1400" b="1" i="0">
                <a:solidFill>
                  <a:srgbClr val="1F2430"/>
                </a:solidFill>
                <a:latin typeface="Malgun Gothic"/>
              </a:rPr>
              <a:t>"약점을 쓰지 않는다"는 결정과 "약점이란 단어를 지운다"는 구현은 다른 일이었다. 첫 짐작은 틀렸고, 비교가 맞았다.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EF1FB"/>
                </a:solidFill>
                <a:latin typeface="Arial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틀렸던 이야기 ⑤ — 대화는 입력만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Malgun Gothic"/>
              </a:rPr>
              <a:t>질문 3개 → 팀원의 자기소개 분석 → 7가지를 묻는 대화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691640"/>
            <a:ext cx="2606040" cy="35204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9808" y="1837944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Malgun Gothic"/>
              </a:rPr>
              <a:t>무슨 일이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59152"/>
            <a:ext cx="2148840" cy="2715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1">
                <a:solidFill>
                  <a:srgbClr val="1F2430"/>
                </a:solidFill>
                <a:latin typeface="Malgun Gothic"/>
              </a:rPr>
              <a:t>7가지를 다 물으니 8번 주고받기 · AI 20번 · 25초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0">
                <a:solidFill>
                  <a:srgbClr val="1F2430"/>
                </a:solidFill>
                <a:latin typeface="Malgun Gothic"/>
              </a:rPr>
              <a:t>"잘 모르겠어요" 뒤에 같은 질문을 또 함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0">
                <a:solidFill>
                  <a:srgbClr val="1F2430"/>
                </a:solidFill>
                <a:latin typeface="Malgun Gothic"/>
              </a:rPr>
              <a:t>같은 자기소개가 짧게 물으면 통계학과, 길게 물으면 컴퓨터공학부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2" y="1691640"/>
            <a:ext cx="2606040" cy="35204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3566160" y="1837944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8224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Malgun Gothic"/>
              </a:rPr>
              <a:t>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2" y="2359152"/>
            <a:ext cx="2148840" cy="2715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0">
                <a:solidFill>
                  <a:srgbClr val="1F2430"/>
                </a:solidFill>
                <a:latin typeface="Malgun Gothic"/>
              </a:rPr>
              <a:t>대화가 길수록 역량 단어가 늘어 1위가 흔들림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0">
                <a:solidFill>
                  <a:srgbClr val="1F2430"/>
                </a:solidFill>
                <a:latin typeface="Malgun Gothic"/>
              </a:rPr>
              <a:t>전공을 고를 때 쓰는 건 관심·강점 두 가지뿐인데 일곱 가지를 다 물었다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1691640"/>
            <a:ext cx="2606040" cy="35204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382512" y="183794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Malgun Gothic"/>
              </a:rPr>
              <a:t>어떻게 알아챘나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359152"/>
            <a:ext cx="2148840" cy="2715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0">
                <a:solidFill>
                  <a:srgbClr val="1F2430"/>
                </a:solidFill>
                <a:latin typeface="Malgun Gothic"/>
              </a:rPr>
              <a:t>빈 자기소개로 직접 돌려 보며 횟수·시간을 셌다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0">
                <a:solidFill>
                  <a:srgbClr val="1F2430"/>
                </a:solidFill>
                <a:latin typeface="Malgun Gothic"/>
              </a:rPr>
              <a:t>대화 방식 정답지 4개 추가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97696" y="1691640"/>
            <a:ext cx="2606040" cy="35204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9198864" y="1837944"/>
            <a:ext cx="384048" cy="384048"/>
          </a:xfrm>
          <a:prstGeom prst="ellipse">
            <a:avLst/>
          </a:prstGeom>
          <a:solidFill>
            <a:srgbClr val="1A9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0928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9E7A"/>
                </a:solidFill>
                <a:latin typeface="Malgun Gothic"/>
              </a:rPr>
              <a:t>어떻게 바꿨나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2359152"/>
            <a:ext cx="2148840" cy="2715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1">
                <a:solidFill>
                  <a:srgbClr val="1F2430"/>
                </a:solidFill>
                <a:latin typeface="Malgun Gothic"/>
              </a:rPr>
              <a:t>관심·강점만 묻고, 한 번씩만</a:t>
            </a:r>
            <a:r>
              <a:rPr sz="1250" b="0">
                <a:solidFill>
                  <a:srgbClr val="1F2430"/>
                </a:solidFill>
                <a:latin typeface="Malgun Gothic"/>
              </a:rPr>
              <a:t> → 2~3번 주고받기 · AI 6~8번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1">
                <a:solidFill>
                  <a:srgbClr val="1F2430"/>
                </a:solidFill>
                <a:latin typeface="Malgun Gothic"/>
              </a:rPr>
              <a:t>지킨 선: 대화 중에 AI가 전공·직무를 말하지 않는다</a:t>
            </a:r>
            <a:r>
              <a:rPr sz="1250" b="0">
                <a:solidFill>
                  <a:srgbClr val="1F2430"/>
                </a:solidFill>
                <a:latin typeface="Malgun Gothic"/>
              </a:rPr>
              <a:t> — 그 순간 챗봇과 같아진다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486400"/>
            <a:ext cx="11064240" cy="566928"/>
          </a:xfrm>
          <a:prstGeom prst="roundRect">
            <a:avLst>
              <a:gd name="adj" fmla="val 30000"/>
            </a:avLst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2960" y="560527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Malgun Gothic"/>
              </a:rPr>
              <a:t>배운 문장  </a:t>
            </a:r>
            <a:r>
              <a:rPr sz="1400" b="1" i="0">
                <a:solidFill>
                  <a:srgbClr val="1F2430"/>
                </a:solidFill>
                <a:latin typeface="Malgun Gothic"/>
              </a:rPr>
              <a:t>더 많이 물으면 더 잘 아는 게 아니라, 더 많이 흔들렸다.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EF1FB"/>
                </a:solidFill>
                <a:latin typeface="Arial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틀렸던 이야기 ⑥ — 넷이 한 파일을 고치면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Malgun Gothic"/>
              </a:rPr>
              <a:t>9/16~17, 같은 파일을 두 사람이 같은 날 — 세 번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691640"/>
            <a:ext cx="2606040" cy="35204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9808" y="1837944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Malgun Gothic"/>
              </a:rPr>
              <a:t>무슨 일이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59152"/>
            <a:ext cx="2148840" cy="2715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0">
                <a:solidFill>
                  <a:srgbClr val="1F2430"/>
                </a:solidFill>
                <a:latin typeface="Malgun Gothic"/>
              </a:rPr>
              <a:t>사전 파일을 두 사람이 같은 날 고침 → "한 종류" 관계 28줄이 사라짐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0">
                <a:solidFill>
                  <a:srgbClr val="1F2430"/>
                </a:solidFill>
                <a:latin typeface="Malgun Gothic"/>
              </a:rPr>
              <a:t>한 사람이 카드를 숨겨 차별점이 화면에서 사라짐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0">
                <a:solidFill>
                  <a:srgbClr val="1F2430"/>
                </a:solidFill>
                <a:latin typeface="Malgun Gothic"/>
              </a:rPr>
              <a:t>웹 고치기 4건을 두 사람이 동시에 → 같은 함수 충돌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2" y="1691640"/>
            <a:ext cx="2606040" cy="35204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3566160" y="1837944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8224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Malgun Gothic"/>
              </a:rPr>
              <a:t>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2" y="2359152"/>
            <a:ext cx="2148840" cy="2715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0">
                <a:solidFill>
                  <a:srgbClr val="1F2430"/>
                </a:solidFill>
                <a:latin typeface="Malgun Gothic"/>
              </a:rPr>
              <a:t>"한 사람이 관리"라고 정했지만 급하면 다들 고친다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0">
                <a:solidFill>
                  <a:srgbClr val="1F2430"/>
                </a:solidFill>
                <a:latin typeface="Malgun Gothic"/>
              </a:rPr>
              <a:t>AI 도구로 편집하다 블록이 날아가도 자동 검사는 통과 (이름만 검사)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0">
                <a:solidFill>
                  <a:srgbClr val="1F2430"/>
                </a:solidFill>
                <a:latin typeface="Malgun Gothic"/>
              </a:rPr>
              <a:t>"설명서만 합친다"가 실제론 전체를 합침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1691640"/>
            <a:ext cx="2606040" cy="35204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382512" y="183794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Malgun Gothic"/>
              </a:rPr>
              <a:t>어떻게 알아챘나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359152"/>
            <a:ext cx="2148840" cy="2715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1">
                <a:solidFill>
                  <a:srgbClr val="1F2430"/>
                </a:solidFill>
                <a:latin typeface="Malgun Gothic"/>
              </a:rPr>
              <a:t>지도 만들 때 찍히는 숫자 "이어진 역량 61 → 43"</a:t>
            </a:r>
            <a:r>
              <a:rPr sz="1250" b="0">
                <a:solidFill>
                  <a:srgbClr val="1F2430"/>
                </a:solidFill>
                <a:latin typeface="Malgun Gothic"/>
              </a:rPr>
              <a:t> — 이게 경보였다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0">
                <a:solidFill>
                  <a:srgbClr val="1F2430"/>
                </a:solidFill>
                <a:latin typeface="Malgun Gothic"/>
              </a:rPr>
              <a:t>설명서에 적어 둔 "왜 카드가 있어야 하나"로 되돌림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97696" y="1691640"/>
            <a:ext cx="2606040" cy="35204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9198864" y="1837944"/>
            <a:ext cx="384048" cy="384048"/>
          </a:xfrm>
          <a:prstGeom prst="ellipse">
            <a:avLst/>
          </a:prstGeom>
          <a:solidFill>
            <a:srgbClr val="1A9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0928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9E7A"/>
                </a:solidFill>
                <a:latin typeface="Malgun Gothic"/>
              </a:rPr>
              <a:t>어떻게 바꿨나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2359152"/>
            <a:ext cx="2148840" cy="2715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0">
                <a:solidFill>
                  <a:srgbClr val="1F2430"/>
                </a:solidFill>
                <a:latin typeface="Malgun Gothic"/>
              </a:rPr>
              <a:t>팀 요청 형식은 내용으로, 구조 개선은 틀로 — 합치는 원칙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0">
                <a:solidFill>
                  <a:srgbClr val="1F2430"/>
                </a:solidFill>
                <a:latin typeface="Malgun Gothic"/>
              </a:rPr>
              <a:t>결정은 날짜 문서로 남긴다 (8개)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250" b="1">
                <a:solidFill>
                  <a:srgbClr val="1F2430"/>
                </a:solidFill>
                <a:latin typeface="Malgun Gothic"/>
              </a:rPr>
              <a:t>코드와 데이터를 따로, 받기 먼저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486400"/>
            <a:ext cx="11064240" cy="566928"/>
          </a:xfrm>
          <a:prstGeom prst="roundRect">
            <a:avLst>
              <a:gd name="adj" fmla="val 30000"/>
            </a:avLst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2960" y="560527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Malgun Gothic"/>
              </a:rPr>
              <a:t>배운 문장  </a:t>
            </a:r>
            <a:r>
              <a:rPr sz="1400" b="1" i="0">
                <a:solidFill>
                  <a:srgbClr val="1F2430"/>
                </a:solidFill>
                <a:latin typeface="Malgun Gothic"/>
              </a:rPr>
              <a:t>역할을 나눠도 파일은 겹친다. 문서와 숫자가 없었으면 누가 맞는지 다투다 끝났을 것이다.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EF1FB"/>
                </a:solidFill>
                <a:latin typeface="Arial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챗봇 대조 (1) — 채우거나, 비우거나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Malgun Gothic"/>
              </a:rPr>
              <a:t>검색 끄고, 새 창에서, 우리 시연과 같은 문장을 넣었다 (9/17, 팀원이 각자)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pic>
        <p:nvPicPr>
          <p:cNvPr id="13" name="Picture 12" descr="chat_wrt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025" y="1554480"/>
            <a:ext cx="4675909" cy="3703320"/>
          </a:xfrm>
          <a:prstGeom prst="rect">
            <a:avLst/>
          </a:prstGeom>
        </p:spPr>
      </p:pic>
      <p:pic>
        <p:nvPicPr>
          <p:cNvPr id="14" name="Picture 13" descr="chat_chatg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333" y="1554480"/>
            <a:ext cx="5068412" cy="370332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48640" y="5349240"/>
            <a:ext cx="5440680" cy="566928"/>
          </a:xfrm>
          <a:prstGeom prst="roundRect">
            <a:avLst>
              <a:gd name="adj" fmla="val 12000"/>
            </a:avLst>
          </a:prstGeom>
          <a:solidFill>
            <a:srgbClr val="FDEC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31520" y="5413248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96167"/>
                </a:solidFill>
                <a:latin typeface="Malgun Gothic"/>
              </a:rPr>
              <a:t>뤼튼 — 그럴듯하게 채웠다. 과목 3개 중 2개는 3,829개 과목에 없고, 그 직무는 우리 공고에 없다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5349240"/>
            <a:ext cx="5440680" cy="566928"/>
          </a:xfrm>
          <a:prstGeom prst="roundRect">
            <a:avLst>
              <a:gd name="adj" fmla="val 12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55080" y="5413248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6B7280"/>
                </a:solidFill>
                <a:latin typeface="Malgun Gothic"/>
              </a:rPr>
              <a:t>ChatGPT — 솔직하게 비웠다. "검증하지 않았다", "보장할 수 없다"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430"/>
                </a:solidFill>
                <a:latin typeface="Malgun Gothic"/>
              </a:rPr>
              <a:t>고등학생은 이 둘을 구분할 방법이 없다. 근거 데이터가 있어야 "안다"와 "그럴듯하다"가 갈린다.   (대화 이미지는 답변 원문으로 재구성 — 실제 캡처로 교체 가능)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EF1FB"/>
                </a:solidFill>
                <a:latin typeface="Arial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챗봇 대조 (2) — Gemini, 그리고 우리 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Malgun Gothic"/>
              </a:rPr>
              <a:t>Gemini는 직무 이름을 맞혔지만, 과목과 직무 설명은 데이터와 어긋났다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pic>
        <p:nvPicPr>
          <p:cNvPr id="13" name="Picture 12" descr="chat_gemi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751" y="1554480"/>
            <a:ext cx="5290457" cy="370332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48640" y="5349240"/>
            <a:ext cx="5440680" cy="566928"/>
          </a:xfrm>
          <a:prstGeom prst="roundRect">
            <a:avLst>
              <a:gd name="adj" fmla="val 12000"/>
            </a:avLst>
          </a:prstGeom>
          <a:solidFill>
            <a:srgbClr val="FDEC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31520" y="5413248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96167"/>
                </a:solidFill>
                <a:latin typeface="Malgun Gothic"/>
              </a:rPr>
              <a:t>Gemini — 과목 8개 중 4개 없음. DX 엔지니어를 "데이터 분석" 직무로 설명 (실제 공고는 개발 직무)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172200" y="1600200"/>
          <a:ext cx="5440680" cy="2286000"/>
        </p:xfrm>
        <a:graphic>
          <a:graphicData uri="http://schemas.openxmlformats.org/drawingml/2006/table">
            <a:tbl>
              <a:tblPr firstRow="0" bandRow="0"/>
              <a:tblGrid>
                <a:gridCol w="1600200"/>
                <a:gridCol w="1005840"/>
                <a:gridCol w="1005840"/>
                <a:gridCol w="914400"/>
                <a:gridCol w="9144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2F3C7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우리 카드</a:t>
                      </a:r>
                    </a:p>
                  </a:txBody>
                  <a:tcPr marL="73152" marR="73152" marT="36576" marB="36576" anchor="ctr">
                    <a:solidFill>
                      <a:srgbClr val="2F3C7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ChatGPT</a:t>
                      </a:r>
                    </a:p>
                  </a:txBody>
                  <a:tcPr marL="73152" marR="73152" marT="36576" marB="36576" anchor="ctr">
                    <a:solidFill>
                      <a:srgbClr val="2F3C7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뤼튼</a:t>
                      </a:r>
                    </a:p>
                  </a:txBody>
                  <a:tcPr marL="73152" marR="73152" marT="36576" marB="36576" anchor="ctr">
                    <a:solidFill>
                      <a:srgbClr val="2F3C7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Gemini</a:t>
                      </a:r>
                    </a:p>
                  </a:txBody>
                  <a:tcPr marL="73152" marR="73152" marT="36576" marB="36576" anchor="ctr">
                    <a:solidFill>
                      <a:srgbClr val="2F3C7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F2430"/>
                          </a:solidFill>
                          <a:latin typeface="Malgun Gothic"/>
                        </a:rPr>
                        <a:t>전체 중 몇 위인지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Malgun Gothic"/>
                        </a:rPr>
                        <a:t>✓ 61개 중 1위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Malgun Gothic"/>
                        </a:rPr>
                        <a:t>✗ 답하지 않음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Malgun Gothic"/>
                        </a:rPr>
                        <a:t>✗ 순위 없음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Malgun Gothic"/>
                        </a:rPr>
                        <a:t>✗ 순위 없음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F2430"/>
                          </a:solidFill>
                          <a:latin typeface="Malgun Gothic"/>
                        </a:rPr>
                        <a:t>과목이 실제로 있나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Malgun Gothic"/>
                        </a:rPr>
                        <a:t>✓ 전부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Malgun Gothic"/>
                        </a:rPr>
                        <a:t>있지만 "검증 안 함"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Malgun Gothic"/>
                        </a:rPr>
                        <a:t>✗ 3개 중 2개 없음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Malgun Gothic"/>
                        </a:rPr>
                        <a:t>✗ 8개 중 4개 없음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F2430"/>
                          </a:solidFill>
                          <a:latin typeface="Malgun Gothic"/>
                        </a:rPr>
                        <a:t>공고가 요구하는 역량 개수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Malgun Gothic"/>
                        </a:rPr>
                        <a:t>✓ 2개 중 2개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Malgun Gothic"/>
                        </a:rPr>
                        <a:t>"일반 기준" 7개 중 4개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Malgun Gothic"/>
                        </a:rPr>
                        <a:t>✗ 출처 없이 단정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Malgun Gothic"/>
                        </a:rPr>
                        <a:t>✗ 설명이 어긋남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F2430"/>
                          </a:solidFill>
                          <a:latin typeface="Malgun Gothic"/>
                        </a:rPr>
                        <a:t>같은 뜻 다른 말 → 같은 답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Malgun Gothic"/>
                        </a:rPr>
                        <a:t>✓ 정답지 매번 통과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Malgun Gothic"/>
                        </a:rPr>
                        <a:t>1위만 같고 목록은 매번 다름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6172200" y="4114800"/>
            <a:ext cx="5440680" cy="17830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373368" y="4261104"/>
            <a:ext cx="384048" cy="384048"/>
          </a:xfrm>
          <a:prstGeom prst="ellipse">
            <a:avLst/>
          </a:prstGeom>
          <a:solidFill>
            <a:srgbClr val="1A9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85432" y="4306824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9E7A"/>
                </a:solidFill>
                <a:latin typeface="Malgun Gothic"/>
              </a:rPr>
              <a:t>챗봇이 잘한 것도 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782312"/>
            <a:ext cx="4983480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430"/>
                </a:solidFill>
                <a:latin typeface="Malgun Gothic"/>
              </a:rPr>
              <a:t>"패턴을 찾고 → 코드로 분석하고 → 설명하는 쪽에 강점" 같은 해석과 문장은 ChatGPT가 잘 쓴다. 그래서 우리도 그 부분(설명 문단)은 AI에 맡긴다. 결론은 "챗봇 대 우리"가 아니라 "말은 AI, 판정은 데이터"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2430"/>
                </a:solidFill>
                <a:latin typeface="Malgun Gothic"/>
              </a:rPr>
              <a:t>우리 카드: 61개 중 46개 비교 1위 · 과목 7개로 이어짐 · 요구 2/2 충족 · 출처 대학알리미·LG Careers — 전부 데이터에서 센 것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EF1FB"/>
                </a:solidFill>
                <a:latin typeface="Arial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비용 — 질문 한 번에 AI가 읽는 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Malgun Gothic"/>
              </a:rPr>
              <a:t>토큰 = AI가 글을 세는 단위. 한글 한 글자가 대략 1토큰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48640" y="1691640"/>
          <a:ext cx="676656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589520" y="1691640"/>
            <a:ext cx="4023360" cy="12344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90688" y="183794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88366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Malgun Gothic"/>
              </a:rPr>
              <a:t>약 85배 차이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359152"/>
            <a:ext cx="3566160" cy="4297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430"/>
                </a:solidFill>
                <a:latin typeface="Malgun Gothic"/>
              </a:rPr>
              <a:t>B는 교육과정 전체와 공고 전체를 매번 읽는다. 우리는 미리 만든 지도만 읽는다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3063240"/>
            <a:ext cx="4023360" cy="12344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90688" y="320954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325526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Malgun Gothic"/>
              </a:rPr>
              <a:t>지도 만들기는 한 번만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3730752"/>
            <a:ext cx="3566160" cy="4297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430"/>
                </a:solidFill>
                <a:latin typeface="Malgun Gothic"/>
              </a:rPr>
              <a:t>AI 277번 (B의 2~3번 분량). 3번째 질문부터 우리가 싸다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4434840"/>
            <a:ext cx="4023360" cy="10972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7790688" y="4581144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=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462686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Malgun Gothic"/>
              </a:rPr>
              <a:t>돈보다 큰 이유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5102351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430"/>
                </a:solidFill>
                <a:latin typeface="Malgun Gothic"/>
              </a:rPr>
              <a:t>B는 AI가 판정 → 매번 답이 다르고 개수를 못 센다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Malgun Gothic"/>
              </a:rPr>
              <a:t>A는 데이터가 없어서 기억으로 답한다. 숫자 근거: docs/20260916_발표_수치_4-5장.md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EF1FB"/>
                </a:solidFill>
                <a:latin typeface="Arial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한계 — 먼저 말합니다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55448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49808" y="170078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174650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Malgun Gothic"/>
              </a:rPr>
              <a:t>대학이 서울대 하나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221991"/>
            <a:ext cx="306324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430"/>
                </a:solidFill>
                <a:latin typeface="Malgun Gothic"/>
              </a:rPr>
              <a:t>"어느 대학이 좋은가"는 답 못 한다. "서울대 교육과정 기준 어느 전공인가"만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9" y="155448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498847" y="1700784"/>
            <a:ext cx="384048" cy="384048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0912" y="174650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6B7280"/>
                </a:solidFill>
                <a:latin typeface="Malgun Gothic"/>
              </a:rPr>
              <a:t>과목 이름만 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2221991"/>
            <a:ext cx="306324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430"/>
                </a:solidFill>
                <a:latin typeface="Malgun Gothic"/>
              </a:rPr>
              <a:t>과목 설명이 없어 이름만 보고 판단. 그래서 전공 단위로 묶어 읽었다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155448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247888" y="170078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9951" y="174650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Malgun Gothic"/>
              </a:rPr>
              <a:t>공고는 그날 받아 둔 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2221991"/>
            <a:ext cx="306324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430"/>
                </a:solidFill>
                <a:latin typeface="Malgun Gothic"/>
              </a:rPr>
              <a:t>9/11·9/15 기준. LG CNS 신입 공고는 이미 닫혔다 — 날짜를 붙여 말한다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70332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749808" y="3849624"/>
            <a:ext cx="384048" cy="384048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1872" y="389534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6B7280"/>
                </a:solidFill>
                <a:latin typeface="Malgun Gothic"/>
              </a:rPr>
              <a:t>사전 밖 직무 10개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370831"/>
            <a:ext cx="306324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430"/>
                </a:solidFill>
                <a:latin typeface="Malgun Gothic"/>
              </a:rPr>
              <a:t>신입 85개 중. 어학·엑셀만 요구하는 사무직 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79" y="370332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4498847" y="384962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0912" y="389534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Malgun Gothic"/>
              </a:rPr>
              <a:t>AI는 조금씩 다르게 답한다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79" y="4370831"/>
            <a:ext cx="306324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430"/>
                </a:solidFill>
                <a:latin typeface="Malgun Gothic"/>
              </a:rPr>
              <a:t>역량 뽑기·성향 읽기에서. 판정은 아니지만 정답지로 계속 감시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19" y="370332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8247888" y="3849624"/>
            <a:ext cx="384048" cy="384048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59951" y="389534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6B7280"/>
                </a:solidFill>
                <a:latin typeface="Malgun Gothic"/>
              </a:rPr>
              <a:t>어학은 점수 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19" y="4370831"/>
            <a:ext cx="306324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430"/>
                </a:solidFill>
                <a:latin typeface="Malgun Gothic"/>
              </a:rPr>
              <a:t>공고 32%가 요구하지만 "자격"이지 대학이 기르는 역량이 아니라서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EF1FB"/>
                </a:solidFill>
                <a:latin typeface="Arial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다른 팀에 묻고 싶은 것 — 우리가 못 푼 문제 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Malgun Gothic"/>
              </a:rPr>
              <a:t>이 발표에서 우리가 가장 배우고 싶은 부분입니다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73736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77240" y="1984248"/>
            <a:ext cx="457200" cy="45720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1874519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2430"/>
                </a:solidFill>
                <a:latin typeface="Malgun Gothic"/>
              </a:rPr>
              <a:t>공통 사전(어휘)은 누가 어떻게 관리했나요?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240280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280"/>
                </a:solidFill>
                <a:latin typeface="Malgun Gothic"/>
              </a:rPr>
              <a:t>한 사람 담당으로 정했는데도 동시에 고치는 일이 생겼습니다.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852928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777240" y="3099816"/>
            <a:ext cx="457200" cy="45720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99008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2430"/>
                </a:solidFill>
                <a:latin typeface="Malgun Gothic"/>
              </a:rPr>
              <a:t>AI 답이 조금씩 달라지는 건 어떻게 다뤘나요?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355848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280"/>
                </a:solidFill>
                <a:latin typeface="Malgun Gothic"/>
              </a:rPr>
              <a:t>무작위성을 꺼도 흔들렸습니다. 정답지를 두 번 돌리는 것 말고 더 나은 방법이 있을까요?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68496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777240" y="4215383"/>
            <a:ext cx="457200" cy="45720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105656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2430"/>
                </a:solidFill>
                <a:latin typeface="Malgun Gothic"/>
              </a:rPr>
              <a:t>판정을 AI에게 맡긴 팀은 어떻게 같은 답을 보장했나요?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471416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280"/>
                </a:solidFill>
                <a:latin typeface="Malgun Gothic"/>
              </a:rPr>
              <a:t>우리는 계산으로 넘겼는데, 그 대가로 말이 딱딱해졌습니다.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084064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777240" y="5330952"/>
            <a:ext cx="457200" cy="45720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221224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2430"/>
                </a:solidFill>
                <a:latin typeface="Malgun Gothic"/>
              </a:rPr>
              <a:t>사용자 입력을 어디까지 대화로 받았나요?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586984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280"/>
                </a:solidFill>
                <a:latin typeface="Malgun Gothic"/>
              </a:rPr>
              <a:t>우리는 길어질수록 결과가 흔들려 두 가지만 물었습니다.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EF1FB"/>
                </a:solidFill>
                <a:latin typeface="Arial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역할과 회고 — 각자 "가장 크게 틀렸던 것"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Malgun Gothic"/>
              </a:rPr>
              <a:t>이름과 회고는 팀원이 직접 채웁니다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1737360"/>
          <a:ext cx="11064240" cy="3291840"/>
        </p:xfrm>
        <a:graphic>
          <a:graphicData uri="http://schemas.openxmlformats.org/drawingml/2006/table">
            <a:tbl>
              <a:tblPr firstRow="0" bandRow="0"/>
              <a:tblGrid>
                <a:gridCol w="1645920"/>
                <a:gridCol w="1280160"/>
                <a:gridCol w="3291840"/>
                <a:gridCol w="2651760"/>
                <a:gridCol w="219456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</a:rPr>
                        <a:t>역할</a:t>
                      </a:r>
                    </a:p>
                  </a:txBody>
                  <a:tcPr marL="73152" marR="73152" marT="36576" marB="36576" anchor="ctr">
                    <a:solidFill>
                      <a:srgbClr val="2F3C7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</a:rPr>
                        <a:t>이름</a:t>
                      </a:r>
                    </a:p>
                  </a:txBody>
                  <a:tcPr marL="73152" marR="73152" marT="36576" marB="36576" anchor="ctr">
                    <a:solidFill>
                      <a:srgbClr val="2F3C7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</a:rPr>
                        <a:t>맡은 것</a:t>
                      </a:r>
                    </a:p>
                  </a:txBody>
                  <a:tcPr marL="73152" marR="73152" marT="36576" marB="36576" anchor="ctr">
                    <a:solidFill>
                      <a:srgbClr val="2F3C7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</a:rPr>
                        <a:t>가장 크게 틀렸던 것</a:t>
                      </a:r>
                    </a:p>
                  </a:txBody>
                  <a:tcPr marL="73152" marR="73152" marT="36576" marB="36576" anchor="ctr">
                    <a:solidFill>
                      <a:srgbClr val="2F3C7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</a:rPr>
                        <a:t>다음엔</a:t>
                      </a:r>
                    </a:p>
                  </a:txBody>
                  <a:tcPr marL="73152" marR="73152" marT="36576" marB="36576" anchor="ctr">
                    <a:solidFill>
                      <a:srgbClr val="2F3C7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2430"/>
                          </a:solidFill>
                          <a:latin typeface="Malgun Gothic"/>
                        </a:rPr>
                        <a:t>A · 사전·PM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430"/>
                          </a:solidFill>
                          <a:latin typeface="Malgun Gothic"/>
                        </a:rPr>
                        <a:t>(이름)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430"/>
                          </a:solidFill>
                          <a:latin typeface="Malgun Gothic"/>
                        </a:rPr>
                        <a:t>공통 사전 139단어 · '한 종류' 관계 102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430"/>
                          </a:solidFill>
                          <a:latin typeface="Malgun Gothic"/>
                        </a:rPr>
                        <a:t>(직접 작성)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430"/>
                          </a:solidFill>
                          <a:latin typeface="Malgun Gothic"/>
                        </a:rPr>
                        <a:t>(직접 작성)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2430"/>
                          </a:solidFill>
                          <a:latin typeface="Malgun Gothic"/>
                        </a:rPr>
                        <a:t>B · 계산·통합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430"/>
                          </a:solidFill>
                          <a:latin typeface="Malgun Gothic"/>
                        </a:rPr>
                        <a:t>(이름)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430"/>
                          </a:solidFill>
                          <a:latin typeface="Malgun Gothic"/>
                        </a:rPr>
                        <a:t>전공·직무·과목 고르는 계산 · 코드 합치기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430"/>
                          </a:solidFill>
                          <a:latin typeface="Malgun Gothic"/>
                        </a:rPr>
                        <a:t>(직접 작성)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430"/>
                          </a:solidFill>
                          <a:latin typeface="Malgun Gothic"/>
                        </a:rPr>
                        <a:t>(직접 작성)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2430"/>
                          </a:solidFill>
                          <a:latin typeface="Malgun Gothic"/>
                        </a:rPr>
                        <a:t>C · 데이터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430"/>
                          </a:solidFill>
                          <a:latin typeface="Malgun Gothic"/>
                        </a:rPr>
                        <a:t>(이름)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430"/>
                          </a:solidFill>
                          <a:latin typeface="Malgun Gothic"/>
                        </a:rPr>
                        <a:t>공고 수집 · AI로 역량 뽑기 · 지도 만들기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430"/>
                          </a:solidFill>
                          <a:latin typeface="Malgun Gothic"/>
                        </a:rPr>
                        <a:t>(직접 작성)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430"/>
                          </a:solidFill>
                          <a:latin typeface="Malgun Gothic"/>
                        </a:rPr>
                        <a:t>(직접 작성)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2430"/>
                          </a:solidFill>
                          <a:latin typeface="Malgun Gothic"/>
                        </a:rPr>
                        <a:t>D · 화면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430"/>
                          </a:solidFill>
                          <a:latin typeface="Malgun Gothic"/>
                        </a:rPr>
                        <a:t>(이름)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430"/>
                          </a:solidFill>
                          <a:latin typeface="Malgun Gothic"/>
                        </a:rPr>
                        <a:t>카드·설명 문단 · 대화 · 웹 · 정답지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430"/>
                          </a:solidFill>
                          <a:latin typeface="Malgun Gothic"/>
                        </a:rPr>
                        <a:t>(직접 작성)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430"/>
                          </a:solidFill>
                          <a:latin typeface="Malgun Gothic"/>
                        </a:rPr>
                        <a:t>(직접 작성)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5468112"/>
            <a:ext cx="10607040" cy="521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430"/>
                </a:solidFill>
                <a:latin typeface="Malgun Gothic"/>
              </a:rPr>
              <a:t>예시 (실제로 있었던 것): "규칙이 지워진 줄 알았는데 비교해 보니 한 단어였다" · "설명서만 합친 줄 알았는데 전체였다" · "일곱 가지를 다 물으면 더 정확할 줄 알았다"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 flipV="1">
            <a:off x="10453420" y="577900"/>
            <a:ext cx="603504" cy="274320"/>
          </a:xfrm>
          <a:prstGeom prst="line">
            <a:avLst/>
          </a:prstGeom>
          <a:ln w="22859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056924" y="577900"/>
            <a:ext cx="548640" cy="329184"/>
          </a:xfrm>
          <a:prstGeom prst="line">
            <a:avLst/>
          </a:prstGeom>
          <a:ln w="22859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332720" y="731520"/>
            <a:ext cx="241401" cy="241401"/>
          </a:xfrm>
          <a:prstGeom prst="ellipse">
            <a:avLst/>
          </a:prstGeom>
          <a:solidFill>
            <a:srgbClr val="5B6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36224" y="457200"/>
            <a:ext cx="241401" cy="24140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84864" y="786384"/>
            <a:ext cx="241401" cy="241401"/>
          </a:xfrm>
          <a:prstGeom prst="ellipse">
            <a:avLst/>
          </a:prstGeom>
          <a:solidFill>
            <a:srgbClr val="5B6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00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Malgun Gothic"/>
              </a:rPr>
              <a:t>배운 문장 여섯 개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1627632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645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algun Gothic"/>
              </a:rPr>
              <a:t>AI에게 "없다"라고 말할 권리를 주지 않으면, 있는 것처럼 말한다.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340864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35915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algun Gothic"/>
              </a:rPr>
              <a:t>온톨로지는 "A는 B의 한 종류" 100줄이었다. 방향(위로만)을 지키는 게 전부.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054096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07238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algun Gothic"/>
              </a:rPr>
              <a:t>고치기 전에 정답지를 먼저 쓴다. 없으면 "고쳤다"와 "옮겼다"를 구분할 수 없다.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767328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785615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algun Gothic"/>
              </a:rPr>
              <a:t>"약점을 쓰지 않는다"는 결정과 "약점이란 단어를 지운다"는 구현은 다른 일이다.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480560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49884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algun Gothic"/>
              </a:rPr>
              <a:t>더 많이 물으면 더 잘 아는 게 아니라, 더 많이 흔들렸다.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5193792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5212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algun Gothic"/>
              </a:rPr>
              <a:t>역할을 나눠도 파일은 겹친다. 문서와 숫자가 없었으면 다투다 끝났을 것이다.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8C0E0"/>
                </a:solidFill>
                <a:latin typeface="Malgun Gothic"/>
              </a:rPr>
              <a:t>감사합니다 — 코드·문서·결정 기록: github.com/KU-CS-HTG/LG-CNS-KG-Project-1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부록 A — 예상 질문과 답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463040"/>
          <a:ext cx="11064240" cy="4352544"/>
        </p:xfrm>
        <a:graphic>
          <a:graphicData uri="http://schemas.openxmlformats.org/drawingml/2006/table">
            <a:tbl>
              <a:tblPr firstRow="0" bandRow="0"/>
              <a:tblGrid>
                <a:gridCol w="3657600"/>
                <a:gridCol w="7406640"/>
              </a:tblGrid>
              <a:tr h="6217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질문</a:t>
                      </a:r>
                    </a:p>
                  </a:txBody>
                  <a:tcPr marL="73152" marR="73152" marT="36576" marB="36576" anchor="ctr">
                    <a:solidFill>
                      <a:srgbClr val="2F3C7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답</a:t>
                      </a:r>
                    </a:p>
                  </a:txBody>
                  <a:tcPr marL="73152" marR="73152" marT="36576" marB="36576" anchor="ctr">
                    <a:solidFill>
                      <a:srgbClr val="2F3C7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430"/>
                          </a:solidFill>
                          <a:latin typeface="Malgun Gothic"/>
                        </a:rPr>
                        <a:t>왜 어학이 없나요? 영업엔 외국어가 핵심인데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Malgun Gothic"/>
                        </a:rPr>
                        <a:t>어학은 역량이 아니라 지원 자격(예: OPIc 몇 등급 이상). 대학 과목으로 영어를 "기르는" 전공이 없고, 점수에 넣으면 어학을 적은 직무만 불리해진다. 정보로 보여 주는 건 다음 과제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430"/>
                          </a:solidFill>
                          <a:latin typeface="Malgun Gothic"/>
                        </a:rPr>
                        <a:t>왜 서울대만?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Malgun Gothic"/>
                        </a:rPr>
                        <a:t>교육과정 데이터가 한 곳. 대학을 비교하는 게 아니라 "서울대 교육과정 기준으로 어느 전공"을 답한다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430"/>
                          </a:solidFill>
                          <a:latin typeface="Malgun Gothic"/>
                        </a:rPr>
                        <a:t>LG CNS 신입 공고가 닫혔는데?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Malgun Gothic"/>
                        </a:rPr>
                        <a:t>9/11에 받아 둔 공고. 그래서 "없다"가 아니라 "이 날짜 기준"이라고 말한다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430"/>
                          </a:solidFill>
                          <a:latin typeface="Malgun Gothic"/>
                        </a:rPr>
                        <a:t>ChatGPT에 물으면 안 되나요?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Malgun Gothic"/>
                        </a:rPr>
                        <a:t>결론(통계학과)은 같을 수 있다. 다른 건 근거 — "46개 중 1위, 과목 7개, 요구 2개 중 2개"를 세어서 보여주는 것과 "1위 후보로 봅니다"는 다르다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430"/>
                          </a:solidFill>
                          <a:latin typeface="Malgun Gothic"/>
                        </a:rPr>
                        <a:t>AI는 어디에 쓰나요?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Malgun Gothic"/>
                        </a:rPr>
                        <a:t>글에서 역량 이름을 뽑을 때와 카드를 풀어 쓸 때. 어떤 전공·직무를 고를지는 계산이 한다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430"/>
                          </a:solidFill>
                          <a:latin typeface="Malgun Gothic"/>
                        </a:rPr>
                        <a:t>46%가 무슨 뜻인가요?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Malgun Gothic"/>
                        </a:rPr>
                        <a:t>"어울릴 확률"이 아니라 학생 역량이 그 전공 과목과 이어진 정도. 1위가 22%인 입력도 있다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430"/>
                </a:solidFill>
                <a:latin typeface="Malgun Gothic"/>
              </a:rPr>
              <a:t>부록 B — 숫자와 문서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463040"/>
          <a:ext cx="11064240" cy="3291840"/>
        </p:xfrm>
        <a:graphic>
          <a:graphicData uri="http://schemas.openxmlformats.org/drawingml/2006/table">
            <a:tbl>
              <a:tblPr firstRow="0" bandRow="0"/>
              <a:tblGrid>
                <a:gridCol w="1645920"/>
                <a:gridCol w="941832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73152" marR="73152" marT="36576" marB="36576" anchor="ctr">
                    <a:solidFill>
                      <a:srgbClr val="2F3C7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값</a:t>
                      </a:r>
                    </a:p>
                  </a:txBody>
                  <a:tcPr marL="73152" marR="73152" marT="36576" marB="36576" anchor="ctr">
                    <a:solidFill>
                      <a:srgbClr val="2F3C7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430"/>
                          </a:solidFill>
                          <a:latin typeface="Malgun Gothic"/>
                        </a:rPr>
                        <a:t>입력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Malgun Gothic"/>
                        </a:rPr>
                        <a:t>서울대 105 전공 · 과목 3,829 / LG 계열사 9곳 · 공고 50 → 직무 172 (신입 85)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430"/>
                          </a:solidFill>
                          <a:latin typeface="Malgun Gothic"/>
                        </a:rPr>
                        <a:t>지도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Malgun Gothic"/>
                        </a:rPr>
                        <a:t>전공 61 · 직무 108 (신입 75) · 역량 120 · 관계 5종 ("기른다" 174 · "요구한다" 447 · "한 종류" 102 · 성향 관계 24)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430"/>
                          </a:solidFill>
                          <a:latin typeface="Malgun Gothic"/>
                        </a:rPr>
                        <a:t>사전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Malgun Gothic"/>
                        </a:rPr>
                        <a:t>대표 단어 139 · 다른 표기 417 · 상위 개념 23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430"/>
                          </a:solidFill>
                          <a:latin typeface="Malgun Gothic"/>
                        </a:rPr>
                        <a:t>AI 호출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Malgun Gothic"/>
                        </a:rPr>
                        <a:t>지도 만들기 277번 (한 번) · 학생 1명당 2~6번 · 자동 채점 1회 약 45번</a:t>
                      </a:r>
                    </a:p>
                  </a:txBody>
                  <a:tcPr marL="73152" marR="73152" marT="36576" marB="36576" anchor="ctr">
                    <a:solidFill>
                      <a:srgbClr val="F3F4F8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430"/>
                          </a:solidFill>
                          <a:latin typeface="Malgun Gothic"/>
                        </a:rPr>
                        <a:t>검증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Malgun Gothic"/>
                        </a:rPr>
                        <a:t>확인 3가지 · 정답지 24개 전부 통과 (두 번 연속)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48640" y="4983480"/>
            <a:ext cx="11064240" cy="128016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49808" y="5129784"/>
            <a:ext cx="384048" cy="384048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5175504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Malgun Gothic"/>
              </a:rPr>
              <a:t>결정 기록 (저장소 docs/, 날짜순)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50992"/>
            <a:ext cx="106070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09-15  전공 추출 필터 수정 · 온톨로지 계층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09-16  어휘 3단계 · 대화형 입력 검토 · 카드 형식 · 인터뷰 평가 회귀 분석 · 발표 수치 · 시연 대본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2F3C7E"/>
              </a:buClr>
              <a:buFont typeface="Arial"/>
              <a:buChar char="•"/>
            </a:pPr>
            <a:r>
              <a:rPr sz="1150" b="0">
                <a:solidFill>
                  <a:srgbClr val="1F2430"/>
                </a:solidFill>
                <a:latin typeface="Malgun Gothic"/>
              </a:rPr>
              <a:t>09-17  발표 내용 취합 · 챗봇 대조 실험 · 쉽게 읽는 소개 · 프로젝트 설명서(12장)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