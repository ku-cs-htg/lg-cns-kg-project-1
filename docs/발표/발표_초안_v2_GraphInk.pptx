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1F2430"/>
                </a:solidFill>
                <a:latin typeface="Malgun Gothic"/>
              </a:rPr>
              <a:t>질문 1번에 AI가 읽는 토큰 (실측)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질문 1번에 읽는 토큰</c:v>
                </c:pt>
              </c:strCache>
            </c:strRef>
          </c:tx>
          <c:spPr>
            <a:solidFill>
              <a:srgbClr val="2F3C7E"/>
            </a:solidFill>
          </c:spPr>
          <c:dPt>
            <c:idx val="2"/>
            <c:spPr>
              <a:solidFill>
                <a:srgbClr val="1A9E7A"/>
              </a:solidFill>
            </c:spPr>
          </c:dPt>
          <c:dPt>
            <c:idx val="1"/>
            <c:spPr>
              <a:solidFill>
                <a:srgbClr val="F96167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데이터를 통째로 주고 묻기</c:v>
                </c:pt>
                <c:pt idx="2">
                  <c:v>C. 우리 (지도를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F2430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1F2430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발표는 결과 자랑이 아니라, 나흘 동안 무엇이 틀렸고 어떻게 알아챘는지에 대한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위: 지도 만들기(한 번, AI 277번). 아래: 학생이 올 때마다 읽기. 가운데 초록 띠 — 전공·직무·과목을 고르는 세 칸에는 AI가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Q&amp;A용. 파일 이름·스크립트 이름을 물으면 이 장. 왼쪽 위 노란 상자 두 개가 '지도 만들기'의 전공 절반·직무 절반, 가운데 vocab.py(사전)가 둘을 잇는다.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[틀렸던 이야기 ① — AI는 시키면 채운다] 무슨 일이 → 왜 → 어떻게 알아챘나 → 어떻게 바꿨나. 마지막에 배운 문장을 그대로 읽는다: AI에게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 그림: 공고의 말(빨강)과 과목의 말(초록)을 가운데 개념으로 잇는다. '위로만' — 전공이 Database를 가르친다고 Oracle을 안다고는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핵심은 점수식이 아니라 알아채는 방법. 정답지 24개가 자동으로 채점된다.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[틀렸던 이야기 ④ — 한 단어의 무게] 무슨 일이 → 왜 → 어떻게 알아챘나 → 어떻게 바꿨나. 마지막에 배운 문장을 그대로 읽는다: "약점을 쓰지 않는다"는 결정과 "약점이란 단어를 지운다"는 구현은 다른 일이었다. 첫 짐작은 틀렸고, 비교가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[틀렸던 이야기 ⑤ — 대화는 입력만] 무슨 일이 → 왜 → 어떻게 알아챘나 → 어떻게 바꿨나. 마지막에 배운 문장을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[틀렸던 이야기 ⑥ — 넷이 한 파일을 고치면] 무슨 일이 → 왜 → 어떻게 알아챘나 → 어떻게 바꿨나. 마지막에 배운 문장을 그대로 읽는다: 역할을 나눠도 파일은 겹친다. 문서와 숫자가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 뤼튼: 과목 이름과 직무를 자신 있게 말했지만, 우리 데이터에 없다. 물어보니 '특정 출처에서 가져온 게 아니다'라고 답했다. 오른쪽 ChatGPT: 같은 질문에 못 한다고 비웠다. 둘 다 학생더러 직접 확인하라고 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표는 전문(docs/20260917_챗봇_대조.md)의 판정표를 줄인 것. 결론이 같아도(통계학과) 근거가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Malgun Gothic"/>
              </a:rPr>
              <a:t>내 관심사 → 전공 → 과목 → LG 신입 직무를 데이터로 잇는 지도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8C0E0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F96167"/>
                </a:solidFill>
                <a:latin typeface="Malgun Gothic"/>
              </a:rPr>
              <a:t>지어내지 않고 데이터로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8C0E0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FFFFF"/>
                </a:solidFill>
                <a:latin typeface="Malgun Gothic"/>
              </a:rPr>
              <a:t>무엇이 틀렸고, 어떻게 알아챘고, 무엇을 배웠나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팀 4명 · 2026-09-14 ~ 09-18 · 서울대 교육과정 × LG 채용 공고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오늘 이야기 — 성과 두 장, 틀렸던 이야기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여섯 장 모두 같은 순서로: 무슨 일이 → 왜 → 어떻게 알아챘나 → 어떻게 바꿨나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AI는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첫 시도에서 102개 전공 중 22개만 잡힘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전공과 직무가 서로 다른 말을 쓰고 있었다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눈 대신 정답지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점수 계산을 세 번 바꿨고, 매번 정답지가 잡았다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한 단어의 무게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"명확하게" 한 단어에 결과가 흔들렸다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대화는 입력만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더 많이 물으면 더 많이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3C7E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같은 파일을 동시에 고쳐 세 번 부딪혔다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앞뒤로: 무엇을 만들었나(30초 데모) · 챗봇에게 같은 질문을 해 보니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무엇을 만들었나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고등학생이 "이런 걸 좋아해요"라고 말하면 → "이 전공, 이 과목, 그리고 LG의 이 일"을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학생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자기소개나
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사전에 있는 단어로
예) 데이터 분석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전공이 기르는 역량으로
예) LG에너지솔루션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023360"/>
            <a:ext cx="5394960" cy="16002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49808" y="41696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1872" y="42153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답은 "지도" 위에서만 찾는다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690872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실제 교육과정과 실제 채용 공고를 모아 전공–역량–직무를 선으로 이어 둔 지도. 카드에 나오는 전공·과목·직무 이름은 전부 이 지도에 실제로 있는 것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4023360"/>
            <a:ext cx="5394960" cy="16002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6419088" y="416966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42153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AI는 두 군데에만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690872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F2430"/>
                </a:solidFill>
                <a:latin typeface="Malgun Gothic"/>
              </a:rPr>
              <a:t>① 글에서 역량 이름 뽑기  ② 카드를 친절한 말로 풀어 쓰기. 어떤 전공·직무를 고를지(판정)는 AI가 아니라 계산이 한다 — 그래서 같은 이야기에 같은 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30초 데모 — 학생이 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입력: "데이터 분석이 재미있어요 / 통계 수업, 파이썬으로 데이터 정리"  (실제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1F2430"/>
                </a:solidFill>
                <a:latin typeface="Consolas"/>
              </a:rPr>
              <a:t>출처 · 과목: 서울대학교 교육과정 — 대학알리미 · 공고: LG Careers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전공을 전부 비교했다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이어진 것 ✓ · 안 이어진 것 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안 이어진 역량(Python)도 숨기지 않는다. 46%는 "어울릴 확률"이 아니라 역량이 이어진 정도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전부 실제로 있는 과목·직무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280"/>
                </a:solidFill>
                <a:latin typeface="Malgun Gothic"/>
              </a:rPr>
              <a:t>3,829개 과목·172개 직무 데이터에 있는 이름만 나온다 — 매번 자동 확인. 이 아래에 AI가 쓴 설명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재료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지어내지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과목 3,829개 (대학알리미)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3C7E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전공 · 역량 · 직무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지도의 점 세 종류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사전의 단어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같은 뜻은 한 단어로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277번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한 번만, 결과는 저장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2~6번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판정에는 0번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정답지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고칠 때마다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2F3C7E"/>
                </a:solidFill>
                <a:latin typeface="Arial"/>
              </a:rPr>
              <a:t>3가지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430"/>
                </a:solidFill>
                <a:latin typeface="Malgun Gothic"/>
              </a:rPr>
              <a:t>매번 확인하는 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같은 답 · 실제 이름 · 개수가 맞나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어떻게 동작하나 — 지도를 한 번 만들고, 매번 읽는다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pic>
        <p:nvPicPr>
          <p:cNvPr id="12" name="Picture 11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1064240" cy="4383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판정 세 칸에 AI가 없어서, 같은 이야기에 같은 답이 나오고 카드의 이름은 전부 실제 데이터다.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실제 파이프라인 — 설명서 3장 그대로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왼쪽: 지도 만들기(파일·스크립트 단위) · 오른쪽: 학생이 올 때마다 도는 순서. 앞 장을 코드 이름으로 그린 것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pic>
        <p:nvPicPr>
          <p:cNvPr id="13" name="Picture 12" descr="offline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4846320" cy="4312290"/>
          </a:xfrm>
          <a:prstGeom prst="rect">
            <a:avLst/>
          </a:prstGeom>
        </p:spPr>
      </p:pic>
      <p:pic>
        <p:nvPicPr>
          <p:cNvPr id="14" name="Picture 13" descr="online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882" y="1508760"/>
            <a:ext cx="5970675" cy="2103120"/>
          </a:xfrm>
          <a:prstGeom prst="rect">
            <a:avLst/>
          </a:prstGeom>
        </p:spPr>
      </p:pic>
      <p:pic>
        <p:nvPicPr>
          <p:cNvPr id="15" name="Picture 14" descr="online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0150" y="3794760"/>
            <a:ext cx="5976138" cy="2103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23560" y="5989320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Malgun Gothic"/>
              </a:rPr>
              <a:t>위: 입력 4방식 → 역량 태그 → 전공 순위   아래: → 직무 → 다리 과목 → 카드 → 설명 문단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Malgun Gothic"/>
              </a:rPr>
              <a:t>💰 = AI 호출 · 원기둥 = 저장 파일 · 사전(vocab.py)이 양쪽을 잇는다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무엇으로 만들었나 — 작게, 표준으로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Python 약 3,100줄 · 파일 7개 · 외부 라이브러리 5개. 판정을 계산에 맡기려면 도구가 단순해야 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언어 ·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Python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코드 3,100줄(팀 모듈 포함 4,500), 파일 7개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Git · GitHub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커밋 167 · PR 15 · 기능별 가지에서 작업 후 합치기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VS Code · Claude Code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코딩 보조 (동시 편집 사고의 원인이자, 문서화의 도구)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7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OpenAI gpt-4o-mini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역량 뽑기·설명 문단 전부 같은 모델, 무작위성 끔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LangChain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프롬프트 틀 · 정해진 형식으로 답 받기 · 글자 흘려보내기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pydantic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AI 답의 형식을 미리 정해 두는 틀(스키마)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792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1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데이터 · 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requests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LG Careers 내부 API에서 공고 받기, 날짜별로 저장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pandas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과목표(3,829행)를 전공 단위로 묶기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JSON 파일 3층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AI 원답 저장 → 걸러낸 것 → 지도. 별도 DB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지식그래프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graph.json + Python 사전/집합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점 5종·관계 5종, 겹치는 것 세기로 판정 (AI 0번)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vocab.py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공통 사전 139 · '한 종류' 102 · 성향↔역량 (사람이 관리)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F96167"/>
                </a:solidFill>
                <a:latin typeface="Malgun Gothic"/>
              </a:rPr>
              <a:t>일부러 뺀 것: Neo4j · 벡터 임베딩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점 300개 규모라 사전으로 충분. 나중에 옮길 수 있게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498847" y="4078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091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명령줄(CLI)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입력 4방식 + 역방향 질문(--job)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Flask 웹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채팅 화면 · 결과 카드 · 설명 문단. 판정은 여기서 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실시간 스트리밍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카드는 즉시, 설명 문단은 글자가 흘러나오게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47888" y="40782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1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검증 ·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check.py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확인 3가지 + 정답지 24개 자동 채점 (대화도 대본으로 자동)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tiktoken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AI가 읽는 양(토큰) 실측. 감으로 말하지 않기 위해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050" b="1">
                <a:solidFill>
                  <a:srgbClr val="1F2430"/>
                </a:solidFill>
                <a:latin typeface="Malgun Gothic"/>
              </a:rPr>
              <a:t>Markdown + Mermaid</a:t>
            </a:r>
            <a:r>
              <a:rPr sz="1050" b="0">
                <a:solidFill>
                  <a:srgbClr val="1F2430"/>
                </a:solidFill>
                <a:latin typeface="Malgun Gothic"/>
              </a:rPr>
              <a:t> — 설명서 1,200줄 · 결정 기록 12개 · 시연 대본 · 챗봇 대조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280"/>
                </a:solidFill>
                <a:latin typeface="Malgun Gothic"/>
              </a:rPr>
              <a:t>설치 목록 5줄: flask · langchain-core · langchain-openai · python-dotenv · pydantic (+ pandas · requests · tiktoken)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① — AI는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9/14 밤, 전공 102개 첫 시도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무슨 일이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102개 전공 중 22개만 역량이 잡혔다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컴퓨터공학부 = '보안'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간호학과 = '보안, 클라우드'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통계학과 = 아무것도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"근거 과목 2개 이상" 규칙 — 대학 과목은 주제당 1개뿐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"없으면 없다고 답해도 된다"는 말이 없었다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AI가 과목명을 줄여 쓰면 근거로 안 쳐줌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결과 파일을 눈으로 열어 봤다 — "컴공 = 보안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같은 일이 4번 더: 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"정확히 3개", "최대 5개", "3문장 이상"이라고 시키면 채우려고 지어냈다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어떻게 바꿨나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근거 과목 1개면 인정, 줄여 쓴 이름도 인정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"없으면 빈 칸이 정답" + 틀린 예 4개를 보여줌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개수 지시 전부 삭제 — 근거가 1개면 1개만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AI 답을 파일에 저장 → 규칙을 고칠 때 다시 안 물어봄 (0원)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AI에게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9/15 낮, 전공과 직무가 공유하는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pic>
        <p:nvPicPr>
          <p:cNvPr id="13" name="Picture 12" descr="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766560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589520" y="164592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79222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3794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무슨 일이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13432"/>
            <a:ext cx="3566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직무는 Oracle·Java·AWS(도구 이름), 전공은 Database·Programming(학문 이름). 같은 뜻인데 글자가 달라 선이 안 이어졌다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971800"/>
            <a:ext cx="4023360" cy="11887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11810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1638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어떻게 바꿨나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639312"/>
            <a:ext cx="3566160" cy="3840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"Oracle은 Database의 한 종류" 같은 관계 102개를 사전에 적었다. 단 한 단계만, 위로만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297680"/>
            <a:ext cx="4023360" cy="8686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4439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4897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965192"/>
            <a:ext cx="3566160" cy="64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430"/>
                </a:solidFill>
                <a:latin typeface="Malgun Gothic"/>
              </a:rPr>
              <a:t>공유 역량 8 → 30개 · 이어진 직무 역량 0 → 75개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거창한 온톨로지가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③ — 눈 대신 정답지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점수 계산을 세 번 바꿨다. 매번 "이상한 1위"가 알려줬다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267712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3931920"/>
                <a:gridCol w="2377440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시도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이상한 1위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어떻게 바꿨나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1차: 겹치는 비율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"데이터 분석·통계"에 식물생산과학부가 통계학과를 이김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역량이 적은 전공이 유리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학생 역량 중 채운 비율로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2차: 드문 역량에 가중치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과목 1개짜리 전공이 근거 19과목의 통계학과를 이김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드문 역량을 너무 세게 침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가중치를 줄이고, 과목이 적으면 덜 믿기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3차: 직무 쪽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역량 1개짜리 공고가 항상 만점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적은 쪽이 유리한 같은 문제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역량 2개 이상인 공고만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20624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3525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398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73751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눈으로 서너 개 보고 고치기 → 고칠 때마다 다른 데가 깨짐 → "이 입력이면 이 전공" 정답지 10개 → 24개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206240"/>
            <a:ext cx="5394960" cy="1097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3525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39826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정답지가 실제로 잡은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73751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사전에 단어 하나 넣었더니 엉뚱한 직무가 1위 — 두 번 다 정답지가 먼저 알려줬다. 그 뒤 점수 계산은 손대지 않기로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④ — 한 단어의 무게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 저녁, 같은 자기소개에 결과가 실행마다 달랐다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무슨 일이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같은 자기소개인데 강점이 실행마다 다르게 나왔다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"발표력·설득력" ↔ "분석력만"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그래서 1위 전공도 왔다 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F96167"/>
                </a:solidFill>
                <a:latin typeface="Malgun Gothic"/>
              </a:rPr>
              <a:t>처음 짐작(틀림): 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"규칙 100줄이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두 버전을 나란히 비교하니 </a:t>
            </a:r>
            <a:r>
              <a:rPr sz="1250" b="1">
                <a:solidFill>
                  <a:srgbClr val="1F2430"/>
                </a:solidFill>
                <a:latin typeface="Malgun Gothic"/>
              </a:rPr>
              <a:t>차이는 '약점' 관련 몇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① "강점으로 나타남" → "강점으로 명확하게 나타남"  ② 분류 선택지 3개 → 2개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실험 3번 — 무엇을 되돌리면 안정되는지 하나씩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가중치는 원인이 아니었다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문구와 선택지를 되돌리니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어떻게 바꿨나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약점은 "묻지 않는다"만 하고, 분류 선택지는 남겨 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"명확하게"를 뺐다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AI는 같은 입력에도 조금씩 다르게 답한다 → 고치면 두 번 채점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"약점을 쓰지 않는다"는 결정과 "약점이란 단어를 지운다"는 구현은 다른 일이었다. 첫 짐작은 틀렸고, 비교가 맞았다.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⑤ — 대화는 입력만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질문 3개 → 팀원의 자기소개 분석 → 7가지를 묻는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무슨 일이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7가지를 다 물으니 8번 주고받기 · AI 20번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"잘 모르겠어요" 뒤에 같은 질문을 또 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같은 자기소개가 짧게 물으면 통계학과, 길게 물으면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대화가 길수록 역량 단어가 늘어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전공을 고를 때 쓰는 건 관심·강점 두 가지뿐인데 일곱 가지를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빈 자기소개로 직접 돌려 보며 횟수·시간을 셌다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대화 방식 정답지 4개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어떻게 바꿨나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관심·강점만 묻고, 한 번씩만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 → 2~3번 주고받기 · AI 6~8번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지킨 선: 대화 중에 AI가 전공·직무를 말하지 않는다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틀렸던 이야기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9/16~17, 같은 파일을 두 사람이 같은 날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무슨 일이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사전 파일을 두 사람이 같은 날 고침 → "한 종류" 관계 28줄이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한 사람이 카드를 숨겨 차별점이 화면에서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웹 고치기 4건을 두 사람이 동시에 → 같은 함수 충돌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AI 도구로 편집하다 블록이 날아가도 자동 검사는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"설명서만 합친다"가 실제론 전체를 합침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지도 만들 때 찍히는 숫자 "이어진 역량 61 → 43"</a:t>
            </a:r>
            <a:r>
              <a:rPr sz="1250" b="0">
                <a:solidFill>
                  <a:srgbClr val="1F2430"/>
                </a:solidFill>
                <a:latin typeface="Malgun Gothic"/>
              </a:rPr>
              <a:t> — 이게 경보였다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설명서에 적어 둔 "왜 카드가 있어야 하나"로 되돌림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520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어떻게 바꿨나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팀 요청 형식은 내용으로, 구조 개선은 틀로 — 합치는 원칙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0">
                <a:solidFill>
                  <a:srgbClr val="1F2430"/>
                </a:solidFill>
                <a:latin typeface="Malgun Gothic"/>
              </a:rPr>
              <a:t>결정은 날짜 문서로 남긴다 (8개)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250" b="1">
                <a:solidFill>
                  <a:srgbClr val="1F2430"/>
                </a:solidFill>
                <a:latin typeface="Malgun Gothic"/>
              </a:rPr>
              <a:t>코드와 데이터를 따로, 받기 먼저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6052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1F2430"/>
                </a:solidFill>
                <a:latin typeface="Malgun Gothic"/>
              </a:rPr>
              <a:t>역할을 나눠도 파일은 겹친다. 문서와 숫자가 없었으면 누가 맞는지 다투다 끝났을 것이다.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챗봇 대조 (1) — 채우거나, 비우거나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검색 끄고, 새 창에서, 우리 시연과 같은 문장을 넣었다 (9/17, 팀원이 각자)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pic>
        <p:nvPicPr>
          <p:cNvPr id="13" name="Picture 12" descr="chat_wr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25" y="1554480"/>
            <a:ext cx="4675909" cy="3703320"/>
          </a:xfrm>
          <a:prstGeom prst="rect">
            <a:avLst/>
          </a:prstGeom>
        </p:spPr>
      </p:pic>
      <p:pic>
        <p:nvPicPr>
          <p:cNvPr id="14" name="Picture 13" descr="chat_chatg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333" y="1554480"/>
            <a:ext cx="5068412" cy="37033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34924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541324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96167"/>
                </a:solidFill>
                <a:latin typeface="Malgun Gothic"/>
              </a:rPr>
              <a:t>뤼튼 — 그럴듯하게 채웠다. 과목 3개 중 2개는 3,829개 과목에 없고, 그 직무는 우리 공고에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534924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541324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6B7280"/>
                </a:solidFill>
                <a:latin typeface="Malgun Gothic"/>
              </a:rPr>
              <a:t>ChatGPT — 솔직하게 비웠다. "검증하지 않았다", "보장할 수 없다"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430"/>
                </a:solidFill>
                <a:latin typeface="Malgun Gothic"/>
              </a:rPr>
              <a:t>고등학생은 이 둘을 구분할 방법이 없다. 근거 데이터가 있어야 "안다"와 "그럴듯하다"가 갈린다.   (대화 이미지는 답변 원문으로 재구성 — 실제 캡처로 교체 가능)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챗봇 대조 (2) — Gemini, 그리고 우리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Gemini는 직무 이름을 맞혔지만, 과목과 직무 설명은 데이터와 어긋났다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pic>
        <p:nvPicPr>
          <p:cNvPr id="13" name="Picture 12" descr="chat_ge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751" y="1554480"/>
            <a:ext cx="5290457" cy="3703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5349240"/>
            <a:ext cx="5440680" cy="566928"/>
          </a:xfrm>
          <a:prstGeom prst="roundRect">
            <a:avLst>
              <a:gd name="adj" fmla="val 12000"/>
            </a:avLst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541324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96167"/>
                </a:solidFill>
                <a:latin typeface="Malgun Gothic"/>
              </a:rPr>
              <a:t>Gemini — 과목 8개 중 4개 없음. DX 엔지니어를 "데이터 분석" 직무로 설명 (실제 공고는 개발 직무)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00200"/>
          <a:ext cx="5440680" cy="228600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05840"/>
                <a:gridCol w="100584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F2430"/>
                          </a:solidFill>
                          <a:latin typeface="Malgun Gothic"/>
                        </a:rPr>
                        <a:t>전체 중 몇 위인지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61개 중 1위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답하지 않음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순위 없음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F2430"/>
                          </a:solidFill>
                          <a:latin typeface="Malgun Gothic"/>
                        </a:rPr>
                        <a:t>과목이 실제로 있나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전부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있지만 "검증 안 함"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3개 중 2개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8개 중 4개 없음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F2430"/>
                          </a:solidFill>
                          <a:latin typeface="Malgun Gothic"/>
                        </a:rPr>
                        <a:t>공고가 요구하는 역량 개수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2개 중 2개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"일반 기준" 7개 중 4개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출처 없이 단정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✗ 설명이 어긋남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1F2430"/>
                          </a:solidFill>
                          <a:latin typeface="Malgun Gothic"/>
                        </a:rPr>
                        <a:t>같은 뜻 다른 말 → 같은 답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✓ 정답지 매번 통과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1위만 같고 목록은 매번 다름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430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172200" y="411480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373368" y="4261104"/>
            <a:ext cx="384048" cy="384048"/>
          </a:xfrm>
          <a:prstGeom prst="ellipse">
            <a:avLst/>
          </a:prstGeom>
          <a:solidFill>
            <a:srgbClr val="1A9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4306824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9E7A"/>
                </a:solidFill>
                <a:latin typeface="Malgun Gothic"/>
              </a:rPr>
              <a:t>챗봇이 잘한 것도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82312"/>
            <a:ext cx="498348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"패턴을 찾고 → 코드로 분석하고 → 설명하는 쪽에 강점" 같은 해석과 문장은 ChatGPT가 잘 쓴다. 그래서 우리도 그 부분(설명 문단)은 AI에 맡긴다. 결론은 "챗봇 대 우리"가 아니라 "말은 AI, 판정은 데이터"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430"/>
                </a:solidFill>
                <a:latin typeface="Malgun Gothic"/>
              </a:rPr>
              <a:t>우리 카드: 61개 중 46개 비교 1위 · 과목 7개로 이어짐 · 요구 2/2 충족 · 출처 대학알리미·LG Careers — 전부 데이터에서 센 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비용 — 질문 한 번에 AI가 읽는 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토큰 = AI가 글을 세는 단위. 한글 한 글자가 대략 1토큰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약 85배 차이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B는 교육과정 전체와 공고 전체를 매번 읽는다. 우리는 미리 만든 지도만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지도 만들기는 한 번만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AI 277번 (B의 2~3번 분량). 3번째 질문부터 우리가 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96167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B는 AI가 판정 → 매번 답이 다르고 개수를 못 센다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Malgun Gothic"/>
              </a:rPr>
              <a:t>A는 데이터가 없어서 기억으로 답한다. 숫자 근거: docs/20260916_발표_수치_4-5장.md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한계 — 먼저 말합니다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7007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174650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대학이 서울대 하나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2199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"어느 대학이 좋은가"는 답 못 한다. "서울대 교육과정 기준 어느 전공인가"만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5544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70078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174650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280"/>
                </a:solidFill>
                <a:latin typeface="Malgun Gothic"/>
              </a:rPr>
              <a:t>과목 이름만 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22199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7007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174650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공고는 그날 받아 둔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22199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9/11·9/15 기준. LG CNS 신입 공고는 이미 닫혔다 — 날짜를 붙여 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4962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953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280"/>
                </a:solidFill>
                <a:latin typeface="Malgun Gothic"/>
              </a:rPr>
              <a:t>사전 밖 직무 10개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신입 85개 중. 어학·엑셀만 요구하는 사무직 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70332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4962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953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AI는 조금씩 다르게 답한다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7083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역량 뽑기·성향 읽기에서. 판정은 아니지만 정답지로 계속 감시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70332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49624"/>
            <a:ext cx="384048" cy="384048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953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280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70831"/>
            <a:ext cx="306324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공고 32%가 요구하지만 "자격"이지 대학이 기르는 역량이 아니라서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공통 사전(어휘)은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한 사람 담당으로 정했는데도 동시에 고치는 일이 생겼습니다.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AI 답이 조금씩 달라지는 건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무작위성을 꺼도 흔들렸습니다. 정답지를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판정을 AI에게 맡긴 팀은 어떻게 같은 답을 보장했나요?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우리는 계산으로 넘겼는데, 그 대가로 말이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430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Malgun Gothic"/>
              </a:rPr>
              <a:t>우리는 길어질수록 결과가 흔들려 두 가지만 물었습니다.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EF1FB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280"/>
                </a:solidFill>
                <a:latin typeface="Malgun Gothic"/>
              </a:rPr>
              <a:t>이름과 회고는 팀원이 직접 채웁니다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이름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A · 사전·PM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공통 사전 139단어 · '한 종류' 관계 102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B · 계산·통합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전공·직무·과목 고르는 계산 · 코드 합치기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공고 수집 · AI로 역량 뽑기 · 지도 만들기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2430"/>
                          </a:solidFill>
                          <a:latin typeface="Malgun Gothic"/>
                        </a:rPr>
                        <a:t>D · 화면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카드·설명 문단 · 대화 · 웹 · 정답지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430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F2430"/>
                </a:solidFill>
                <a:latin typeface="Malgun Gothic"/>
              </a:rPr>
              <a:t>예시 (실제로 있었던 것): "규칙이 지워진 줄 알았는데 비교해 보니 한 단어였다" · "설명서만 합친 줄 알았는데 전체였다" · "일곱 가지를 다 물으면 더 정확할 줄 알았다"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AI에게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"약점을 쓰지 않는다"는 결정과 "약점이란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0E0"/>
                </a:solidFill>
                <a:latin typeface="Malgun Gothic"/>
              </a:rPr>
              <a:t>감사합니다 — 코드·문서·결정 기록: github.com/KU-CS-HTG/LG-CNS-KG-Project-1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A — 예상 질문과 답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63040"/>
          <a:ext cx="11064240" cy="435254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왜 어학이 없나요? 영업엔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어학은 역량이 아니라 지원 자격(예: OPIc 몇 등급 이상). 대학 과목으로 영어를 "기르는" 전공이 없고, 점수에 넣으면 어학을 적은 직무만 불리해진다. 정보로 보여 주는 건 다음 과제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교육과정 데이터가 한 곳. 대학을 비교하는 게 아니라 "서울대 교육과정 기준으로 어느 전공"을 답한다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LG 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9/11에 받아 둔 공고. 그래서 "없다"가 아니라 "이 날짜 기준"이라고 말한다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ChatGPT에 물으면 안 되나요?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결론(통계학과)은 같을 수 있다. 다른 건 근거 — "46개 중 1위, 과목 7개, 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AI는 어디에 쓰나요?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글에서 역량 이름을 뽑을 때와 카드를 풀어 쓸 때. 어떤 전공·직무를 고를지는 계산이 한다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46%가 무슨 뜻인가요?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"어울릴 확률"이 아니라 학생 역량이 그 전공 과목과 이어진 정도.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430"/>
                </a:solidFill>
                <a:latin typeface="Malgun Gothic"/>
              </a:rPr>
              <a:t>부록 B — 숫자와 문서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280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630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2F3C7E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서울대 105 전공 · 과목 3,829 / LG 계열사 9곳 · 공고 50 → 직무 172 (신입 85)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지도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전공 61 · 직무 108 (신입 75) · 역량 120 · 관계 5종 ("기른다" 174 · "요구한다" 447 · "한 종류" 102 · 성향 관계 24)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사전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대표 단어 139 · 다른 표기 417 · 상위 개념 23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AI 호출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지도 만들기 277번 (한 번) · 학생 1명당 2~6번 · 자동 채점 1회 약 45번</a:t>
                      </a:r>
                    </a:p>
                  </a:txBody>
                  <a:tcPr marL="73152" marR="73152" marT="36576" marB="36576" anchor="ctr">
                    <a:solidFill>
                      <a:srgbClr val="F3F4F8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430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430"/>
                          </a:solidFill>
                          <a:latin typeface="Malgun Gothic"/>
                        </a:rPr>
                        <a:t>확인 3가지 · 정답지 24개 전부 통과 (두 번 연속)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6350" cap="flat" cmpd="sng">
                      <a:solidFill>
                        <a:srgbClr val="D9DCE3"/>
                      </a:solidFill>
                    </a:lnL>
                    <a:lnR w="6350" cap="flat" cmpd="sng">
                      <a:solidFill>
                        <a:srgbClr val="D9DCE3"/>
                      </a:solidFill>
                    </a:lnR>
                    <a:lnT w="6350" cap="flat" cmpd="sng">
                      <a:solidFill>
                        <a:srgbClr val="D9DCE3"/>
                      </a:solidFill>
                    </a:lnT>
                    <a:lnB w="6350" cap="flat" cmpd="sng">
                      <a:solidFill>
                        <a:srgbClr val="D9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983480"/>
            <a:ext cx="11064240" cy="128016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5129784"/>
            <a:ext cx="384048" cy="384048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51755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F3C7E"/>
                </a:solidFill>
                <a:latin typeface="Malgun Gothic"/>
              </a:rPr>
              <a:t>결정 기록 (저장소 docs/, 날짜순)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0992"/>
            <a:ext cx="106070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09-15  전공 추출 필터 수정 · 온톨로지 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09-16  어휘 3단계 · 대화형 입력 검토 · 카드 형식 · 인터뷰 평가 회귀 분석 · 발표 수치 · 시연 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2F3C7E"/>
              </a:buClr>
              <a:buFont typeface="Arial"/>
              <a:buChar char="•"/>
            </a:pPr>
            <a:r>
              <a:rPr sz="1150" b="0">
                <a:solidFill>
                  <a:srgbClr val="1F2430"/>
                </a:solidFill>
                <a:latin typeface="Malgun Gothic"/>
              </a:rPr>
              <a:t>09-17  발표 내용 취합 · 챗봇 대조 실험 · 쉽게 읽는 소개 · 프로젝트 설명서(12장)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