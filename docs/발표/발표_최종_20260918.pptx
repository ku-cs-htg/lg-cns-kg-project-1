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go5WzIwl9GAKdWYVZRxzejssDMT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6"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안녕하세요. 저희는 LG 직무 추천 AI Agent에 대해 발표할 황태규, 정재우입니다.</a:t>
            </a:r>
            <a:endParaRPr sz="1200">
              <a:solidFill>
                <a:schemeClr val="dk1"/>
              </a:solidFill>
              <a:latin typeface="Malgun Gothic"/>
              <a:ea typeface="Malgun Gothic"/>
              <a:cs typeface="Malgun Gothic"/>
              <a:sym typeface="Malgun Gothic"/>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Malgun Gothic"/>
                <a:ea typeface="Malgun Gothic"/>
                <a:cs typeface="Malgun Gothic"/>
                <a:sym typeface="Malgun Gothic"/>
              </a:rPr>
              <a:t>‹#›</a:t>
            </a:fld>
            <a:endParaRPr sz="1800">
              <a:solidFill>
                <a:schemeClr val="dk1"/>
              </a:solidFill>
              <a:latin typeface="Malgun Gothic"/>
              <a:ea typeface="Malgun Gothic"/>
              <a:cs typeface="Malgun Gothic"/>
              <a:sym typeface="Malgun Gothic"/>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 name="Google Shape;2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저희는 이 에이전트를 LG 계열사에 입사하고 싶지만, 자신에게 어떠한 전공이 맞고, 그 전공이 어떤 직무와 매칭되는지를 모르는 고등학생을 위해 만들게 되었습니다.</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백문이 불여일견이라는 말이 있죠. 직접 어떻게 작동하는지 시연해보겠습니다.</a:t>
            </a:r>
            <a:endParaRPr sz="1200">
              <a:solidFill>
                <a:schemeClr val="dk1"/>
              </a:solidFill>
              <a:latin typeface="Malgun Gothic"/>
              <a:ea typeface="Malgun Gothic"/>
              <a:cs typeface="Malgun Gothic"/>
              <a:sym typeface="Malgun Gothic"/>
            </a:endParaRPr>
          </a:p>
        </p:txBody>
      </p:sp>
      <p:sp>
        <p:nvSpPr>
          <p:cNvPr id="26" name="Google Shape;26;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Malgun Gothic"/>
                <a:ea typeface="Malgun Gothic"/>
                <a:cs typeface="Malgun Gothic"/>
                <a:sym typeface="Malgun Gothic"/>
              </a:rPr>
              <a:t>‹#›</a:t>
            </a:fld>
            <a:endParaRPr sz="1800">
              <a:solidFill>
                <a:schemeClr val="dk1"/>
              </a:solidFill>
              <a:latin typeface="Malgun Gothic"/>
              <a:ea typeface="Malgun Gothic"/>
              <a:cs typeface="Malgun Gothic"/>
              <a:sym typeface="Malgun Gothic"/>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 name="Google Shape;6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프로젝트의 전체적인 구조를 살펴보겠습니다. USER EXPERIENCE 부분을 보시면, 학생 입장에서는 대화형 화면에 자신에 대한 여러 가지 정보를 입력하면 전공, 근거 과목, LG 직무를 추천받게 됩니다.</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AGENT &amp; DECISION 부분을 보시면 학생이 입력한 자연어 텍스트와 graph 내 역량 데이터를 매칭시킬 수 있도록 LLM으로 태깅합니다. 이때 그래프에 없는 태그가 생성되지 않도록 Langchain을 통해 출력 형식을 강제하였고, 그래프의 허용 어휘 목록과 대조하는 함수를 활용하였습니다. [핵심 요약]에서 위쪽 박스를 보시면 태깅 결과를 확인할 수 있습니다. </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이렇게 역량 태그 목록이 생성되면, graph_store에서는 우선 역량과 전공 전체를 비교해서 가장 잘 어울리는 전공을 선택합니다. 이후 선택된 전공과 직무 전체를 비교해서 가장 잘 어울리는 직무를 선택합니다. 마지막으로 전공과 직무가 공통적으로 요구하는 역량을 기르는 과목 3가지를 선택합니다. 이렇게 비교하여 순위를 매기는 과정에서 LLM을 사용하면 호출 횟수가 많아지고 재현성이 떨어지기 때문에 순수하게 Python의 딕셔너리, 집합 연산으로 구현했습니다.</a:t>
            </a:r>
            <a:endParaRPr sz="1200">
              <a:solidFill>
                <a:schemeClr val="dk1"/>
              </a:solidFill>
              <a:latin typeface="Malgun Gothic"/>
              <a:ea typeface="Malgun Gothic"/>
              <a:cs typeface="Malgun Gothic"/>
              <a:sym typeface="Malgun Gothic"/>
            </a:endParaRPr>
          </a:p>
        </p:txBody>
      </p:sp>
      <p:sp>
        <p:nvSpPr>
          <p:cNvPr id="68" name="Google Shape;68;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h5f98b5e057c13be2_2_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h5f98b5e057c13be2_2_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Malgun Gothic"/>
              <a:ea typeface="Malgun Gothic"/>
              <a:cs typeface="Malgun Gothic"/>
              <a:sym typeface="Malgun Gothic"/>
            </a:endParaRPr>
          </a:p>
        </p:txBody>
      </p:sp>
      <p:sp>
        <p:nvSpPr>
          <p:cNvPr id="125" name="Google Shape;125;h5f98b5e057c13be2_2_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Malgun Gothic"/>
                <a:ea typeface="Malgun Gothic"/>
                <a:cs typeface="Malgun Gothic"/>
                <a:sym typeface="Malgun Gothic"/>
              </a:rPr>
              <a:t>‹#›</a:t>
            </a:fld>
            <a:endParaRPr sz="1800">
              <a:solidFill>
                <a:schemeClr val="dk1"/>
              </a:solidFill>
              <a:latin typeface="Malgun Gothic"/>
              <a:ea typeface="Malgun Gothic"/>
              <a:cs typeface="Malgun Gothic"/>
              <a:sym typeface="Malgun Gothic"/>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 name="Google Shape;16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Malgun Gothic"/>
              <a:ea typeface="Malgun Gothic"/>
              <a:cs typeface="Malgun Gothic"/>
              <a:sym typeface="Malgun Gothic"/>
            </a:endParaRPr>
          </a:p>
        </p:txBody>
      </p:sp>
      <p:sp>
        <p:nvSpPr>
          <p:cNvPr id="163" name="Google Shape;163;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Malgun Gothic"/>
                <a:ea typeface="Malgun Gothic"/>
                <a:cs typeface="Malgun Gothic"/>
                <a:sym typeface="Malgun Gothic"/>
              </a:rPr>
              <a:t>‹#›</a:t>
            </a:fld>
            <a:endParaRPr sz="1800">
              <a:solidFill>
                <a:schemeClr val="dk1"/>
              </a:solidFill>
              <a:latin typeface="Malgun Gothic"/>
              <a:ea typeface="Malgun Gothic"/>
              <a:cs typeface="Malgun Gothic"/>
              <a:sym typeface="Malgun Gothic"/>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7" name="Google Shape;21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Malgun Gothic"/>
              <a:ea typeface="Malgun Gothic"/>
              <a:cs typeface="Malgun Gothic"/>
              <a:sym typeface="Malgun Gothic"/>
            </a:endParaRPr>
          </a:p>
        </p:txBody>
      </p:sp>
      <p:sp>
        <p:nvSpPr>
          <p:cNvPr id="218" name="Google Shape;218;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Malgun Gothic"/>
                <a:ea typeface="Malgun Gothic"/>
                <a:cs typeface="Malgun Gothic"/>
                <a:sym typeface="Malgun Gothic"/>
              </a:rPr>
              <a:t>‹#›</a:t>
            </a:fld>
            <a:endParaRPr sz="1800">
              <a:solidFill>
                <a:schemeClr val="dk1"/>
              </a:solidFill>
              <a:latin typeface="Malgun Gothic"/>
              <a:ea typeface="Malgun Gothic"/>
              <a:cs typeface="Malgun Gothic"/>
              <a:sym typeface="Malgun Gothic"/>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409f53afb48_0_8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5" name="Google Shape;265;g409f53afb48_0_8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이제 기존 챗봇과 비교했을 때 저희 에이전트의 장점을 설명하겠습니다.</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챗봇은 근본적으로 ‘다음에 올 단어를 예측하는’ 방식으로 작동하기 때문에 이런 질문에 자주 나오는 패턴을 기반으로 답변을 생성해서 Hallucination 문제가 발생할 수 있습니다. 슬라이드를 보시면 서울대학교 통계학과에서 고급수학 1,2를 들으라고 했는데 고급수학이라는 과목이 아예 존재하지 않는다는 것을 확인할 수 있습니다. 저희 에이전트는 지식 그래프 내에 있는 모든 데이터들을 비교하여 순위를 매긴 후 답변을 생성하기 때문에 Hallucination 문제가 발생하지 않고, 재현성이 높아서 같은 질문에 항상 같은 답변을 생성합니다.</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200">
              <a:solidFill>
                <a:schemeClr val="dk1"/>
              </a:solidFill>
              <a:latin typeface="Malgun Gothic"/>
              <a:ea typeface="Malgun Gothic"/>
              <a:cs typeface="Malgun Gothic"/>
              <a:sym typeface="Malgun Gothic"/>
            </a:endParaRPr>
          </a:p>
        </p:txBody>
      </p:sp>
      <p:sp>
        <p:nvSpPr>
          <p:cNvPr id="266" name="Google Shape;266;g409f53afb48_0_8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Malgun Gothic"/>
                <a:ea typeface="Malgun Gothic"/>
                <a:cs typeface="Malgun Gothic"/>
                <a:sym typeface="Malgun Gothic"/>
              </a:rPr>
              <a:t>‹#›</a:t>
            </a:fld>
            <a:endParaRPr sz="1800">
              <a:solidFill>
                <a:schemeClr val="dk1"/>
              </a:solidFill>
              <a:latin typeface="Malgun Gothic"/>
              <a:ea typeface="Malgun Gothic"/>
              <a:cs typeface="Malgun Gothic"/>
              <a:sym typeface="Malgun Gothic"/>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409f53afb48_7_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1" name="Google Shape;301;g409f53afb48_7_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지금 슬라이드에 있는 내용과 방금 시연한 웹페이지를 비교해보시면 완전히 동일합니다. 오른쪽 출력 결과의 [전공] 파트 안에 있는 ‘선택 이유’를 보시면 전공 추천 답변을 생성하기 전에 항상 전체 61개 전공 데이터를 기반으로 답변한다는 것을 확인할 수 있습니다. </a:t>
            </a:r>
            <a:endParaRPr sz="1200">
              <a:solidFill>
                <a:schemeClr val="dk1"/>
              </a:solidFill>
              <a:latin typeface="Malgun Gothic"/>
              <a:ea typeface="Malgun Gothic"/>
              <a:cs typeface="Malgun Gothic"/>
              <a:sym typeface="Malgun Gothic"/>
            </a:endParaRPr>
          </a:p>
        </p:txBody>
      </p:sp>
      <p:sp>
        <p:nvSpPr>
          <p:cNvPr id="302" name="Google Shape;302;g409f53afb48_7_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Malgun Gothic"/>
                <a:ea typeface="Malgun Gothic"/>
                <a:cs typeface="Malgun Gothic"/>
                <a:sym typeface="Malgun Gothic"/>
              </a:rPr>
              <a:t>‹#›</a:t>
            </a:fld>
            <a:endParaRPr sz="1800">
              <a:solidFill>
                <a:schemeClr val="dk1"/>
              </a:solidFill>
              <a:latin typeface="Malgun Gothic"/>
              <a:ea typeface="Malgun Gothic"/>
              <a:cs typeface="Malgun Gothic"/>
              <a:sym typeface="Malgun Gothic"/>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1" name="Google Shape;321;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한계점에 대해 설명하겠습니다. 저희는 날짜별로 채용 공고 스냅샷을 수집하여 LG 직무 데이터를 구성했는데요, 채용 공고 정보를 자동으로 상시 수집하는 구조가 아니기 때문에, 두 스냅샷 사이에 올라왔다가 마감된 공고는 수집 불가능하다는 한계점이 있습니다.</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그리고 현재 채용 공고 데이터만으로는 계열사 전체 직무 영역을 실질적으로 다 담을 수 없다는 한계점이 있습니다.</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지금 전공 데이터는 서울대학교에 있는 전공만 기반으로 하기 때문에 서울대 교육과정에는 없고 타 대학 교육과정에 있는 과목은 추천 불가능하다는 한계점이 있습니다. </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이전 슬라이드 오른쪽에 있는 [핵심 요약] 파트는 지식 그래프를 기반으로 하기 때문에 성향과 역량이 입력되면 항상 완전히 같은 결과가 출력되지만, 처음에 [유저 입력] 파트에서 AI와 사용자가 답변을 주고받으며 성향과 역량을 추출하는 부분과 ‘세부내용 확인’을 누르면 나오는 대화형 답변의 경우 LLM을 기반으로 하였기 때문에 비결정성 문제가 있습니다.</a:t>
            </a:r>
            <a:endParaRPr sz="1200">
              <a:solidFill>
                <a:schemeClr val="dk1"/>
              </a:solidFill>
              <a:latin typeface="Malgun Gothic"/>
              <a:ea typeface="Malgun Gothic"/>
              <a:cs typeface="Malgun Gothic"/>
              <a:sym typeface="Malgun Gothic"/>
            </a:endParaRPr>
          </a:p>
        </p:txBody>
      </p:sp>
      <p:sp>
        <p:nvSpPr>
          <p:cNvPr id="322" name="Google Shape;322;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Malgun Gothic"/>
                <a:ea typeface="Malgun Gothic"/>
                <a:cs typeface="Malgun Gothic"/>
                <a:sym typeface="Malgun Gothic"/>
              </a:rPr>
              <a:t>‹#›</a:t>
            </a:fld>
            <a:endParaRPr sz="1800">
              <a:solidFill>
                <a:schemeClr val="dk1"/>
              </a:solidFill>
              <a:latin typeface="Malgun Gothic"/>
              <a:ea typeface="Malgun Gothic"/>
              <a:cs typeface="Malgun Gothic"/>
              <a:sym typeface="Malgun Gothic"/>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6" name="Google Shape;356;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개선 방향에 대해 설명하겠습니다.</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채용공고 유실 문제는 자동으로 크롤링하고, 아카이브 시스템을 구축하는 것으로 해결할 수 있습니다.</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LG 전체 직무를 확인할 수 없다는 한계점은 LG 측에 추가적인 자료 제공을 요청하거나 관련된 추가적인 API가 있으면 그것을 활용해서 그래프에 추가하는 식으로 해결할 수 있습니다.</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서울대학교에 있는 전공 데이터만을 기반으로 한다는 문제점은 타 대학 교육과정 데이터를 확보하고, 같은 과라도 대학교별로 다른 점을 비교한 데이터까지 수집하여 활용하면 해결할 수 있습니다.</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LLM 비결정성 문제는 Seed값을 도입하거나 같은 프롬프트를 여러 번 돌려서 가장 많이 나온 조합을 채택하는 Self-Consistency 방식을 도입하면 해결할 수 있습니다.</a:t>
            </a:r>
            <a:endParaRPr sz="1200">
              <a:solidFill>
                <a:schemeClr val="dk1"/>
              </a:solidFill>
              <a:latin typeface="Malgun Gothic"/>
              <a:ea typeface="Malgun Gothic"/>
              <a:cs typeface="Malgun Gothic"/>
              <a:sym typeface="Malgun Gothic"/>
            </a:endParaRPr>
          </a:p>
        </p:txBody>
      </p:sp>
      <p:sp>
        <p:nvSpPr>
          <p:cNvPr id="357" name="Google Shape;357;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Malgun Gothic"/>
                <a:ea typeface="Malgun Gothic"/>
                <a:cs typeface="Malgun Gothic"/>
                <a:sym typeface="Malgun Gothic"/>
              </a:rPr>
              <a:t>‹#›</a:t>
            </a:fld>
            <a:endParaRPr sz="1800">
              <a:solidFill>
                <a:schemeClr val="dk1"/>
              </a:solidFill>
              <a:latin typeface="Malgun Gothic"/>
              <a:ea typeface="Malgun Gothic"/>
              <a:cs typeface="Malgun Gothic"/>
              <a:sym typeface="Malgun Gothic"/>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409f53afb48_5_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9" name="Google Shape;399;g409f53afb48_5_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Malgun Gothic"/>
              <a:ea typeface="Malgun Gothic"/>
              <a:cs typeface="Malgun Gothic"/>
              <a:sym typeface="Malgun Gothic"/>
            </a:endParaRPr>
          </a:p>
        </p:txBody>
      </p:sp>
      <p:sp>
        <p:nvSpPr>
          <p:cNvPr id="400" name="Google Shape;400;g409f53afb48_5_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Malgun Gothic"/>
                <a:ea typeface="Malgun Gothic"/>
                <a:cs typeface="Malgun Gothic"/>
                <a:sym typeface="Malgun Gothic"/>
              </a:rPr>
              <a:t>‹#›</a:t>
            </a:fld>
            <a:endParaRPr sz="1800">
              <a:solidFill>
                <a:schemeClr val="dk1"/>
              </a:solidFill>
              <a:latin typeface="Malgun Gothic"/>
              <a:ea typeface="Malgun Gothic"/>
              <a:cs typeface="Malgun Gothic"/>
              <a:sym typeface="Malgun Gothic"/>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carrers.lg.co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B45"/>
        </a:solidFill>
      </p:bgPr>
    </p:bg>
    <p:spTree>
      <p:nvGrpSpPr>
        <p:cNvPr id="11" name="Shape 11"/>
        <p:cNvGrpSpPr/>
        <p:nvPr/>
      </p:nvGrpSpPr>
      <p:grpSpPr>
        <a:xfrm>
          <a:off x="0" y="0"/>
          <a:ext cx="0" cy="0"/>
          <a:chOff x="0" y="0"/>
          <a:chExt cx="0" cy="0"/>
        </a:xfrm>
      </p:grpSpPr>
      <p:sp>
        <p:nvSpPr>
          <p:cNvPr id="12" name="Google Shape;12;p1"/>
          <p:cNvSpPr/>
          <p:nvPr/>
        </p:nvSpPr>
        <p:spPr>
          <a:xfrm rot="-1690715">
            <a:off x="11117759" y="671627"/>
            <a:ext cx="377594" cy="23774"/>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1"/>
          <p:cNvSpPr/>
          <p:nvPr/>
        </p:nvSpPr>
        <p:spPr>
          <a:xfrm rot="1690715">
            <a:off x="11117759" y="849935"/>
            <a:ext cx="377594" cy="23774"/>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1"/>
          <p:cNvSpPr/>
          <p:nvPr/>
        </p:nvSpPr>
        <p:spPr>
          <a:xfrm>
            <a:off x="11068812" y="701345"/>
            <a:ext cx="142646" cy="142646"/>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
          <p:cNvSpPr/>
          <p:nvPr/>
        </p:nvSpPr>
        <p:spPr>
          <a:xfrm>
            <a:off x="11401654" y="523037"/>
            <a:ext cx="142646" cy="142646"/>
          </a:xfrm>
          <a:prstGeom prst="ellipse">
            <a:avLst/>
          </a:prstGeom>
          <a:solidFill>
            <a:srgbClr val="E857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
          <p:cNvSpPr/>
          <p:nvPr/>
        </p:nvSpPr>
        <p:spPr>
          <a:xfrm>
            <a:off x="11401654" y="879653"/>
            <a:ext cx="142646" cy="142646"/>
          </a:xfrm>
          <a:prstGeom prst="ellipse">
            <a:avLst/>
          </a:prstGeom>
          <a:solidFill>
            <a:srgbClr val="2F9E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640080" y="1920240"/>
            <a:ext cx="9144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300"/>
              <a:buFont typeface="Calibri"/>
              <a:buNone/>
            </a:pPr>
            <a:r>
              <a:rPr b="0" i="0" lang="en-US" sz="1300" u="none" cap="none" strike="noStrike">
                <a:solidFill>
                  <a:srgbClr val="CADCFC"/>
                </a:solidFill>
                <a:latin typeface="Calibri"/>
                <a:ea typeface="Calibri"/>
                <a:cs typeface="Calibri"/>
                <a:sym typeface="Calibri"/>
              </a:rPr>
              <a:t>LG CNS AI캠퍼스 · Knowledge Graph 과정</a:t>
            </a:r>
            <a:endParaRPr b="0" i="0" sz="1300" u="none" cap="none" strike="noStrike">
              <a:solidFill>
                <a:schemeClr val="dk1"/>
              </a:solidFill>
              <a:latin typeface="Calibri"/>
              <a:ea typeface="Calibri"/>
              <a:cs typeface="Calibri"/>
              <a:sym typeface="Calibri"/>
            </a:endParaRPr>
          </a:p>
        </p:txBody>
      </p:sp>
      <p:sp>
        <p:nvSpPr>
          <p:cNvPr id="18" name="Google Shape;18;p1"/>
          <p:cNvSpPr/>
          <p:nvPr/>
        </p:nvSpPr>
        <p:spPr>
          <a:xfrm>
            <a:off x="621792" y="2331720"/>
            <a:ext cx="10058400" cy="1005840"/>
          </a:xfrm>
          <a:prstGeom prst="rect">
            <a:avLst/>
          </a:prstGeom>
          <a:noFill/>
          <a:ln>
            <a:noFill/>
          </a:ln>
        </p:spPr>
        <p:txBody>
          <a:bodyPr anchorCtr="0" anchor="ctr" bIns="45700" lIns="91425" spcFirstLastPara="1" rIns="91425" wrap="square" tIns="45700">
            <a:noAutofit/>
          </a:bodyPr>
          <a:lstStyle/>
          <a:p>
            <a:pPr indent="0" lvl="0" marL="0" rtl="0" algn="l">
              <a:lnSpc>
                <a:spcPct val="125000"/>
              </a:lnSpc>
              <a:spcBef>
                <a:spcPts val="0"/>
              </a:spcBef>
              <a:spcAft>
                <a:spcPts val="0"/>
              </a:spcAft>
              <a:buClr>
                <a:schemeClr val="dk1"/>
              </a:buClr>
              <a:buSzPts val="1100"/>
              <a:buFont typeface="Arial"/>
              <a:buNone/>
            </a:pPr>
            <a:r>
              <a:t/>
            </a:r>
            <a:endParaRPr b="1" sz="4200">
              <a:solidFill>
                <a:srgbClr val="FFFFFF"/>
              </a:solidFill>
              <a:latin typeface="Malgun Gothic"/>
              <a:ea typeface="Malgun Gothic"/>
              <a:cs typeface="Malgun Gothic"/>
              <a:sym typeface="Malgun Gothic"/>
            </a:endParaRPr>
          </a:p>
          <a:p>
            <a:pPr indent="0" lvl="0" marL="0" rtl="0" algn="l">
              <a:lnSpc>
                <a:spcPct val="125000"/>
              </a:lnSpc>
              <a:spcBef>
                <a:spcPts val="0"/>
              </a:spcBef>
              <a:spcAft>
                <a:spcPts val="0"/>
              </a:spcAft>
              <a:buClr>
                <a:schemeClr val="dk1"/>
              </a:buClr>
              <a:buSzPts val="1100"/>
              <a:buFont typeface="Arial"/>
              <a:buNone/>
            </a:pPr>
            <a:r>
              <a:rPr b="1" lang="en-US" sz="4200">
                <a:solidFill>
                  <a:srgbClr val="FFFFFF"/>
                </a:solidFill>
                <a:latin typeface="Malgun Gothic"/>
                <a:ea typeface="Malgun Gothic"/>
                <a:cs typeface="Malgun Gothic"/>
                <a:sym typeface="Malgun Gothic"/>
              </a:rPr>
              <a:t>LG 직무 추천 AI Agent</a:t>
            </a:r>
            <a:endParaRPr b="1" sz="4200">
              <a:solidFill>
                <a:srgbClr val="FFFFFF"/>
              </a:solidFill>
              <a:latin typeface="Malgun Gothic"/>
              <a:ea typeface="Malgun Gothic"/>
              <a:cs typeface="Malgun Gothic"/>
              <a:sym typeface="Malgun Gothic"/>
            </a:endParaRPr>
          </a:p>
          <a:p>
            <a:pPr indent="0" lvl="0" marL="0" marR="0" rtl="0" algn="l">
              <a:spcBef>
                <a:spcPts val="0"/>
              </a:spcBef>
              <a:spcAft>
                <a:spcPts val="0"/>
              </a:spcAft>
              <a:buClr>
                <a:srgbClr val="FFFFFF"/>
              </a:buClr>
              <a:buSzPts val="4600"/>
              <a:buFont typeface="Calibri"/>
              <a:buNone/>
            </a:pPr>
            <a:r>
              <a:t/>
            </a:r>
            <a:endParaRPr b="1" sz="4600">
              <a:solidFill>
                <a:srgbClr val="FFFFFF"/>
              </a:solidFill>
              <a:latin typeface="Calibri"/>
              <a:ea typeface="Calibri"/>
              <a:cs typeface="Calibri"/>
              <a:sym typeface="Calibri"/>
            </a:endParaRPr>
          </a:p>
        </p:txBody>
      </p:sp>
      <p:sp>
        <p:nvSpPr>
          <p:cNvPr id="19" name="Google Shape;19;p1"/>
          <p:cNvSpPr/>
          <p:nvPr/>
        </p:nvSpPr>
        <p:spPr>
          <a:xfrm>
            <a:off x="640080" y="3291840"/>
            <a:ext cx="10058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800"/>
              <a:buFont typeface="Calibri"/>
              <a:buNone/>
            </a:pPr>
            <a:r>
              <a:rPr b="0" i="0" lang="en-US" sz="1800" u="none" cap="none" strike="noStrike">
                <a:solidFill>
                  <a:srgbClr val="CADCFC"/>
                </a:solidFill>
                <a:latin typeface="Calibri"/>
                <a:ea typeface="Calibri"/>
                <a:cs typeface="Calibri"/>
                <a:sym typeface="Calibri"/>
              </a:rPr>
              <a:t>전공 </a:t>
            </a:r>
            <a:r>
              <a:rPr i="0" lang="en-US" sz="1800" u="none" cap="none" strike="noStrike">
                <a:solidFill>
                  <a:srgbClr val="CADCFC"/>
                </a:solidFill>
                <a:latin typeface="Malgun Gothic"/>
                <a:ea typeface="Malgun Gothic"/>
                <a:cs typeface="Malgun Gothic"/>
                <a:sym typeface="Malgun Gothic"/>
              </a:rPr>
              <a:t>↔</a:t>
            </a:r>
            <a:r>
              <a:rPr b="0" i="0" lang="en-US" sz="1800" u="none" cap="none" strike="noStrike">
                <a:solidFill>
                  <a:srgbClr val="CADCFC"/>
                </a:solidFill>
                <a:latin typeface="Calibri"/>
                <a:ea typeface="Calibri"/>
                <a:cs typeface="Calibri"/>
                <a:sym typeface="Calibri"/>
              </a:rPr>
              <a:t> 역량 </a:t>
            </a:r>
            <a:r>
              <a:rPr i="0" lang="en-US" sz="1800" u="none" cap="none" strike="noStrike">
                <a:solidFill>
                  <a:srgbClr val="CADCFC"/>
                </a:solidFill>
                <a:latin typeface="Malgun Gothic"/>
                <a:ea typeface="Malgun Gothic"/>
                <a:cs typeface="Malgun Gothic"/>
                <a:sym typeface="Malgun Gothic"/>
              </a:rPr>
              <a:t>↔</a:t>
            </a:r>
            <a:r>
              <a:rPr b="0" i="0" lang="en-US" sz="1800" u="none" cap="none" strike="noStrike">
                <a:solidFill>
                  <a:srgbClr val="CADCFC"/>
                </a:solidFill>
                <a:latin typeface="Calibri"/>
                <a:ea typeface="Calibri"/>
                <a:cs typeface="Calibri"/>
                <a:sym typeface="Calibri"/>
              </a:rPr>
              <a:t> LG 계열사 직무 Knowledge Graph</a:t>
            </a:r>
            <a:endParaRPr b="0" i="0" sz="1800" u="none" cap="none" strike="noStrike">
              <a:solidFill>
                <a:schemeClr val="dk1"/>
              </a:solidFill>
              <a:latin typeface="Calibri"/>
              <a:ea typeface="Calibri"/>
              <a:cs typeface="Calibri"/>
              <a:sym typeface="Calibri"/>
            </a:endParaRPr>
          </a:p>
        </p:txBody>
      </p:sp>
      <p:cxnSp>
        <p:nvCxnSpPr>
          <p:cNvPr id="20" name="Google Shape;20;p1"/>
          <p:cNvCxnSpPr/>
          <p:nvPr/>
        </p:nvCxnSpPr>
        <p:spPr>
          <a:xfrm>
            <a:off x="640080" y="3977640"/>
            <a:ext cx="2011680" cy="0"/>
          </a:xfrm>
          <a:prstGeom prst="straightConnector1">
            <a:avLst/>
          </a:prstGeom>
          <a:noFill/>
          <a:ln cap="flat" cmpd="sng" w="25400">
            <a:solidFill>
              <a:srgbClr val="E8574A"/>
            </a:solidFill>
            <a:prstDash val="solid"/>
            <a:round/>
            <a:headEnd len="sm" w="sm" type="none"/>
            <a:tailEnd len="sm" w="sm" type="none"/>
          </a:ln>
        </p:spPr>
      </p:cxnSp>
      <p:sp>
        <p:nvSpPr>
          <p:cNvPr id="21" name="Google Shape;21;p1"/>
          <p:cNvSpPr/>
          <p:nvPr/>
        </p:nvSpPr>
        <p:spPr>
          <a:xfrm>
            <a:off x="640080" y="4160520"/>
            <a:ext cx="9601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AA6D1"/>
              </a:buClr>
              <a:buSzPts val="1300"/>
              <a:buFont typeface="Calibri"/>
              <a:buNone/>
            </a:pPr>
            <a:r>
              <a:rPr lang="en-US" sz="1300">
                <a:solidFill>
                  <a:srgbClr val="9AA6D1"/>
                </a:solidFill>
                <a:latin typeface="Calibri"/>
                <a:ea typeface="Calibri"/>
                <a:cs typeface="Calibri"/>
                <a:sym typeface="Calibri"/>
              </a:rPr>
              <a:t>1팀 | </a:t>
            </a:r>
            <a:r>
              <a:rPr b="0" i="0" lang="en-US" sz="1300" u="none" cap="none" strike="noStrike">
                <a:solidFill>
                  <a:srgbClr val="9AA6D1"/>
                </a:solidFill>
                <a:latin typeface="Calibri"/>
                <a:ea typeface="Calibri"/>
                <a:cs typeface="Calibri"/>
                <a:sym typeface="Calibri"/>
              </a:rPr>
              <a:t>유수환, 정지원, 정재우, 황태규</a:t>
            </a:r>
            <a:endParaRPr b="0" i="0" sz="1300" u="none" cap="none" strike="noStrike">
              <a:solidFill>
                <a:schemeClr val="dk1"/>
              </a:solidFill>
              <a:latin typeface="Calibri"/>
              <a:ea typeface="Calibri"/>
              <a:cs typeface="Calibri"/>
              <a:sym typeface="Calibri"/>
            </a:endParaRPr>
          </a:p>
        </p:txBody>
      </p:sp>
      <p:sp>
        <p:nvSpPr>
          <p:cNvPr id="22" name="Google Shape;22;p1"/>
          <p:cNvSpPr/>
          <p:nvPr/>
        </p:nvSpPr>
        <p:spPr>
          <a:xfrm>
            <a:off x="640080" y="6126480"/>
            <a:ext cx="9144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C"/>
        </a:solidFill>
      </p:bgPr>
    </p:bg>
    <p:spTree>
      <p:nvGrpSpPr>
        <p:cNvPr id="27" name="Shape 27"/>
        <p:cNvGrpSpPr/>
        <p:nvPr/>
      </p:nvGrpSpPr>
      <p:grpSpPr>
        <a:xfrm>
          <a:off x="0" y="0"/>
          <a:ext cx="0" cy="0"/>
          <a:chOff x="0" y="0"/>
          <a:chExt cx="0" cy="0"/>
        </a:xfrm>
      </p:grpSpPr>
      <p:sp>
        <p:nvSpPr>
          <p:cNvPr id="28" name="Google Shape;28;p2"/>
          <p:cNvSpPr/>
          <p:nvPr/>
        </p:nvSpPr>
        <p:spPr>
          <a:xfrm>
            <a:off x="457200" y="384048"/>
            <a:ext cx="914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574A"/>
              </a:buClr>
              <a:buSzPts val="2000"/>
              <a:buFont typeface="Calibri"/>
              <a:buNone/>
            </a:pPr>
            <a:r>
              <a:rPr b="1" lang="en-US" sz="2000">
                <a:solidFill>
                  <a:srgbClr val="E8574A"/>
                </a:solidFill>
                <a:latin typeface="Calibri"/>
                <a:ea typeface="Calibri"/>
                <a:cs typeface="Calibri"/>
                <a:sym typeface="Calibri"/>
              </a:rPr>
              <a:t>01</a:t>
            </a:r>
            <a:endParaRPr b="1" sz="2000">
              <a:solidFill>
                <a:schemeClr val="dk1"/>
              </a:solidFill>
              <a:latin typeface="Cambria"/>
              <a:ea typeface="Cambria"/>
              <a:cs typeface="Cambria"/>
              <a:sym typeface="Cambria"/>
            </a:endParaRPr>
          </a:p>
        </p:txBody>
      </p:sp>
      <p:sp>
        <p:nvSpPr>
          <p:cNvPr id="29" name="Google Shape;29;p2"/>
          <p:cNvSpPr/>
          <p:nvPr/>
        </p:nvSpPr>
        <p:spPr>
          <a:xfrm>
            <a:off x="457200" y="713232"/>
            <a:ext cx="100584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600"/>
              <a:buFont typeface="Calibri"/>
              <a:buNone/>
            </a:pPr>
            <a:r>
              <a:rPr b="1" lang="en-US" sz="2600">
                <a:solidFill>
                  <a:srgbClr val="1E2761"/>
                </a:solidFill>
                <a:latin typeface="Calibri"/>
                <a:ea typeface="Calibri"/>
                <a:cs typeface="Calibri"/>
                <a:sym typeface="Calibri"/>
              </a:rPr>
              <a:t>누구를 위해 만들었나</a:t>
            </a:r>
            <a:endParaRPr sz="2600">
              <a:solidFill>
                <a:schemeClr val="dk1"/>
              </a:solidFill>
              <a:latin typeface="Calibri"/>
              <a:ea typeface="Calibri"/>
              <a:cs typeface="Calibri"/>
              <a:sym typeface="Calibri"/>
            </a:endParaRPr>
          </a:p>
        </p:txBody>
      </p:sp>
      <p:sp>
        <p:nvSpPr>
          <p:cNvPr id="30" name="Google Shape;30;p2"/>
          <p:cNvSpPr/>
          <p:nvPr/>
        </p:nvSpPr>
        <p:spPr>
          <a:xfrm>
            <a:off x="457200" y="1207008"/>
            <a:ext cx="103327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072"/>
              </a:buClr>
              <a:buSzPts val="1300"/>
              <a:buFont typeface="Calibri"/>
              <a:buNone/>
            </a:pPr>
            <a:r>
              <a:rPr lang="en-US" sz="1300">
                <a:solidFill>
                  <a:srgbClr val="5A6072"/>
                </a:solidFill>
                <a:latin typeface="Calibri"/>
                <a:ea typeface="Calibri"/>
                <a:cs typeface="Calibri"/>
                <a:sym typeface="Calibri"/>
              </a:rPr>
              <a:t>타깃 학생이 실제로 품는 질문을 그대로 따라가는 스토리라인</a:t>
            </a:r>
            <a:endParaRPr sz="1300">
              <a:solidFill>
                <a:schemeClr val="dk1"/>
              </a:solidFill>
              <a:latin typeface="Calibri"/>
              <a:ea typeface="Calibri"/>
              <a:cs typeface="Calibri"/>
              <a:sym typeface="Calibri"/>
            </a:endParaRPr>
          </a:p>
        </p:txBody>
      </p:sp>
      <p:sp>
        <p:nvSpPr>
          <p:cNvPr id="31" name="Google Shape;31;p2"/>
          <p:cNvSpPr/>
          <p:nvPr/>
        </p:nvSpPr>
        <p:spPr>
          <a:xfrm rot="-1690715">
            <a:off x="11397243" y="562356"/>
            <a:ext cx="290457" cy="18288"/>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rot="1690715">
            <a:off x="11397243" y="699516"/>
            <a:ext cx="290457" cy="18288"/>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11359591" y="585216"/>
            <a:ext cx="109728" cy="109728"/>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11615623" y="448056"/>
            <a:ext cx="109728" cy="109728"/>
          </a:xfrm>
          <a:prstGeom prst="ellipse">
            <a:avLst/>
          </a:prstGeom>
          <a:solidFill>
            <a:srgbClr val="E857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11615623" y="722376"/>
            <a:ext cx="109728" cy="109728"/>
          </a:xfrm>
          <a:prstGeom prst="ellipse">
            <a:avLst/>
          </a:prstGeom>
          <a:solidFill>
            <a:srgbClr val="2F9E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457200" y="1691650"/>
            <a:ext cx="8194500" cy="1417200"/>
          </a:xfrm>
          <a:prstGeom prst="roundRect">
            <a:avLst>
              <a:gd fmla="val 5161" name="adj"/>
            </a:avLst>
          </a:prstGeom>
          <a:solidFill>
            <a:srgbClr val="FFFFFF"/>
          </a:solidFill>
          <a:ln cap="flat" cmpd="sng" w="12700">
            <a:solidFill>
              <a:srgbClr val="E2E6F2"/>
            </a:solidFill>
            <a:prstDash val="solid"/>
            <a:round/>
            <a:headEnd len="sm" w="sm" type="none"/>
            <a:tailEnd len="sm" w="sm" type="none"/>
          </a:ln>
          <a:effectLst>
            <a:outerShdw blurRad="762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685800" y="1828800"/>
            <a:ext cx="46634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500"/>
              <a:buFont typeface="Calibri"/>
              <a:buNone/>
            </a:pPr>
            <a:r>
              <a:rPr b="1" lang="en-US" sz="1500">
                <a:solidFill>
                  <a:srgbClr val="1E2761"/>
                </a:solidFill>
                <a:latin typeface="Calibri"/>
                <a:ea typeface="Calibri"/>
                <a:cs typeface="Calibri"/>
                <a:sym typeface="Calibri"/>
              </a:rPr>
              <a:t>Target</a:t>
            </a:r>
            <a:endParaRPr sz="1500">
              <a:solidFill>
                <a:schemeClr val="dk1"/>
              </a:solidFill>
              <a:latin typeface="Calibri"/>
              <a:ea typeface="Calibri"/>
              <a:cs typeface="Calibri"/>
              <a:sym typeface="Calibri"/>
            </a:endParaRPr>
          </a:p>
        </p:txBody>
      </p:sp>
      <p:sp>
        <p:nvSpPr>
          <p:cNvPr id="38" name="Google Shape;38;p2"/>
          <p:cNvSpPr/>
          <p:nvPr/>
        </p:nvSpPr>
        <p:spPr>
          <a:xfrm>
            <a:off x="685800" y="2252321"/>
            <a:ext cx="6887400" cy="8688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1F2430"/>
              </a:buClr>
              <a:buSzPts val="1250"/>
              <a:buFont typeface="Calibri"/>
              <a:buNone/>
            </a:pPr>
            <a:r>
              <a:rPr lang="en-US" sz="1250">
                <a:solidFill>
                  <a:srgbClr val="1F2430"/>
                </a:solidFill>
                <a:latin typeface="Calibri"/>
                <a:ea typeface="Calibri"/>
                <a:cs typeface="Calibri"/>
                <a:sym typeface="Calibri"/>
              </a:rPr>
              <a:t>진로를 탐색하는 고등학생 — 좋아하는 것은 있지만, 그것이 전공·직업으로 어떻게 이어지는지 근거</a:t>
            </a:r>
            <a:r>
              <a:rPr lang="en-US" sz="1250">
                <a:solidFill>
                  <a:srgbClr val="1F2430"/>
                </a:solidFill>
                <a:latin typeface="Calibri"/>
                <a:ea typeface="Calibri"/>
                <a:cs typeface="Calibri"/>
                <a:sym typeface="Calibri"/>
              </a:rPr>
              <a:t>에 기반한 설명을 받아</a:t>
            </a:r>
            <a:r>
              <a:rPr lang="en-US" sz="1250">
                <a:solidFill>
                  <a:srgbClr val="1F2430"/>
                </a:solidFill>
                <a:latin typeface="Calibri"/>
                <a:ea typeface="Calibri"/>
                <a:cs typeface="Calibri"/>
                <a:sym typeface="Calibri"/>
              </a:rPr>
              <a:t> 본 적 없으나, LG 계열사 </a:t>
            </a:r>
            <a:r>
              <a:rPr lang="en-US" sz="1250">
                <a:solidFill>
                  <a:srgbClr val="1F2430"/>
                </a:solidFill>
                <a:latin typeface="Calibri"/>
                <a:ea typeface="Calibri"/>
                <a:cs typeface="Calibri"/>
                <a:sym typeface="Calibri"/>
              </a:rPr>
              <a:t>입사를</a:t>
            </a:r>
            <a:r>
              <a:rPr lang="en-US" sz="1250">
                <a:solidFill>
                  <a:srgbClr val="1F2430"/>
                </a:solidFill>
                <a:latin typeface="Calibri"/>
                <a:ea typeface="Calibri"/>
                <a:cs typeface="Calibri"/>
                <a:sym typeface="Calibri"/>
              </a:rPr>
              <a:t> </a:t>
            </a:r>
            <a:r>
              <a:rPr lang="en-US" sz="1250">
                <a:solidFill>
                  <a:srgbClr val="1F2430"/>
                </a:solidFill>
                <a:latin typeface="Calibri"/>
                <a:ea typeface="Calibri"/>
                <a:cs typeface="Calibri"/>
                <a:sym typeface="Calibri"/>
              </a:rPr>
              <a:t>희망</a:t>
            </a:r>
            <a:r>
              <a:rPr lang="en-US" sz="1250">
                <a:solidFill>
                  <a:srgbClr val="1F2430"/>
                </a:solidFill>
                <a:latin typeface="Calibri"/>
                <a:ea typeface="Calibri"/>
                <a:cs typeface="Calibri"/>
                <a:sym typeface="Calibri"/>
              </a:rPr>
              <a:t>하는 학생.</a:t>
            </a:r>
            <a:endParaRPr sz="1250">
              <a:solidFill>
                <a:schemeClr val="dk1"/>
              </a:solidFill>
              <a:latin typeface="Calibri"/>
              <a:ea typeface="Calibri"/>
              <a:cs typeface="Calibri"/>
              <a:sym typeface="Calibri"/>
            </a:endParaRPr>
          </a:p>
        </p:txBody>
      </p:sp>
      <p:sp>
        <p:nvSpPr>
          <p:cNvPr id="39" name="Google Shape;39;p2"/>
          <p:cNvSpPr/>
          <p:nvPr/>
        </p:nvSpPr>
        <p:spPr>
          <a:xfrm>
            <a:off x="457200" y="333756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500"/>
              <a:buFont typeface="Calibri"/>
              <a:buNone/>
            </a:pPr>
            <a:r>
              <a:rPr b="1" lang="en-US" sz="1500">
                <a:solidFill>
                  <a:srgbClr val="1E2761"/>
                </a:solidFill>
                <a:latin typeface="Calibri"/>
                <a:ea typeface="Calibri"/>
                <a:cs typeface="Calibri"/>
                <a:sym typeface="Calibri"/>
              </a:rPr>
              <a:t>타깃의 궁금증 — 3단계 스토리라인</a:t>
            </a:r>
            <a:endParaRPr sz="1500">
              <a:solidFill>
                <a:schemeClr val="dk1"/>
              </a:solidFill>
              <a:latin typeface="Calibri"/>
              <a:ea typeface="Calibri"/>
              <a:cs typeface="Calibri"/>
              <a:sym typeface="Calibri"/>
            </a:endParaRPr>
          </a:p>
        </p:txBody>
      </p:sp>
      <p:grpSp>
        <p:nvGrpSpPr>
          <p:cNvPr id="40" name="Google Shape;40;p2"/>
          <p:cNvGrpSpPr/>
          <p:nvPr/>
        </p:nvGrpSpPr>
        <p:grpSpPr>
          <a:xfrm>
            <a:off x="457200" y="3840480"/>
            <a:ext cx="2450592" cy="2377440"/>
            <a:chOff x="457200" y="3840480"/>
            <a:chExt cx="2450592" cy="2377440"/>
          </a:xfrm>
        </p:grpSpPr>
        <p:sp>
          <p:nvSpPr>
            <p:cNvPr id="41" name="Google Shape;41;p2"/>
            <p:cNvSpPr/>
            <p:nvPr/>
          </p:nvSpPr>
          <p:spPr>
            <a:xfrm>
              <a:off x="457200" y="3840480"/>
              <a:ext cx="2450592" cy="2377440"/>
            </a:xfrm>
            <a:prstGeom prst="roundRect">
              <a:avLst>
                <a:gd fmla="val 3077" name="adj"/>
              </a:avLst>
            </a:prstGeom>
            <a:solidFill>
              <a:srgbClr val="FFFFFF"/>
            </a:solidFill>
            <a:ln cap="flat" cmpd="sng" w="12700">
              <a:solidFill>
                <a:srgbClr val="E2E6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658368" y="4041648"/>
              <a:ext cx="457200" cy="457200"/>
            </a:xfrm>
            <a:prstGeom prst="ellipse">
              <a:avLst/>
            </a:prstGeom>
            <a:solidFill>
              <a:srgbClr val="E857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658368" y="4041648"/>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Q1</a:t>
              </a:r>
              <a:endParaRPr sz="1400">
                <a:solidFill>
                  <a:schemeClr val="dk1"/>
                </a:solidFill>
                <a:latin typeface="Calibri"/>
                <a:ea typeface="Calibri"/>
                <a:cs typeface="Calibri"/>
                <a:sym typeface="Calibri"/>
              </a:endParaRPr>
            </a:p>
          </p:txBody>
        </p:sp>
        <p:sp>
          <p:nvSpPr>
            <p:cNvPr id="44" name="Google Shape;44;p2"/>
            <p:cNvSpPr/>
            <p:nvPr/>
          </p:nvSpPr>
          <p:spPr>
            <a:xfrm>
              <a:off x="646665" y="4640105"/>
              <a:ext cx="2048400" cy="82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300"/>
                <a:buFont typeface="Calibri"/>
                <a:buNone/>
              </a:pPr>
              <a:r>
                <a:rPr b="1" lang="en-US" sz="1300">
                  <a:solidFill>
                    <a:srgbClr val="1F2430"/>
                  </a:solidFill>
                  <a:latin typeface="Calibri"/>
                  <a:ea typeface="Calibri"/>
                  <a:cs typeface="Calibri"/>
                  <a:sym typeface="Calibri"/>
                </a:rPr>
                <a:t>내가 좋아하는 게</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1F2430"/>
                </a:buClr>
                <a:buSzPts val="1300"/>
                <a:buFont typeface="Calibri"/>
                <a:buNone/>
              </a:pPr>
              <a:r>
                <a:rPr b="1" lang="en-US" sz="1300">
                  <a:solidFill>
                    <a:srgbClr val="1F2430"/>
                  </a:solidFill>
                  <a:latin typeface="Calibri"/>
                  <a:ea typeface="Calibri"/>
                  <a:cs typeface="Calibri"/>
                  <a:sym typeface="Calibri"/>
                </a:rPr>
                <a:t>뭘까?</a:t>
              </a:r>
              <a:endParaRPr sz="1300">
                <a:solidFill>
                  <a:schemeClr val="dk1"/>
                </a:solidFill>
                <a:latin typeface="Calibri"/>
                <a:ea typeface="Calibri"/>
                <a:cs typeface="Calibri"/>
                <a:sym typeface="Calibri"/>
              </a:endParaRPr>
            </a:p>
          </p:txBody>
        </p:sp>
        <p:cxnSp>
          <p:nvCxnSpPr>
            <p:cNvPr id="45" name="Google Shape;45;p2"/>
            <p:cNvCxnSpPr/>
            <p:nvPr/>
          </p:nvCxnSpPr>
          <p:spPr>
            <a:xfrm>
              <a:off x="658368" y="5532120"/>
              <a:ext cx="2048256" cy="0"/>
            </a:xfrm>
            <a:prstGeom prst="straightConnector1">
              <a:avLst/>
            </a:prstGeom>
            <a:noFill/>
            <a:ln cap="flat" cmpd="sng" w="12700">
              <a:solidFill>
                <a:srgbClr val="E2E6F2"/>
              </a:solidFill>
              <a:prstDash val="solid"/>
              <a:round/>
              <a:headEnd len="sm" w="sm" type="none"/>
              <a:tailEnd len="sm" w="sm" type="none"/>
            </a:ln>
          </p:spPr>
        </p:cxnSp>
        <p:sp>
          <p:nvSpPr>
            <p:cNvPr id="46" name="Google Shape;46;p2"/>
            <p:cNvSpPr/>
            <p:nvPr/>
          </p:nvSpPr>
          <p:spPr>
            <a:xfrm>
              <a:off x="658368" y="5623560"/>
              <a:ext cx="2048256"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574A"/>
                </a:buClr>
                <a:buSzPts val="1100"/>
                <a:buFont typeface="Calibri"/>
                <a:buNone/>
              </a:pPr>
              <a:r>
                <a:rPr b="1" lang="en-US" sz="1100">
                  <a:solidFill>
                    <a:srgbClr val="E8574A"/>
                  </a:solidFill>
                  <a:latin typeface="Calibri"/>
                  <a:ea typeface="Calibri"/>
                  <a:cs typeface="Calibri"/>
                  <a:sym typeface="Calibri"/>
                </a:rPr>
                <a:t>관심·경험 말하기</a:t>
              </a:r>
              <a:endParaRPr sz="1100">
                <a:solidFill>
                  <a:schemeClr val="dk1"/>
                </a:solidFill>
                <a:latin typeface="Calibri"/>
                <a:ea typeface="Calibri"/>
                <a:cs typeface="Calibri"/>
                <a:sym typeface="Calibri"/>
              </a:endParaRPr>
            </a:p>
          </p:txBody>
        </p:sp>
      </p:grpSp>
      <p:grpSp>
        <p:nvGrpSpPr>
          <p:cNvPr id="47" name="Google Shape;47;p2"/>
          <p:cNvGrpSpPr/>
          <p:nvPr/>
        </p:nvGrpSpPr>
        <p:grpSpPr>
          <a:xfrm>
            <a:off x="3329096" y="3840480"/>
            <a:ext cx="2450592" cy="2377440"/>
            <a:chOff x="3072384" y="3840480"/>
            <a:chExt cx="2450592" cy="2377440"/>
          </a:xfrm>
        </p:grpSpPr>
        <p:sp>
          <p:nvSpPr>
            <p:cNvPr id="48" name="Google Shape;48;p2"/>
            <p:cNvSpPr/>
            <p:nvPr/>
          </p:nvSpPr>
          <p:spPr>
            <a:xfrm>
              <a:off x="3072384" y="3840480"/>
              <a:ext cx="2450592" cy="2377440"/>
            </a:xfrm>
            <a:prstGeom prst="roundRect">
              <a:avLst>
                <a:gd fmla="val 3077" name="adj"/>
              </a:avLst>
            </a:prstGeom>
            <a:solidFill>
              <a:srgbClr val="FFFFFF"/>
            </a:solidFill>
            <a:ln cap="flat" cmpd="sng" w="12700">
              <a:solidFill>
                <a:srgbClr val="E2E6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3273552" y="4041648"/>
              <a:ext cx="457200" cy="457200"/>
            </a:xfrm>
            <a:prstGeom prst="ellipse">
              <a:avLst/>
            </a:prstGeom>
            <a:solidFill>
              <a:srgbClr val="3B5B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3273552" y="4041648"/>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Q2</a:t>
              </a:r>
              <a:endParaRPr sz="1400">
                <a:solidFill>
                  <a:schemeClr val="dk1"/>
                </a:solidFill>
                <a:latin typeface="Calibri"/>
                <a:ea typeface="Calibri"/>
                <a:cs typeface="Calibri"/>
                <a:sym typeface="Calibri"/>
              </a:endParaRPr>
            </a:p>
          </p:txBody>
        </p:sp>
        <p:sp>
          <p:nvSpPr>
            <p:cNvPr id="51" name="Google Shape;51;p2"/>
            <p:cNvSpPr/>
            <p:nvPr/>
          </p:nvSpPr>
          <p:spPr>
            <a:xfrm>
              <a:off x="3261849" y="4640105"/>
              <a:ext cx="2048400" cy="82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300"/>
                <a:buFont typeface="Calibri"/>
                <a:buNone/>
              </a:pPr>
              <a:r>
                <a:rPr b="1" lang="en-US" sz="1300">
                  <a:solidFill>
                    <a:srgbClr val="1F2430"/>
                  </a:solidFill>
                  <a:latin typeface="Calibri"/>
                  <a:ea typeface="Calibri"/>
                  <a:cs typeface="Calibri"/>
                  <a:sym typeface="Calibri"/>
                </a:rPr>
                <a:t>그럼 어떤 전공이</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1F2430"/>
                </a:buClr>
                <a:buSzPts val="1300"/>
                <a:buFont typeface="Calibri"/>
                <a:buNone/>
              </a:pPr>
              <a:r>
                <a:rPr b="1" lang="en-US" sz="1300">
                  <a:solidFill>
                    <a:srgbClr val="1F2430"/>
                  </a:solidFill>
                  <a:latin typeface="Calibri"/>
                  <a:ea typeface="Calibri"/>
                  <a:cs typeface="Calibri"/>
                  <a:sym typeface="Calibri"/>
                </a:rPr>
                <a:t>나한테 맞을까?</a:t>
              </a:r>
              <a:endParaRPr sz="1300">
                <a:solidFill>
                  <a:schemeClr val="dk1"/>
                </a:solidFill>
                <a:latin typeface="Calibri"/>
                <a:ea typeface="Calibri"/>
                <a:cs typeface="Calibri"/>
                <a:sym typeface="Calibri"/>
              </a:endParaRPr>
            </a:p>
          </p:txBody>
        </p:sp>
        <p:cxnSp>
          <p:nvCxnSpPr>
            <p:cNvPr id="52" name="Google Shape;52;p2"/>
            <p:cNvCxnSpPr/>
            <p:nvPr/>
          </p:nvCxnSpPr>
          <p:spPr>
            <a:xfrm>
              <a:off x="3273552" y="5532120"/>
              <a:ext cx="2048256" cy="0"/>
            </a:xfrm>
            <a:prstGeom prst="straightConnector1">
              <a:avLst/>
            </a:prstGeom>
            <a:noFill/>
            <a:ln cap="flat" cmpd="sng" w="12700">
              <a:solidFill>
                <a:srgbClr val="E2E6F2"/>
              </a:solidFill>
              <a:prstDash val="solid"/>
              <a:round/>
              <a:headEnd len="sm" w="sm" type="none"/>
              <a:tailEnd len="sm" w="sm" type="none"/>
            </a:ln>
          </p:spPr>
        </p:cxnSp>
        <p:sp>
          <p:nvSpPr>
            <p:cNvPr id="53" name="Google Shape;53;p2"/>
            <p:cNvSpPr/>
            <p:nvPr/>
          </p:nvSpPr>
          <p:spPr>
            <a:xfrm>
              <a:off x="3273552" y="5623560"/>
              <a:ext cx="2048256"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B5BDB"/>
                </a:buClr>
                <a:buSzPts val="1100"/>
                <a:buFont typeface="Calibri"/>
                <a:buNone/>
              </a:pPr>
              <a:r>
                <a:rPr b="1" lang="en-US" sz="1100">
                  <a:solidFill>
                    <a:srgbClr val="3B5BDB"/>
                  </a:solidFill>
                  <a:latin typeface="Calibri"/>
                  <a:ea typeface="Calibri"/>
                  <a:cs typeface="Calibri"/>
                  <a:sym typeface="Calibri"/>
                </a:rPr>
                <a:t>전공 1위 + 근거 과목</a:t>
              </a:r>
              <a:endParaRPr sz="1100">
                <a:solidFill>
                  <a:schemeClr val="dk1"/>
                </a:solidFill>
                <a:latin typeface="Calibri"/>
                <a:ea typeface="Calibri"/>
                <a:cs typeface="Calibri"/>
                <a:sym typeface="Calibri"/>
              </a:endParaRPr>
            </a:p>
          </p:txBody>
        </p:sp>
      </p:grpSp>
      <p:grpSp>
        <p:nvGrpSpPr>
          <p:cNvPr id="54" name="Google Shape;54;p2"/>
          <p:cNvGrpSpPr/>
          <p:nvPr/>
        </p:nvGrpSpPr>
        <p:grpSpPr>
          <a:xfrm>
            <a:off x="6200993" y="3840480"/>
            <a:ext cx="2450700" cy="2377500"/>
            <a:chOff x="5687568" y="3840480"/>
            <a:chExt cx="2450700" cy="2377500"/>
          </a:xfrm>
        </p:grpSpPr>
        <p:sp>
          <p:nvSpPr>
            <p:cNvPr id="55" name="Google Shape;55;p2"/>
            <p:cNvSpPr/>
            <p:nvPr/>
          </p:nvSpPr>
          <p:spPr>
            <a:xfrm>
              <a:off x="5687568" y="3840480"/>
              <a:ext cx="2450700" cy="2377500"/>
            </a:xfrm>
            <a:prstGeom prst="roundRect">
              <a:avLst>
                <a:gd fmla="val 3077" name="adj"/>
              </a:avLst>
            </a:prstGeom>
            <a:solidFill>
              <a:srgbClr val="FFFFFF"/>
            </a:solidFill>
            <a:ln cap="flat" cmpd="sng" w="12700">
              <a:solidFill>
                <a:srgbClr val="E2E6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5888736" y="4041648"/>
              <a:ext cx="457200" cy="457200"/>
            </a:xfrm>
            <a:prstGeom prst="ellipse">
              <a:avLst/>
            </a:prstGeom>
            <a:solidFill>
              <a:srgbClr val="2F9E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5888736" y="4041648"/>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Q3</a:t>
              </a:r>
              <a:endParaRPr sz="1400">
                <a:solidFill>
                  <a:schemeClr val="dk1"/>
                </a:solidFill>
                <a:latin typeface="Calibri"/>
                <a:ea typeface="Calibri"/>
                <a:cs typeface="Calibri"/>
                <a:sym typeface="Calibri"/>
              </a:endParaRPr>
            </a:p>
          </p:txBody>
        </p:sp>
        <p:sp>
          <p:nvSpPr>
            <p:cNvPr id="58" name="Google Shape;58;p2"/>
            <p:cNvSpPr/>
            <p:nvPr/>
          </p:nvSpPr>
          <p:spPr>
            <a:xfrm>
              <a:off x="5877033" y="4640105"/>
              <a:ext cx="2048400" cy="82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300"/>
                <a:buFont typeface="Calibri"/>
                <a:buNone/>
              </a:pPr>
              <a:r>
                <a:rPr b="1" lang="en-US" sz="1300">
                  <a:solidFill>
                    <a:srgbClr val="1F2430"/>
                  </a:solidFill>
                  <a:latin typeface="Calibri"/>
                  <a:ea typeface="Calibri"/>
                  <a:cs typeface="Calibri"/>
                  <a:sym typeface="Calibri"/>
                </a:rPr>
                <a:t>그 전공 나오면</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1F2430"/>
                </a:buClr>
                <a:buSzPts val="1300"/>
                <a:buFont typeface="Calibri"/>
                <a:buNone/>
              </a:pPr>
              <a:r>
                <a:rPr b="1" lang="en-US" sz="1300">
                  <a:solidFill>
                    <a:srgbClr val="1F2430"/>
                  </a:solidFill>
                  <a:latin typeface="Calibri"/>
                  <a:ea typeface="Calibri"/>
                  <a:cs typeface="Calibri"/>
                  <a:sym typeface="Calibri"/>
                </a:rPr>
                <a:t>무슨 일을 할 </a:t>
              </a:r>
              <a:r>
                <a:rPr b="1" lang="en-US" sz="1300">
                  <a:solidFill>
                    <a:srgbClr val="1F2430"/>
                  </a:solidFill>
                  <a:latin typeface="Calibri"/>
                  <a:ea typeface="Calibri"/>
                  <a:cs typeface="Calibri"/>
                  <a:sym typeface="Calibri"/>
                </a:rPr>
                <a:t>수 있을</a:t>
              </a:r>
              <a:r>
                <a:rPr b="1" lang="en-US" sz="1300">
                  <a:solidFill>
                    <a:srgbClr val="1F2430"/>
                  </a:solidFill>
                  <a:latin typeface="Calibri"/>
                  <a:ea typeface="Calibri"/>
                  <a:cs typeface="Calibri"/>
                  <a:sym typeface="Calibri"/>
                </a:rPr>
                <a:t>까?</a:t>
              </a:r>
              <a:endParaRPr sz="1300">
                <a:solidFill>
                  <a:schemeClr val="dk1"/>
                </a:solidFill>
                <a:latin typeface="Calibri"/>
                <a:ea typeface="Calibri"/>
                <a:cs typeface="Calibri"/>
                <a:sym typeface="Calibri"/>
              </a:endParaRPr>
            </a:p>
          </p:txBody>
        </p:sp>
        <p:cxnSp>
          <p:nvCxnSpPr>
            <p:cNvPr id="59" name="Google Shape;59;p2"/>
            <p:cNvCxnSpPr/>
            <p:nvPr/>
          </p:nvCxnSpPr>
          <p:spPr>
            <a:xfrm>
              <a:off x="5888736" y="5532120"/>
              <a:ext cx="2048256" cy="0"/>
            </a:xfrm>
            <a:prstGeom prst="straightConnector1">
              <a:avLst/>
            </a:prstGeom>
            <a:noFill/>
            <a:ln cap="flat" cmpd="sng" w="12700">
              <a:solidFill>
                <a:srgbClr val="E2E6F2"/>
              </a:solidFill>
              <a:prstDash val="solid"/>
              <a:round/>
              <a:headEnd len="sm" w="sm" type="none"/>
              <a:tailEnd len="sm" w="sm" type="none"/>
            </a:ln>
          </p:spPr>
        </p:cxnSp>
        <p:sp>
          <p:nvSpPr>
            <p:cNvPr id="60" name="Google Shape;60;p2"/>
            <p:cNvSpPr/>
            <p:nvPr/>
          </p:nvSpPr>
          <p:spPr>
            <a:xfrm>
              <a:off x="5888736" y="5623560"/>
              <a:ext cx="2048256"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F9E63"/>
                </a:buClr>
                <a:buSzPts val="1100"/>
                <a:buFont typeface="Calibri"/>
                <a:buNone/>
              </a:pPr>
              <a:r>
                <a:rPr b="1" lang="en-US" sz="1100">
                  <a:solidFill>
                    <a:srgbClr val="2F9E63"/>
                  </a:solidFill>
                  <a:latin typeface="Calibri"/>
                  <a:ea typeface="Calibri"/>
                  <a:cs typeface="Calibri"/>
                  <a:sym typeface="Calibri"/>
                </a:rPr>
                <a:t>LG 계열사 직무 매칭</a:t>
              </a:r>
              <a:endParaRPr sz="1100">
                <a:solidFill>
                  <a:schemeClr val="dk1"/>
                </a:solidFill>
                <a:latin typeface="Calibri"/>
                <a:ea typeface="Calibri"/>
                <a:cs typeface="Calibri"/>
                <a:sym typeface="Calibri"/>
              </a:endParaRPr>
            </a:p>
          </p:txBody>
        </p:sp>
      </p:grpSp>
      <p:sp>
        <p:nvSpPr>
          <p:cNvPr id="61" name="Google Shape;61;p2"/>
          <p:cNvSpPr/>
          <p:nvPr/>
        </p:nvSpPr>
        <p:spPr>
          <a:xfrm>
            <a:off x="3045292" y="4928616"/>
            <a:ext cx="146400" cy="201300"/>
          </a:xfrm>
          <a:prstGeom prst="chevron">
            <a:avLst>
              <a:gd fmla="val 50000" name="adj"/>
            </a:avLst>
          </a:prstGeom>
          <a:solidFill>
            <a:srgbClr val="B7C0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5917189" y="4928616"/>
            <a:ext cx="146400" cy="201300"/>
          </a:xfrm>
          <a:prstGeom prst="chevron">
            <a:avLst>
              <a:gd fmla="val 50000" name="adj"/>
            </a:avLst>
          </a:prstGeom>
          <a:solidFill>
            <a:srgbClr val="B7C0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457200" y="6473952"/>
            <a:ext cx="8686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072"/>
              </a:buClr>
              <a:buSzPts val="900"/>
              <a:buFont typeface="Calibri"/>
              <a:buNone/>
            </a:pPr>
            <a:r>
              <a:rPr lang="en-US" sz="900">
                <a:solidFill>
                  <a:srgbClr val="5A6072"/>
                </a:solidFill>
                <a:latin typeface="Calibri"/>
                <a:ea typeface="Calibri"/>
                <a:cs typeface="Calibri"/>
                <a:sym typeface="Calibri"/>
              </a:rPr>
              <a:t>LG CNS AI캠퍼스 · Knowledge Graph 과정 mini project 1 - </a:t>
            </a:r>
            <a:r>
              <a:rPr lang="en-US" sz="900">
                <a:solidFill>
                  <a:srgbClr val="5A6072"/>
                </a:solidFill>
                <a:latin typeface="Calibri"/>
                <a:ea typeface="Calibri"/>
                <a:cs typeface="Calibri"/>
                <a:sym typeface="Calibri"/>
              </a:rPr>
              <a:t>LG 직무 추천 AI Agent</a:t>
            </a:r>
            <a:endParaRPr sz="900">
              <a:solidFill>
                <a:schemeClr val="dk1"/>
              </a:solidFill>
              <a:latin typeface="Calibri"/>
              <a:ea typeface="Calibri"/>
              <a:cs typeface="Calibri"/>
              <a:sym typeface="Calibri"/>
            </a:endParaRPr>
          </a:p>
        </p:txBody>
      </p:sp>
      <p:sp>
        <p:nvSpPr>
          <p:cNvPr id="64" name="Google Shape;64;p2"/>
          <p:cNvSpPr/>
          <p:nvPr/>
        </p:nvSpPr>
        <p:spPr>
          <a:xfrm>
            <a:off x="11277295" y="647395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072"/>
              </a:buClr>
              <a:buSzPts val="900"/>
              <a:buFont typeface="Calibri"/>
              <a:buNone/>
            </a:pPr>
            <a:r>
              <a:rPr lang="en-US" sz="900">
                <a:solidFill>
                  <a:srgbClr val="5A6072"/>
                </a:solidFill>
                <a:latin typeface="Calibri"/>
                <a:ea typeface="Calibri"/>
                <a:cs typeface="Calibri"/>
                <a:sym typeface="Calibri"/>
              </a:rPr>
              <a:t>2</a:t>
            </a:r>
            <a:endParaRPr sz="9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C"/>
        </a:solidFill>
      </p:bgPr>
    </p:bg>
    <p:spTree>
      <p:nvGrpSpPr>
        <p:cNvPr id="69" name="Shape 69"/>
        <p:cNvGrpSpPr/>
        <p:nvPr/>
      </p:nvGrpSpPr>
      <p:grpSpPr>
        <a:xfrm>
          <a:off x="0" y="0"/>
          <a:ext cx="0" cy="0"/>
          <a:chOff x="0" y="0"/>
          <a:chExt cx="0" cy="0"/>
        </a:xfrm>
      </p:grpSpPr>
      <p:sp>
        <p:nvSpPr>
          <p:cNvPr id="70" name="Google Shape;70;p3"/>
          <p:cNvSpPr/>
          <p:nvPr/>
        </p:nvSpPr>
        <p:spPr>
          <a:xfrm>
            <a:off x="457200" y="1685925"/>
            <a:ext cx="11277600" cy="1000125"/>
          </a:xfrm>
          <a:prstGeom prst="roundRect">
            <a:avLst>
              <a:gd fmla="val 7619" name="adj"/>
            </a:avLst>
          </a:prstGeom>
          <a:solidFill>
            <a:srgbClr val="EEF3FA"/>
          </a:solidFill>
          <a:ln cap="flat" cmpd="sng" w="11425">
            <a:solidFill>
              <a:srgbClr val="D7E1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552450" y="1895475"/>
            <a:ext cx="876300" cy="581025"/>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None/>
            </a:pPr>
            <a:r>
              <a:rPr b="1" lang="en-US" sz="963">
                <a:solidFill>
                  <a:srgbClr val="1E2761"/>
                </a:solidFill>
                <a:latin typeface="Calibri"/>
                <a:ea typeface="Calibri"/>
                <a:cs typeface="Calibri"/>
                <a:sym typeface="Calibri"/>
              </a:rPr>
              <a:t>USER</a:t>
            </a:r>
            <a:endParaRPr sz="1500"/>
          </a:p>
          <a:p>
            <a:pPr indent="0" lvl="0" marL="0" marR="0" rtl="0" algn="ctr">
              <a:spcBef>
                <a:spcPts val="0"/>
              </a:spcBef>
              <a:spcAft>
                <a:spcPts val="0"/>
              </a:spcAft>
              <a:buNone/>
            </a:pPr>
            <a:r>
              <a:rPr b="1" lang="en-US" sz="963">
                <a:solidFill>
                  <a:srgbClr val="1E2761"/>
                </a:solidFill>
                <a:latin typeface="Calibri"/>
                <a:ea typeface="Calibri"/>
                <a:cs typeface="Calibri"/>
                <a:sym typeface="Calibri"/>
              </a:rPr>
              <a:t>EXPERIENCE</a:t>
            </a:r>
            <a:endParaRPr sz="1500"/>
          </a:p>
        </p:txBody>
      </p:sp>
      <p:sp>
        <p:nvSpPr>
          <p:cNvPr id="72" name="Google Shape;72;p3"/>
          <p:cNvSpPr/>
          <p:nvPr/>
        </p:nvSpPr>
        <p:spPr>
          <a:xfrm>
            <a:off x="1504950" y="1752600"/>
            <a:ext cx="1619250" cy="20955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b="1" lang="en-US" sz="945">
                <a:solidFill>
                  <a:srgbClr val="1E2761"/>
                </a:solidFill>
                <a:latin typeface="Calibri"/>
                <a:ea typeface="Calibri"/>
                <a:cs typeface="Calibri"/>
                <a:sym typeface="Calibri"/>
              </a:rPr>
              <a:t>실시간 서비스</a:t>
            </a:r>
            <a:endParaRPr sz="1500"/>
          </a:p>
        </p:txBody>
      </p:sp>
      <p:sp>
        <p:nvSpPr>
          <p:cNvPr id="73" name="Google Shape;73;p3"/>
          <p:cNvSpPr/>
          <p:nvPr/>
        </p:nvSpPr>
        <p:spPr>
          <a:xfrm>
            <a:off x="1600200" y="2047875"/>
            <a:ext cx="476250" cy="476250"/>
          </a:xfrm>
          <a:prstGeom prst="ellipse">
            <a:avLst/>
          </a:prstGeom>
          <a:solidFill>
            <a:srgbClr val="FFFFFF"/>
          </a:solidFill>
          <a:ln cap="flat" cmpd="sng" w="15225">
            <a:solidFill>
              <a:srgbClr val="1E27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50">
                <a:solidFill>
                  <a:srgbClr val="1E2761"/>
                </a:solidFill>
                <a:latin typeface="Calibri"/>
                <a:ea typeface="Calibri"/>
                <a:cs typeface="Calibri"/>
                <a:sym typeface="Calibri"/>
              </a:rPr>
              <a:t>학생</a:t>
            </a:r>
            <a:endParaRPr/>
          </a:p>
        </p:txBody>
      </p:sp>
      <p:sp>
        <p:nvSpPr>
          <p:cNvPr id="74" name="Google Shape;74;p3"/>
          <p:cNvSpPr/>
          <p:nvPr/>
        </p:nvSpPr>
        <p:spPr>
          <a:xfrm>
            <a:off x="2476500" y="2009775"/>
            <a:ext cx="1524000" cy="552600"/>
          </a:xfrm>
          <a:prstGeom prst="roundRect">
            <a:avLst>
              <a:gd fmla="val 13793" name="adj"/>
            </a:avLst>
          </a:prstGeom>
          <a:solidFill>
            <a:srgbClr val="FFFFFF"/>
          </a:solidFill>
          <a:ln cap="flat" cmpd="sng" w="13325">
            <a:solidFill>
              <a:srgbClr val="1E2761"/>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spcBef>
                <a:spcPts val="0"/>
              </a:spcBef>
              <a:spcAft>
                <a:spcPts val="0"/>
              </a:spcAft>
              <a:buNone/>
            </a:pPr>
            <a:r>
              <a:rPr b="1" lang="en-US" sz="1050">
                <a:solidFill>
                  <a:srgbClr val="1E2761"/>
                </a:solidFill>
                <a:latin typeface="Calibri"/>
                <a:ea typeface="Calibri"/>
                <a:cs typeface="Calibri"/>
                <a:sym typeface="Calibri"/>
              </a:rPr>
              <a:t>Web Frontend</a:t>
            </a:r>
            <a:endParaRPr/>
          </a:p>
          <a:p>
            <a:pPr indent="0" lvl="0" marL="0" marR="0" rtl="0" algn="ctr">
              <a:spcBef>
                <a:spcPts val="0"/>
              </a:spcBef>
              <a:spcAft>
                <a:spcPts val="0"/>
              </a:spcAft>
              <a:buNone/>
            </a:pPr>
            <a:r>
              <a:rPr b="1" lang="en-US" sz="1050">
                <a:solidFill>
                  <a:srgbClr val="1E2761"/>
                </a:solidFill>
                <a:latin typeface="Calibri"/>
                <a:ea typeface="Calibri"/>
                <a:cs typeface="Calibri"/>
                <a:sym typeface="Calibri"/>
              </a:rPr>
              <a:t>대화형 화면</a:t>
            </a:r>
            <a:endParaRPr/>
          </a:p>
        </p:txBody>
      </p:sp>
      <p:sp>
        <p:nvSpPr>
          <p:cNvPr id="75" name="Google Shape;75;p3"/>
          <p:cNvSpPr/>
          <p:nvPr/>
        </p:nvSpPr>
        <p:spPr>
          <a:xfrm>
            <a:off x="4429125" y="2009775"/>
            <a:ext cx="2000250" cy="552450"/>
          </a:xfrm>
          <a:prstGeom prst="roundRect">
            <a:avLst>
              <a:gd fmla="val 13793" name="adj"/>
            </a:avLst>
          </a:prstGeom>
          <a:solidFill>
            <a:srgbClr val="FFFFFF"/>
          </a:solidFill>
          <a:ln cap="flat" cmpd="sng" w="13325">
            <a:solidFill>
              <a:srgbClr val="3D5BDC"/>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spcBef>
                <a:spcPts val="0"/>
              </a:spcBef>
              <a:spcAft>
                <a:spcPts val="0"/>
              </a:spcAft>
              <a:buNone/>
            </a:pPr>
            <a:r>
              <a:rPr b="1" lang="en-US" sz="1113">
                <a:solidFill>
                  <a:srgbClr val="3D5BDC"/>
                </a:solidFill>
                <a:latin typeface="Calibri"/>
                <a:ea typeface="Calibri"/>
                <a:cs typeface="Calibri"/>
                <a:sym typeface="Calibri"/>
              </a:rPr>
              <a:t>Flask API + SSE</a:t>
            </a:r>
            <a:endParaRPr sz="1500"/>
          </a:p>
          <a:p>
            <a:pPr indent="0" lvl="0" marL="0" marR="0" rtl="0" algn="ctr">
              <a:spcBef>
                <a:spcPts val="0"/>
              </a:spcBef>
              <a:spcAft>
                <a:spcPts val="0"/>
              </a:spcAft>
              <a:buNone/>
            </a:pPr>
            <a:r>
              <a:rPr b="1" lang="en-US" sz="1113">
                <a:solidFill>
                  <a:srgbClr val="3D5BDC"/>
                </a:solidFill>
                <a:latin typeface="Calibri"/>
                <a:ea typeface="Calibri"/>
                <a:cs typeface="Calibri"/>
                <a:sym typeface="Calibri"/>
              </a:rPr>
              <a:t>/api/start · answer · explain</a:t>
            </a:r>
            <a:endParaRPr sz="1500"/>
          </a:p>
        </p:txBody>
      </p:sp>
      <p:sp>
        <p:nvSpPr>
          <p:cNvPr id="76" name="Google Shape;76;p3"/>
          <p:cNvSpPr/>
          <p:nvPr/>
        </p:nvSpPr>
        <p:spPr>
          <a:xfrm>
            <a:off x="9458325" y="1952625"/>
            <a:ext cx="2047875" cy="657225"/>
          </a:xfrm>
          <a:prstGeom prst="roundRect">
            <a:avLst>
              <a:gd fmla="val 11594" name="adj"/>
            </a:avLst>
          </a:prstGeom>
          <a:solidFill>
            <a:srgbClr val="FFFFFF"/>
          </a:solidFill>
          <a:ln cap="flat" cmpd="sng" w="17125">
            <a:solidFill>
              <a:srgbClr val="6D63D8"/>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spcBef>
                <a:spcPts val="0"/>
              </a:spcBef>
              <a:spcAft>
                <a:spcPts val="0"/>
              </a:spcAft>
              <a:buNone/>
            </a:pPr>
            <a:r>
              <a:rPr b="1" lang="en-US" sz="1150">
                <a:solidFill>
                  <a:srgbClr val="1E2761"/>
                </a:solidFill>
                <a:latin typeface="Calibri"/>
                <a:ea typeface="Calibri"/>
                <a:cs typeface="Calibri"/>
                <a:sym typeface="Calibri"/>
              </a:rPr>
              <a:t>추천 카드 + 설명 문단</a:t>
            </a:r>
            <a:endParaRPr sz="1500"/>
          </a:p>
          <a:p>
            <a:pPr indent="0" lvl="0" marL="0" marR="0" rtl="0" algn="ctr">
              <a:spcBef>
                <a:spcPts val="0"/>
              </a:spcBef>
              <a:spcAft>
                <a:spcPts val="0"/>
              </a:spcAft>
              <a:buNone/>
            </a:pPr>
            <a:r>
              <a:rPr b="1" lang="en-US" sz="1150">
                <a:solidFill>
                  <a:srgbClr val="1E2761"/>
                </a:solidFill>
                <a:latin typeface="Calibri"/>
                <a:ea typeface="Calibri"/>
                <a:cs typeface="Calibri"/>
                <a:sym typeface="Calibri"/>
              </a:rPr>
              <a:t>전공 · 근거 과목 · LG 직무</a:t>
            </a:r>
            <a:endParaRPr sz="1500"/>
          </a:p>
        </p:txBody>
      </p:sp>
      <p:cxnSp>
        <p:nvCxnSpPr>
          <p:cNvPr id="77" name="Google Shape;77;p3"/>
          <p:cNvCxnSpPr>
            <a:stCxn id="73" idx="6"/>
            <a:endCxn id="74" idx="1"/>
          </p:cNvCxnSpPr>
          <p:nvPr/>
        </p:nvCxnSpPr>
        <p:spPr>
          <a:xfrm>
            <a:off x="2076450" y="2286000"/>
            <a:ext cx="400200" cy="0"/>
          </a:xfrm>
          <a:prstGeom prst="straightConnector1">
            <a:avLst/>
          </a:prstGeom>
          <a:noFill/>
          <a:ln cap="flat" cmpd="sng" w="17125">
            <a:solidFill>
              <a:srgbClr val="1E2761"/>
            </a:solidFill>
            <a:prstDash val="solid"/>
            <a:round/>
            <a:headEnd len="sm" w="sm" type="none"/>
            <a:tailEnd len="sm" w="sm" type="triangle"/>
          </a:ln>
        </p:spPr>
      </p:cxnSp>
      <p:cxnSp>
        <p:nvCxnSpPr>
          <p:cNvPr id="78" name="Google Shape;78;p3"/>
          <p:cNvCxnSpPr>
            <a:stCxn id="74" idx="3"/>
            <a:endCxn id="75" idx="1"/>
          </p:cNvCxnSpPr>
          <p:nvPr/>
        </p:nvCxnSpPr>
        <p:spPr>
          <a:xfrm>
            <a:off x="4000500" y="2286075"/>
            <a:ext cx="428700" cy="0"/>
          </a:xfrm>
          <a:prstGeom prst="straightConnector1">
            <a:avLst/>
          </a:prstGeom>
          <a:noFill/>
          <a:ln cap="flat" cmpd="sng" w="17125">
            <a:solidFill>
              <a:srgbClr val="1E2761"/>
            </a:solidFill>
            <a:prstDash val="solid"/>
            <a:round/>
            <a:headEnd len="sm" w="sm" type="none"/>
            <a:tailEnd len="sm" w="sm" type="triangle"/>
          </a:ln>
        </p:spPr>
      </p:cxnSp>
      <p:sp>
        <p:nvSpPr>
          <p:cNvPr id="79" name="Google Shape;79;p3"/>
          <p:cNvSpPr/>
          <p:nvPr/>
        </p:nvSpPr>
        <p:spPr>
          <a:xfrm>
            <a:off x="457200" y="2800350"/>
            <a:ext cx="11277600" cy="1476375"/>
          </a:xfrm>
          <a:prstGeom prst="roundRect">
            <a:avLst>
              <a:gd fmla="val 5161" name="adj"/>
            </a:avLst>
          </a:prstGeom>
          <a:solidFill>
            <a:srgbClr val="EDF7F1"/>
          </a:solidFill>
          <a:ln cap="flat" cmpd="sng" w="11425">
            <a:solidFill>
              <a:srgbClr val="CEE7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552450" y="3009900"/>
            <a:ext cx="876300" cy="1057275"/>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None/>
            </a:pPr>
            <a:r>
              <a:rPr b="1" lang="en-US" sz="963">
                <a:solidFill>
                  <a:srgbClr val="23794F"/>
                </a:solidFill>
                <a:latin typeface="Calibri"/>
                <a:ea typeface="Calibri"/>
                <a:cs typeface="Calibri"/>
                <a:sym typeface="Calibri"/>
              </a:rPr>
              <a:t>AGENT &amp;</a:t>
            </a:r>
            <a:endParaRPr sz="1500"/>
          </a:p>
          <a:p>
            <a:pPr indent="0" lvl="0" marL="0" marR="0" rtl="0" algn="ctr">
              <a:spcBef>
                <a:spcPts val="0"/>
              </a:spcBef>
              <a:spcAft>
                <a:spcPts val="0"/>
              </a:spcAft>
              <a:buNone/>
            </a:pPr>
            <a:r>
              <a:rPr b="1" lang="en-US" sz="963">
                <a:solidFill>
                  <a:srgbClr val="23794F"/>
                </a:solidFill>
                <a:latin typeface="Calibri"/>
                <a:ea typeface="Calibri"/>
                <a:cs typeface="Calibri"/>
                <a:sym typeface="Calibri"/>
              </a:rPr>
              <a:t>DECISION</a:t>
            </a:r>
            <a:endParaRPr sz="1500"/>
          </a:p>
        </p:txBody>
      </p:sp>
      <p:sp>
        <p:nvSpPr>
          <p:cNvPr id="81" name="Google Shape;81;p3"/>
          <p:cNvSpPr/>
          <p:nvPr/>
        </p:nvSpPr>
        <p:spPr>
          <a:xfrm>
            <a:off x="1504950" y="2902134"/>
            <a:ext cx="2857500" cy="2097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b="1" lang="en-US" sz="945">
                <a:solidFill>
                  <a:srgbClr val="23794F"/>
                </a:solidFill>
                <a:latin typeface="Calibri"/>
                <a:ea typeface="Calibri"/>
                <a:cs typeface="Calibri"/>
                <a:sym typeface="Calibri"/>
              </a:rPr>
              <a:t>ONLINE · 학생 1명당 LLM 2~6회</a:t>
            </a:r>
            <a:endParaRPr sz="1500"/>
          </a:p>
        </p:txBody>
      </p:sp>
      <p:sp>
        <p:nvSpPr>
          <p:cNvPr id="82" name="Google Shape;82;p3"/>
          <p:cNvSpPr/>
          <p:nvPr/>
        </p:nvSpPr>
        <p:spPr>
          <a:xfrm>
            <a:off x="1504950" y="3209925"/>
            <a:ext cx="1809750" cy="685800"/>
          </a:xfrm>
          <a:prstGeom prst="roundRect">
            <a:avLst>
              <a:gd fmla="val 11111" name="adj"/>
            </a:avLst>
          </a:prstGeom>
          <a:solidFill>
            <a:srgbClr val="FFFFFF"/>
          </a:solidFill>
          <a:ln cap="flat" cmpd="sng" w="13325">
            <a:solidFill>
              <a:srgbClr val="2FA36B"/>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spcBef>
                <a:spcPts val="0"/>
              </a:spcBef>
              <a:spcAft>
                <a:spcPts val="0"/>
              </a:spcAft>
              <a:buNone/>
            </a:pPr>
            <a:r>
              <a:rPr b="1" lang="en-US" sz="1113">
                <a:solidFill>
                  <a:srgbClr val="23794F"/>
                </a:solidFill>
                <a:latin typeface="Calibri"/>
                <a:ea typeface="Calibri"/>
                <a:cs typeface="Calibri"/>
                <a:sym typeface="Calibri"/>
              </a:rPr>
              <a:t>6</a:t>
            </a:r>
            <a:r>
              <a:rPr b="1" lang="en-US" sz="1113">
                <a:solidFill>
                  <a:srgbClr val="23794F"/>
                </a:solidFill>
                <a:latin typeface="Calibri"/>
                <a:ea typeface="Calibri"/>
                <a:cs typeface="Calibri"/>
                <a:sym typeface="Calibri"/>
              </a:rPr>
              <a:t>영역 적응형 인터뷰</a:t>
            </a:r>
            <a:endParaRPr sz="1500"/>
          </a:p>
          <a:p>
            <a:pPr indent="0" lvl="0" marL="0" marR="0" rtl="0" algn="ctr">
              <a:spcBef>
                <a:spcPts val="0"/>
              </a:spcBef>
              <a:spcAft>
                <a:spcPts val="0"/>
              </a:spcAft>
              <a:buNone/>
            </a:pPr>
            <a:r>
              <a:rPr b="1" lang="en-US" sz="1113">
                <a:solidFill>
                  <a:srgbClr val="23794F"/>
                </a:solidFill>
                <a:latin typeface="Calibri"/>
                <a:ea typeface="Calibri"/>
                <a:cs typeface="Calibri"/>
                <a:sym typeface="Calibri"/>
              </a:rPr>
              <a:t>question_agent · interview.py</a:t>
            </a:r>
            <a:endParaRPr sz="1500"/>
          </a:p>
        </p:txBody>
      </p:sp>
      <p:sp>
        <p:nvSpPr>
          <p:cNvPr id="83" name="Google Shape;83;p3"/>
          <p:cNvSpPr/>
          <p:nvPr/>
        </p:nvSpPr>
        <p:spPr>
          <a:xfrm>
            <a:off x="3600450" y="3209925"/>
            <a:ext cx="1476375" cy="685800"/>
          </a:xfrm>
          <a:prstGeom prst="roundRect">
            <a:avLst>
              <a:gd fmla="val 11111" name="adj"/>
            </a:avLst>
          </a:prstGeom>
          <a:solidFill>
            <a:srgbClr val="FFFFFF"/>
          </a:solidFill>
          <a:ln cap="flat" cmpd="sng" w="13325">
            <a:solidFill>
              <a:srgbClr val="8AB89E"/>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spcBef>
                <a:spcPts val="0"/>
              </a:spcBef>
              <a:spcAft>
                <a:spcPts val="0"/>
              </a:spcAft>
              <a:buNone/>
            </a:pPr>
            <a:r>
              <a:rPr b="1" lang="en-US" sz="1113">
                <a:solidFill>
                  <a:srgbClr val="2E3345"/>
                </a:solidFill>
                <a:latin typeface="Calibri"/>
                <a:ea typeface="Calibri"/>
                <a:cs typeface="Calibri"/>
                <a:sym typeface="Calibri"/>
              </a:rPr>
              <a:t>사용자 프로필</a:t>
            </a:r>
            <a:endParaRPr sz="1500"/>
          </a:p>
          <a:p>
            <a:pPr indent="0" lvl="0" marL="0" marR="0" rtl="0" algn="ctr">
              <a:spcBef>
                <a:spcPts val="0"/>
              </a:spcBef>
              <a:spcAft>
                <a:spcPts val="0"/>
              </a:spcAft>
              <a:buNone/>
            </a:pPr>
            <a:r>
              <a:rPr b="1" lang="en-US" sz="1113">
                <a:solidFill>
                  <a:srgbClr val="2E3345"/>
                </a:solidFill>
                <a:latin typeface="Calibri"/>
                <a:ea typeface="Calibri"/>
                <a:cs typeface="Calibri"/>
                <a:sym typeface="Calibri"/>
              </a:rPr>
              <a:t>관심 · 강점 · 성향</a:t>
            </a:r>
            <a:endParaRPr sz="1500"/>
          </a:p>
        </p:txBody>
      </p:sp>
      <p:sp>
        <p:nvSpPr>
          <p:cNvPr id="84" name="Google Shape;84;p3"/>
          <p:cNvSpPr/>
          <p:nvPr/>
        </p:nvSpPr>
        <p:spPr>
          <a:xfrm>
            <a:off x="5362575" y="3152775"/>
            <a:ext cx="1666875" cy="800100"/>
          </a:xfrm>
          <a:prstGeom prst="roundRect">
            <a:avLst>
              <a:gd fmla="val 9524" name="adj"/>
            </a:avLst>
          </a:prstGeom>
          <a:solidFill>
            <a:srgbClr val="F7F1FF"/>
          </a:solidFill>
          <a:ln cap="flat" cmpd="sng" w="17125">
            <a:solidFill>
              <a:srgbClr val="6D63D8"/>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spcBef>
                <a:spcPts val="0"/>
              </a:spcBef>
              <a:spcAft>
                <a:spcPts val="0"/>
              </a:spcAft>
              <a:buNone/>
            </a:pPr>
            <a:r>
              <a:rPr b="1" lang="en-US" sz="1113">
                <a:solidFill>
                  <a:srgbClr val="574CB6"/>
                </a:solidFill>
                <a:latin typeface="Calibri"/>
                <a:ea typeface="Calibri"/>
                <a:cs typeface="Calibri"/>
                <a:sym typeface="Calibri"/>
              </a:rPr>
              <a:t>LLM 태깅</a:t>
            </a:r>
            <a:endParaRPr sz="1213"/>
          </a:p>
          <a:p>
            <a:pPr indent="0" lvl="0" marL="0" marR="0" rtl="0" algn="ctr">
              <a:spcBef>
                <a:spcPts val="0"/>
              </a:spcBef>
              <a:spcAft>
                <a:spcPts val="0"/>
              </a:spcAft>
              <a:buNone/>
            </a:pPr>
            <a:r>
              <a:rPr b="1" lang="en-US" sz="1113">
                <a:solidFill>
                  <a:srgbClr val="574CB6"/>
                </a:solidFill>
                <a:latin typeface="Calibri"/>
                <a:ea typeface="Calibri"/>
                <a:cs typeface="Calibri"/>
                <a:sym typeface="Calibri"/>
              </a:rPr>
              <a:t>gpt-4o-mini</a:t>
            </a:r>
            <a:endParaRPr sz="1500"/>
          </a:p>
          <a:p>
            <a:pPr indent="0" lvl="0" marL="0" marR="0" rtl="0" algn="ctr">
              <a:spcBef>
                <a:spcPts val="0"/>
              </a:spcBef>
              <a:spcAft>
                <a:spcPts val="0"/>
              </a:spcAft>
              <a:buNone/>
            </a:pPr>
            <a:r>
              <a:rPr b="1" lang="en-US" sz="1113">
                <a:solidFill>
                  <a:srgbClr val="574CB6"/>
                </a:solidFill>
                <a:latin typeface="Calibri"/>
                <a:ea typeface="Calibri"/>
                <a:cs typeface="Calibri"/>
                <a:sym typeface="Calibri"/>
              </a:rPr>
              <a:t>LangChain + Pydantic</a:t>
            </a:r>
            <a:endParaRPr sz="1500"/>
          </a:p>
        </p:txBody>
      </p:sp>
      <p:sp>
        <p:nvSpPr>
          <p:cNvPr id="85" name="Google Shape;85;p3"/>
          <p:cNvSpPr/>
          <p:nvPr/>
        </p:nvSpPr>
        <p:spPr>
          <a:xfrm>
            <a:off x="7315200" y="3152775"/>
            <a:ext cx="1809750" cy="800100"/>
          </a:xfrm>
          <a:prstGeom prst="roundRect">
            <a:avLst>
              <a:gd fmla="val 9524" name="adj"/>
            </a:avLst>
          </a:prstGeom>
          <a:solidFill>
            <a:srgbClr val="FFFFFF"/>
          </a:solidFill>
          <a:ln cap="flat" cmpd="sng" w="17125">
            <a:solidFill>
              <a:srgbClr val="1E2761"/>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spcBef>
                <a:spcPts val="0"/>
              </a:spcBef>
              <a:spcAft>
                <a:spcPts val="0"/>
              </a:spcAft>
              <a:buNone/>
            </a:pPr>
            <a:r>
              <a:rPr b="1" lang="en-US" sz="1113">
                <a:solidFill>
                  <a:srgbClr val="1E2761"/>
                </a:solidFill>
                <a:latin typeface="Calibri"/>
                <a:ea typeface="Calibri"/>
                <a:cs typeface="Calibri"/>
                <a:sym typeface="Calibri"/>
              </a:rPr>
              <a:t>그래프 조회 · 점수 계산</a:t>
            </a:r>
            <a:endParaRPr sz="1500"/>
          </a:p>
          <a:p>
            <a:pPr indent="0" lvl="0" marL="0" marR="0" rtl="0" algn="ctr">
              <a:spcBef>
                <a:spcPts val="0"/>
              </a:spcBef>
              <a:spcAft>
                <a:spcPts val="0"/>
              </a:spcAft>
              <a:buNone/>
            </a:pPr>
            <a:r>
              <a:rPr b="1" lang="en-US" sz="1113">
                <a:solidFill>
                  <a:srgbClr val="1E2761"/>
                </a:solidFill>
                <a:latin typeface="Calibri"/>
                <a:ea typeface="Calibri"/>
                <a:cs typeface="Calibri"/>
                <a:sym typeface="Calibri"/>
              </a:rPr>
              <a:t>graph_store.py</a:t>
            </a:r>
            <a:endParaRPr sz="1500"/>
          </a:p>
          <a:p>
            <a:pPr indent="0" lvl="0" marL="0" marR="0" rtl="0" algn="ctr">
              <a:spcBef>
                <a:spcPts val="0"/>
              </a:spcBef>
              <a:spcAft>
                <a:spcPts val="0"/>
              </a:spcAft>
              <a:buNone/>
            </a:pPr>
            <a:r>
              <a:rPr b="1" lang="en-US" sz="1113">
                <a:solidFill>
                  <a:srgbClr val="1E2761"/>
                </a:solidFill>
                <a:latin typeface="Calibri"/>
                <a:ea typeface="Calibri"/>
                <a:cs typeface="Calibri"/>
                <a:sym typeface="Calibri"/>
              </a:rPr>
              <a:t>Python dict / set · LLM 0회</a:t>
            </a:r>
            <a:endParaRPr sz="1500"/>
          </a:p>
        </p:txBody>
      </p:sp>
      <p:sp>
        <p:nvSpPr>
          <p:cNvPr id="86" name="Google Shape;86;p3"/>
          <p:cNvSpPr/>
          <p:nvPr/>
        </p:nvSpPr>
        <p:spPr>
          <a:xfrm>
            <a:off x="9410700" y="3209925"/>
            <a:ext cx="1809750" cy="685800"/>
          </a:xfrm>
          <a:prstGeom prst="roundRect">
            <a:avLst>
              <a:gd fmla="val 11111" name="adj"/>
            </a:avLst>
          </a:prstGeom>
          <a:solidFill>
            <a:srgbClr val="FFFFFF"/>
          </a:solidFill>
          <a:ln cap="flat" cmpd="sng" w="13325">
            <a:solidFill>
              <a:srgbClr val="2FA36B"/>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spcBef>
                <a:spcPts val="0"/>
              </a:spcBef>
              <a:spcAft>
                <a:spcPts val="0"/>
              </a:spcAft>
              <a:buNone/>
            </a:pPr>
            <a:r>
              <a:rPr b="1" lang="en-US" sz="1113">
                <a:solidFill>
                  <a:srgbClr val="23794F"/>
                </a:solidFill>
                <a:latin typeface="Calibri"/>
                <a:ea typeface="Calibri"/>
                <a:cs typeface="Calibri"/>
                <a:sym typeface="Calibri"/>
              </a:rPr>
              <a:t>결과 렌더링 · 설명</a:t>
            </a:r>
            <a:endParaRPr sz="1500"/>
          </a:p>
          <a:p>
            <a:pPr indent="0" lvl="0" marL="0" marR="0" rtl="0" algn="ctr">
              <a:spcBef>
                <a:spcPts val="0"/>
              </a:spcBef>
              <a:spcAft>
                <a:spcPts val="0"/>
              </a:spcAft>
              <a:buNone/>
            </a:pPr>
            <a:r>
              <a:rPr b="1" lang="en-US" sz="1113">
                <a:solidFill>
                  <a:srgbClr val="23794F"/>
                </a:solidFill>
                <a:latin typeface="Calibri"/>
                <a:ea typeface="Calibri"/>
                <a:cs typeface="Calibri"/>
                <a:sym typeface="Calibri"/>
              </a:rPr>
              <a:t>app.py render / explain</a:t>
            </a:r>
            <a:endParaRPr sz="1500"/>
          </a:p>
        </p:txBody>
      </p:sp>
      <p:cxnSp>
        <p:nvCxnSpPr>
          <p:cNvPr id="87" name="Google Shape;87;p3"/>
          <p:cNvCxnSpPr>
            <a:stCxn id="82" idx="3"/>
            <a:endCxn id="83" idx="1"/>
          </p:cNvCxnSpPr>
          <p:nvPr/>
        </p:nvCxnSpPr>
        <p:spPr>
          <a:xfrm>
            <a:off x="3314700" y="3552825"/>
            <a:ext cx="285900" cy="0"/>
          </a:xfrm>
          <a:prstGeom prst="straightConnector1">
            <a:avLst/>
          </a:prstGeom>
          <a:noFill/>
          <a:ln cap="flat" cmpd="sng" w="17125">
            <a:solidFill>
              <a:srgbClr val="1E2761"/>
            </a:solidFill>
            <a:prstDash val="solid"/>
            <a:round/>
            <a:headEnd len="sm" w="sm" type="none"/>
            <a:tailEnd len="sm" w="sm" type="triangle"/>
          </a:ln>
        </p:spPr>
      </p:cxnSp>
      <p:cxnSp>
        <p:nvCxnSpPr>
          <p:cNvPr id="88" name="Google Shape;88;p3"/>
          <p:cNvCxnSpPr>
            <a:stCxn id="83" idx="3"/>
            <a:endCxn id="84" idx="1"/>
          </p:cNvCxnSpPr>
          <p:nvPr/>
        </p:nvCxnSpPr>
        <p:spPr>
          <a:xfrm>
            <a:off x="5076825" y="3552825"/>
            <a:ext cx="285900" cy="0"/>
          </a:xfrm>
          <a:prstGeom prst="straightConnector1">
            <a:avLst/>
          </a:prstGeom>
          <a:noFill/>
          <a:ln cap="flat" cmpd="sng" w="17125">
            <a:solidFill>
              <a:srgbClr val="1E2761"/>
            </a:solidFill>
            <a:prstDash val="solid"/>
            <a:round/>
            <a:headEnd len="sm" w="sm" type="none"/>
            <a:tailEnd len="sm" w="sm" type="triangle"/>
          </a:ln>
        </p:spPr>
      </p:cxnSp>
      <p:cxnSp>
        <p:nvCxnSpPr>
          <p:cNvPr id="89" name="Google Shape;89;p3"/>
          <p:cNvCxnSpPr>
            <a:stCxn id="84" idx="3"/>
            <a:endCxn id="85" idx="1"/>
          </p:cNvCxnSpPr>
          <p:nvPr/>
        </p:nvCxnSpPr>
        <p:spPr>
          <a:xfrm>
            <a:off x="7029450" y="3552825"/>
            <a:ext cx="285900" cy="0"/>
          </a:xfrm>
          <a:prstGeom prst="straightConnector1">
            <a:avLst/>
          </a:prstGeom>
          <a:noFill/>
          <a:ln cap="flat" cmpd="sng" w="17125">
            <a:solidFill>
              <a:srgbClr val="1E2761"/>
            </a:solidFill>
            <a:prstDash val="solid"/>
            <a:round/>
            <a:headEnd len="sm" w="sm" type="none"/>
            <a:tailEnd len="sm" w="sm" type="triangle"/>
          </a:ln>
        </p:spPr>
      </p:cxnSp>
      <p:cxnSp>
        <p:nvCxnSpPr>
          <p:cNvPr id="90" name="Google Shape;90;p3"/>
          <p:cNvCxnSpPr>
            <a:stCxn id="85" idx="3"/>
            <a:endCxn id="86" idx="1"/>
          </p:cNvCxnSpPr>
          <p:nvPr/>
        </p:nvCxnSpPr>
        <p:spPr>
          <a:xfrm>
            <a:off x="9124950" y="3552825"/>
            <a:ext cx="285900" cy="0"/>
          </a:xfrm>
          <a:prstGeom prst="straightConnector1">
            <a:avLst/>
          </a:prstGeom>
          <a:noFill/>
          <a:ln cap="flat" cmpd="sng" w="17125">
            <a:solidFill>
              <a:srgbClr val="1E2761"/>
            </a:solidFill>
            <a:prstDash val="solid"/>
            <a:round/>
            <a:headEnd len="sm" w="sm" type="none"/>
            <a:tailEnd len="sm" w="sm" type="triangle"/>
          </a:ln>
        </p:spPr>
      </p:cxnSp>
      <p:cxnSp>
        <p:nvCxnSpPr>
          <p:cNvPr id="91" name="Google Shape;91;p3"/>
          <p:cNvCxnSpPr>
            <a:stCxn id="75" idx="2"/>
            <a:endCxn id="84" idx="0"/>
          </p:cNvCxnSpPr>
          <p:nvPr/>
        </p:nvCxnSpPr>
        <p:spPr>
          <a:xfrm>
            <a:off x="5429250" y="2562225"/>
            <a:ext cx="766800" cy="590700"/>
          </a:xfrm>
          <a:prstGeom prst="straightConnector1">
            <a:avLst/>
          </a:prstGeom>
          <a:noFill/>
          <a:ln cap="flat" cmpd="sng" w="17125">
            <a:solidFill>
              <a:srgbClr val="3D5BDC"/>
            </a:solidFill>
            <a:prstDash val="solid"/>
            <a:round/>
            <a:headEnd len="sm" w="sm" type="none"/>
            <a:tailEnd len="sm" w="sm" type="triangle"/>
          </a:ln>
        </p:spPr>
      </p:cxnSp>
      <p:cxnSp>
        <p:nvCxnSpPr>
          <p:cNvPr id="92" name="Google Shape;92;p3"/>
          <p:cNvCxnSpPr>
            <a:stCxn id="86" idx="0"/>
            <a:endCxn id="76" idx="2"/>
          </p:cNvCxnSpPr>
          <p:nvPr/>
        </p:nvCxnSpPr>
        <p:spPr>
          <a:xfrm rot="-5400000">
            <a:off x="10098975" y="2826525"/>
            <a:ext cx="600000" cy="166800"/>
          </a:xfrm>
          <a:prstGeom prst="bentConnector4">
            <a:avLst>
              <a:gd fmla="val 45508" name="adj1"/>
              <a:gd fmla="val 98981" name="adj2"/>
            </a:avLst>
          </a:prstGeom>
          <a:noFill/>
          <a:ln cap="flat" cmpd="sng" w="17125">
            <a:solidFill>
              <a:srgbClr val="6D63D8"/>
            </a:solidFill>
            <a:prstDash val="solid"/>
            <a:round/>
            <a:headEnd len="sm" w="sm" type="none"/>
            <a:tailEnd len="sm" w="sm" type="triangle"/>
          </a:ln>
        </p:spPr>
      </p:cxnSp>
      <p:sp>
        <p:nvSpPr>
          <p:cNvPr id="93" name="Google Shape;93;p3"/>
          <p:cNvSpPr/>
          <p:nvPr/>
        </p:nvSpPr>
        <p:spPr>
          <a:xfrm>
            <a:off x="457200" y="4391025"/>
            <a:ext cx="11277600" cy="1609725"/>
          </a:xfrm>
          <a:prstGeom prst="roundRect">
            <a:avLst>
              <a:gd fmla="val 4734" name="adj"/>
            </a:avLst>
          </a:prstGeom>
          <a:solidFill>
            <a:srgbClr val="F0F2FA"/>
          </a:solidFill>
          <a:ln cap="flat" cmpd="sng" w="11425">
            <a:solidFill>
              <a:srgbClr val="D8DD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
          <p:cNvSpPr/>
          <p:nvPr/>
        </p:nvSpPr>
        <p:spPr>
          <a:xfrm>
            <a:off x="552450" y="4600575"/>
            <a:ext cx="876300" cy="1190625"/>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None/>
            </a:pPr>
            <a:r>
              <a:rPr b="1" lang="en-US" sz="963">
                <a:solidFill>
                  <a:srgbClr val="1E2761"/>
                </a:solidFill>
                <a:latin typeface="Calibri"/>
                <a:ea typeface="Calibri"/>
                <a:cs typeface="Calibri"/>
                <a:sym typeface="Calibri"/>
              </a:rPr>
              <a:t>DATA &amp;</a:t>
            </a:r>
            <a:endParaRPr sz="1500"/>
          </a:p>
          <a:p>
            <a:pPr indent="0" lvl="0" marL="0" marR="0" rtl="0" algn="ctr">
              <a:spcBef>
                <a:spcPts val="0"/>
              </a:spcBef>
              <a:spcAft>
                <a:spcPts val="0"/>
              </a:spcAft>
              <a:buNone/>
            </a:pPr>
            <a:r>
              <a:rPr b="1" lang="en-US" sz="963">
                <a:solidFill>
                  <a:srgbClr val="1E2761"/>
                </a:solidFill>
                <a:latin typeface="Calibri"/>
                <a:ea typeface="Calibri"/>
                <a:cs typeface="Calibri"/>
                <a:sym typeface="Calibri"/>
              </a:rPr>
              <a:t>KNOWLEDGE</a:t>
            </a:r>
            <a:endParaRPr sz="1500"/>
          </a:p>
        </p:txBody>
      </p:sp>
      <p:sp>
        <p:nvSpPr>
          <p:cNvPr id="95" name="Google Shape;95;p3"/>
          <p:cNvSpPr/>
          <p:nvPr/>
        </p:nvSpPr>
        <p:spPr>
          <a:xfrm>
            <a:off x="1504950" y="4469403"/>
            <a:ext cx="3429000" cy="2097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b="1" lang="en-US" sz="945">
                <a:solidFill>
                  <a:srgbClr val="1E2761"/>
                </a:solidFill>
                <a:latin typeface="Calibri"/>
                <a:ea typeface="Calibri"/>
                <a:cs typeface="Calibri"/>
                <a:sym typeface="Calibri"/>
              </a:rPr>
              <a:t>OFFLINE · 데이터 변경 시 배치, LLM 원출력 캐시</a:t>
            </a:r>
            <a:endParaRPr sz="1500"/>
          </a:p>
        </p:txBody>
      </p:sp>
      <p:sp>
        <p:nvSpPr>
          <p:cNvPr id="96" name="Google Shape;96;p3"/>
          <p:cNvSpPr/>
          <p:nvPr/>
        </p:nvSpPr>
        <p:spPr>
          <a:xfrm>
            <a:off x="1504950" y="4772025"/>
            <a:ext cx="1714500" cy="466725"/>
          </a:xfrm>
          <a:prstGeom prst="roundRect">
            <a:avLst>
              <a:gd fmla="val 16327" name="adj"/>
            </a:avLst>
          </a:prstGeom>
          <a:solidFill>
            <a:srgbClr val="FFFFFF"/>
          </a:solidFill>
          <a:ln cap="flat" cmpd="sng" w="13325">
            <a:solidFill>
              <a:srgbClr val="E8574A"/>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spcBef>
                <a:spcPts val="0"/>
              </a:spcBef>
              <a:spcAft>
                <a:spcPts val="0"/>
              </a:spcAft>
              <a:buNone/>
            </a:pPr>
            <a:r>
              <a:rPr b="1" lang="en-US" sz="975">
                <a:solidFill>
                  <a:srgbClr val="2E3345"/>
                </a:solidFill>
                <a:latin typeface="Calibri"/>
                <a:ea typeface="Calibri"/>
                <a:cs typeface="Calibri"/>
                <a:sym typeface="Calibri"/>
              </a:rPr>
              <a:t>서울대 교육과정</a:t>
            </a:r>
            <a:endParaRPr/>
          </a:p>
          <a:p>
            <a:pPr indent="0" lvl="0" marL="0" marR="0" rtl="0" algn="ctr">
              <a:spcBef>
                <a:spcPts val="0"/>
              </a:spcBef>
              <a:spcAft>
                <a:spcPts val="0"/>
              </a:spcAft>
              <a:buNone/>
            </a:pPr>
            <a:r>
              <a:rPr b="1" lang="en-US" sz="975">
                <a:solidFill>
                  <a:srgbClr val="2E3345"/>
                </a:solidFill>
                <a:latin typeface="Calibri"/>
                <a:ea typeface="Calibri"/>
                <a:cs typeface="Calibri"/>
                <a:sym typeface="Calibri"/>
              </a:rPr>
              <a:t>105개 전공 · 3,829과목</a:t>
            </a:r>
            <a:endParaRPr/>
          </a:p>
        </p:txBody>
      </p:sp>
      <p:sp>
        <p:nvSpPr>
          <p:cNvPr id="97" name="Google Shape;97;p3"/>
          <p:cNvSpPr/>
          <p:nvPr/>
        </p:nvSpPr>
        <p:spPr>
          <a:xfrm>
            <a:off x="1504950" y="5353050"/>
            <a:ext cx="1714500" cy="466725"/>
          </a:xfrm>
          <a:prstGeom prst="roundRect">
            <a:avLst>
              <a:gd fmla="val 16327" name="adj"/>
            </a:avLst>
          </a:prstGeom>
          <a:solidFill>
            <a:srgbClr val="FFFFFF"/>
          </a:solidFill>
          <a:ln cap="flat" cmpd="sng" w="13325">
            <a:solidFill>
              <a:srgbClr val="E8574A"/>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spcBef>
                <a:spcPts val="0"/>
              </a:spcBef>
              <a:spcAft>
                <a:spcPts val="0"/>
              </a:spcAft>
              <a:buNone/>
            </a:pPr>
            <a:r>
              <a:rPr b="1" lang="en-US" sz="975">
                <a:solidFill>
                  <a:srgbClr val="2E3345"/>
                </a:solidFill>
                <a:latin typeface="Calibri"/>
                <a:ea typeface="Calibri"/>
                <a:cs typeface="Calibri"/>
                <a:sym typeface="Calibri"/>
              </a:rPr>
              <a:t>LG Careers 공고</a:t>
            </a:r>
            <a:endParaRPr/>
          </a:p>
          <a:p>
            <a:pPr indent="0" lvl="0" marL="0" marR="0" rtl="0" algn="ctr">
              <a:spcBef>
                <a:spcPts val="0"/>
              </a:spcBef>
              <a:spcAft>
                <a:spcPts val="0"/>
              </a:spcAft>
              <a:buNone/>
            </a:pPr>
            <a:r>
              <a:rPr b="1" lang="en-US" sz="975">
                <a:solidFill>
                  <a:srgbClr val="2E3345"/>
                </a:solidFill>
                <a:latin typeface="Calibri"/>
                <a:ea typeface="Calibri"/>
                <a:cs typeface="Calibri"/>
                <a:sym typeface="Calibri"/>
              </a:rPr>
              <a:t>9개 계열사 · 172개 직무</a:t>
            </a:r>
            <a:endParaRPr/>
          </a:p>
        </p:txBody>
      </p:sp>
      <p:sp>
        <p:nvSpPr>
          <p:cNvPr id="98" name="Google Shape;98;p3"/>
          <p:cNvSpPr/>
          <p:nvPr/>
        </p:nvSpPr>
        <p:spPr>
          <a:xfrm>
            <a:off x="3695700" y="4943475"/>
            <a:ext cx="1809750" cy="723900"/>
          </a:xfrm>
          <a:prstGeom prst="roundRect">
            <a:avLst>
              <a:gd fmla="val 10526" name="adj"/>
            </a:avLst>
          </a:prstGeom>
          <a:solidFill>
            <a:srgbClr val="F7F1FF"/>
          </a:solidFill>
          <a:ln cap="flat" cmpd="sng" w="17125">
            <a:solidFill>
              <a:srgbClr val="6D63D8"/>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spcBef>
                <a:spcPts val="0"/>
              </a:spcBef>
              <a:spcAft>
                <a:spcPts val="0"/>
              </a:spcAft>
              <a:buNone/>
            </a:pPr>
            <a:r>
              <a:rPr b="1" lang="en-US" sz="1113">
                <a:solidFill>
                  <a:srgbClr val="574CB6"/>
                </a:solidFill>
                <a:latin typeface="Calibri"/>
                <a:ea typeface="Calibri"/>
                <a:cs typeface="Calibri"/>
                <a:sym typeface="Calibri"/>
              </a:rPr>
              <a:t>배치 추출 + 캐시</a:t>
            </a:r>
            <a:endParaRPr sz="1500"/>
          </a:p>
          <a:p>
            <a:pPr indent="0" lvl="0" marL="0" marR="0" rtl="0" algn="ctr">
              <a:spcBef>
                <a:spcPts val="0"/>
              </a:spcBef>
              <a:spcAft>
                <a:spcPts val="0"/>
              </a:spcAft>
              <a:buNone/>
            </a:pPr>
            <a:r>
              <a:rPr b="1" lang="en-US" sz="1113">
                <a:solidFill>
                  <a:srgbClr val="574CB6"/>
                </a:solidFill>
                <a:latin typeface="Calibri"/>
                <a:ea typeface="Calibri"/>
                <a:cs typeface="Calibri"/>
                <a:sym typeface="Calibri"/>
              </a:rPr>
              <a:t>LLM structured output</a:t>
            </a:r>
            <a:endParaRPr sz="1500"/>
          </a:p>
          <a:p>
            <a:pPr indent="0" lvl="0" marL="0" marR="0" rtl="0" algn="ctr">
              <a:spcBef>
                <a:spcPts val="0"/>
              </a:spcBef>
              <a:spcAft>
                <a:spcPts val="0"/>
              </a:spcAft>
              <a:buNone/>
            </a:pPr>
            <a:r>
              <a:rPr b="1" lang="en-US" sz="1113">
                <a:solidFill>
                  <a:srgbClr val="574CB6"/>
                </a:solidFill>
                <a:latin typeface="Calibri"/>
                <a:ea typeface="Calibri"/>
                <a:cs typeface="Calibri"/>
                <a:sym typeface="Calibri"/>
              </a:rPr>
              <a:t>raw → extracted</a:t>
            </a:r>
            <a:endParaRPr sz="1500"/>
          </a:p>
        </p:txBody>
      </p:sp>
      <p:sp>
        <p:nvSpPr>
          <p:cNvPr id="99" name="Google Shape;99;p3"/>
          <p:cNvSpPr/>
          <p:nvPr/>
        </p:nvSpPr>
        <p:spPr>
          <a:xfrm>
            <a:off x="5981700" y="4943475"/>
            <a:ext cx="1809750" cy="723900"/>
          </a:xfrm>
          <a:prstGeom prst="roundRect">
            <a:avLst>
              <a:gd fmla="val 10526" name="adj"/>
            </a:avLst>
          </a:prstGeom>
          <a:solidFill>
            <a:srgbClr val="FFF8EF"/>
          </a:solidFill>
          <a:ln cap="flat" cmpd="sng" w="17125">
            <a:solidFill>
              <a:srgbClr val="E59A3A"/>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spcBef>
                <a:spcPts val="0"/>
              </a:spcBef>
              <a:spcAft>
                <a:spcPts val="0"/>
              </a:spcAft>
              <a:buNone/>
            </a:pPr>
            <a:r>
              <a:rPr b="1" lang="en-US" sz="1113">
                <a:solidFill>
                  <a:srgbClr val="9A651E"/>
                </a:solidFill>
                <a:latin typeface="Calibri"/>
                <a:ea typeface="Calibri"/>
                <a:cs typeface="Calibri"/>
                <a:sym typeface="Calibri"/>
              </a:rPr>
              <a:t>통제 어휘 · 온톨로지</a:t>
            </a:r>
            <a:endParaRPr b="1" sz="1113">
              <a:solidFill>
                <a:srgbClr val="9A651E"/>
              </a:solidFill>
              <a:latin typeface="Calibri"/>
              <a:ea typeface="Calibri"/>
              <a:cs typeface="Calibri"/>
              <a:sym typeface="Calibri"/>
            </a:endParaRPr>
          </a:p>
          <a:p>
            <a:pPr indent="0" lvl="0" marL="0" marR="0" rtl="0" algn="ctr">
              <a:spcBef>
                <a:spcPts val="0"/>
              </a:spcBef>
              <a:spcAft>
                <a:spcPts val="0"/>
              </a:spcAft>
              <a:buNone/>
            </a:pPr>
            <a:r>
              <a:rPr b="1" lang="en-US" sz="1113">
                <a:solidFill>
                  <a:srgbClr val="9A651E"/>
                </a:solidFill>
                <a:latin typeface="Calibri"/>
                <a:ea typeface="Calibri"/>
                <a:cs typeface="Calibri"/>
                <a:sym typeface="Calibri"/>
              </a:rPr>
              <a:t>vocab.py</a:t>
            </a:r>
            <a:endParaRPr sz="1500"/>
          </a:p>
          <a:p>
            <a:pPr indent="0" lvl="0" marL="0" marR="0" rtl="0" algn="ctr">
              <a:spcBef>
                <a:spcPts val="0"/>
              </a:spcBef>
              <a:spcAft>
                <a:spcPts val="0"/>
              </a:spcAft>
              <a:buNone/>
            </a:pPr>
            <a:r>
              <a:rPr b="1" lang="en-US" sz="1113">
                <a:solidFill>
                  <a:srgbClr val="9A651E"/>
                </a:solidFill>
                <a:latin typeface="Calibri"/>
                <a:ea typeface="Calibri"/>
                <a:cs typeface="Calibri"/>
                <a:sym typeface="Calibri"/>
              </a:rPr>
              <a:t>CANON 139 · IS_A 102</a:t>
            </a:r>
            <a:endParaRPr sz="1500"/>
          </a:p>
        </p:txBody>
      </p:sp>
      <p:sp>
        <p:nvSpPr>
          <p:cNvPr id="100" name="Google Shape;100;p3"/>
          <p:cNvSpPr/>
          <p:nvPr/>
        </p:nvSpPr>
        <p:spPr>
          <a:xfrm>
            <a:off x="8267700" y="4886325"/>
            <a:ext cx="2190750" cy="838200"/>
          </a:xfrm>
          <a:prstGeom prst="roundRect">
            <a:avLst>
              <a:gd fmla="val 9091" name="adj"/>
            </a:avLst>
          </a:prstGeom>
          <a:solidFill>
            <a:srgbClr val="EAF6EF"/>
          </a:solidFill>
          <a:ln cap="flat" cmpd="sng" w="19050">
            <a:solidFill>
              <a:srgbClr val="2FA36B"/>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spcBef>
                <a:spcPts val="0"/>
              </a:spcBef>
              <a:spcAft>
                <a:spcPts val="0"/>
              </a:spcAft>
              <a:buNone/>
            </a:pPr>
            <a:r>
              <a:rPr b="1" lang="en-US" sz="1113">
                <a:solidFill>
                  <a:srgbClr val="23794F"/>
                </a:solidFill>
                <a:latin typeface="Calibri"/>
                <a:ea typeface="Calibri"/>
                <a:cs typeface="Calibri"/>
                <a:sym typeface="Calibri"/>
              </a:rPr>
              <a:t>graph.json 지식그래프</a:t>
            </a:r>
            <a:endParaRPr sz="1500"/>
          </a:p>
          <a:p>
            <a:pPr indent="0" lvl="0" marL="0" marR="0" rtl="0" algn="ctr">
              <a:spcBef>
                <a:spcPts val="0"/>
              </a:spcBef>
              <a:spcAft>
                <a:spcPts val="0"/>
              </a:spcAft>
              <a:buNone/>
            </a:pPr>
            <a:r>
              <a:rPr b="1" lang="en-US" sz="1113">
                <a:solidFill>
                  <a:srgbClr val="23794F"/>
                </a:solidFill>
                <a:latin typeface="Calibri"/>
                <a:ea typeface="Calibri"/>
                <a:cs typeface="Calibri"/>
                <a:sym typeface="Calibri"/>
              </a:rPr>
              <a:t>Major — Skill — Job</a:t>
            </a:r>
            <a:endParaRPr sz="1500"/>
          </a:p>
          <a:p>
            <a:pPr indent="0" lvl="0" marL="0" marR="0" rtl="0" algn="ctr">
              <a:spcBef>
                <a:spcPts val="0"/>
              </a:spcBef>
              <a:spcAft>
                <a:spcPts val="0"/>
              </a:spcAft>
              <a:buNone/>
            </a:pPr>
            <a:r>
              <a:rPr b="1" lang="en-US" sz="1113">
                <a:solidFill>
                  <a:srgbClr val="23794F"/>
                </a:solidFill>
                <a:latin typeface="Calibri"/>
                <a:ea typeface="Calibri"/>
                <a:cs typeface="Calibri"/>
                <a:sym typeface="Calibri"/>
              </a:rPr>
              <a:t>DEVELOPS · REQUIRES · IS_A</a:t>
            </a:r>
            <a:endParaRPr sz="1500"/>
          </a:p>
        </p:txBody>
      </p:sp>
      <p:cxnSp>
        <p:nvCxnSpPr>
          <p:cNvPr id="101" name="Google Shape;101;p3"/>
          <p:cNvCxnSpPr>
            <a:stCxn id="96" idx="3"/>
            <a:endCxn id="98" idx="1"/>
          </p:cNvCxnSpPr>
          <p:nvPr/>
        </p:nvCxnSpPr>
        <p:spPr>
          <a:xfrm>
            <a:off x="3219450" y="5005388"/>
            <a:ext cx="476400" cy="300000"/>
          </a:xfrm>
          <a:prstGeom prst="bentConnector3">
            <a:avLst>
              <a:gd fmla="val 49984" name="adj1"/>
            </a:avLst>
          </a:prstGeom>
          <a:noFill/>
          <a:ln cap="flat" cmpd="sng" w="17125">
            <a:solidFill>
              <a:srgbClr val="1E2761"/>
            </a:solidFill>
            <a:prstDash val="solid"/>
            <a:round/>
            <a:headEnd len="sm" w="sm" type="none"/>
            <a:tailEnd len="sm" w="sm" type="triangle"/>
          </a:ln>
        </p:spPr>
      </p:cxnSp>
      <p:cxnSp>
        <p:nvCxnSpPr>
          <p:cNvPr id="102" name="Google Shape;102;p3"/>
          <p:cNvCxnSpPr>
            <a:stCxn id="97" idx="3"/>
            <a:endCxn id="98" idx="1"/>
          </p:cNvCxnSpPr>
          <p:nvPr/>
        </p:nvCxnSpPr>
        <p:spPr>
          <a:xfrm flipH="1" rot="10800000">
            <a:off x="3219450" y="5305313"/>
            <a:ext cx="476400" cy="281100"/>
          </a:xfrm>
          <a:prstGeom prst="bentConnector3">
            <a:avLst>
              <a:gd fmla="val 49984" name="adj1"/>
            </a:avLst>
          </a:prstGeom>
          <a:noFill/>
          <a:ln cap="flat" cmpd="sng" w="17125">
            <a:solidFill>
              <a:srgbClr val="1E2761"/>
            </a:solidFill>
            <a:prstDash val="solid"/>
            <a:round/>
            <a:headEnd len="sm" w="sm" type="none"/>
            <a:tailEnd len="sm" w="sm" type="triangle"/>
          </a:ln>
        </p:spPr>
      </p:cxnSp>
      <p:cxnSp>
        <p:nvCxnSpPr>
          <p:cNvPr id="103" name="Google Shape;103;p3"/>
          <p:cNvCxnSpPr>
            <a:stCxn id="98" idx="3"/>
            <a:endCxn id="99" idx="1"/>
          </p:cNvCxnSpPr>
          <p:nvPr/>
        </p:nvCxnSpPr>
        <p:spPr>
          <a:xfrm>
            <a:off x="5505450" y="5305425"/>
            <a:ext cx="476400" cy="0"/>
          </a:xfrm>
          <a:prstGeom prst="straightConnector1">
            <a:avLst/>
          </a:prstGeom>
          <a:noFill/>
          <a:ln cap="flat" cmpd="sng" w="17125">
            <a:solidFill>
              <a:srgbClr val="1E2761"/>
            </a:solidFill>
            <a:prstDash val="solid"/>
            <a:round/>
            <a:headEnd len="sm" w="sm" type="none"/>
            <a:tailEnd len="sm" w="sm" type="triangle"/>
          </a:ln>
        </p:spPr>
      </p:cxnSp>
      <p:cxnSp>
        <p:nvCxnSpPr>
          <p:cNvPr id="104" name="Google Shape;104;p3"/>
          <p:cNvCxnSpPr>
            <a:stCxn id="99" idx="3"/>
            <a:endCxn id="100" idx="1"/>
          </p:cNvCxnSpPr>
          <p:nvPr/>
        </p:nvCxnSpPr>
        <p:spPr>
          <a:xfrm>
            <a:off x="7791450" y="5305425"/>
            <a:ext cx="476400" cy="0"/>
          </a:xfrm>
          <a:prstGeom prst="straightConnector1">
            <a:avLst/>
          </a:prstGeom>
          <a:noFill/>
          <a:ln cap="flat" cmpd="sng" w="17125">
            <a:solidFill>
              <a:srgbClr val="1E2761"/>
            </a:solidFill>
            <a:prstDash val="solid"/>
            <a:round/>
            <a:headEnd len="sm" w="sm" type="none"/>
            <a:tailEnd len="sm" w="sm" type="triangle"/>
          </a:ln>
        </p:spPr>
      </p:cxnSp>
      <p:cxnSp>
        <p:nvCxnSpPr>
          <p:cNvPr id="105" name="Google Shape;105;p3"/>
          <p:cNvCxnSpPr>
            <a:stCxn id="100" idx="0"/>
            <a:endCxn id="85" idx="2"/>
          </p:cNvCxnSpPr>
          <p:nvPr/>
        </p:nvCxnSpPr>
        <p:spPr>
          <a:xfrm flipH="1" rot="5400000">
            <a:off x="8324775" y="3848025"/>
            <a:ext cx="933600" cy="1143000"/>
          </a:xfrm>
          <a:prstGeom prst="bentConnector4">
            <a:avLst>
              <a:gd fmla="val 48632" name="adj1"/>
              <a:gd fmla="val 99722" name="adj2"/>
            </a:avLst>
          </a:prstGeom>
          <a:noFill/>
          <a:ln cap="flat" cmpd="sng" w="19050">
            <a:solidFill>
              <a:srgbClr val="2FA36B"/>
            </a:solidFill>
            <a:prstDash val="dash"/>
            <a:round/>
            <a:headEnd len="sm" w="sm" type="none"/>
            <a:tailEnd len="sm" w="sm" type="triangle"/>
          </a:ln>
        </p:spPr>
      </p:cxnSp>
      <p:sp>
        <p:nvSpPr>
          <p:cNvPr id="106" name="Google Shape;106;p3"/>
          <p:cNvSpPr/>
          <p:nvPr/>
        </p:nvSpPr>
        <p:spPr>
          <a:xfrm>
            <a:off x="1504950" y="6137643"/>
            <a:ext cx="9715500" cy="276300"/>
          </a:xfrm>
          <a:prstGeom prst="roundRect">
            <a:avLst>
              <a:gd fmla="val 27586" name="adj"/>
            </a:avLst>
          </a:prstGeom>
          <a:solidFill>
            <a:srgbClr val="FFFFFF"/>
          </a:solidFill>
          <a:ln cap="flat" cmpd="sng" w="9525">
            <a:solidFill>
              <a:srgbClr val="DCE3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a:off x="1695450" y="6147168"/>
            <a:ext cx="714300" cy="257100"/>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None/>
            </a:pPr>
            <a:r>
              <a:rPr b="1" lang="en-US" sz="1038">
                <a:solidFill>
                  <a:srgbClr val="6D63D8"/>
                </a:solidFill>
                <a:latin typeface="Calibri"/>
                <a:ea typeface="Calibri"/>
                <a:cs typeface="Calibri"/>
                <a:sym typeface="Calibri"/>
              </a:rPr>
              <a:t>LLM 사용</a:t>
            </a:r>
            <a:endParaRPr sz="1500"/>
          </a:p>
        </p:txBody>
      </p:sp>
      <p:sp>
        <p:nvSpPr>
          <p:cNvPr id="108" name="Google Shape;108;p3"/>
          <p:cNvSpPr/>
          <p:nvPr/>
        </p:nvSpPr>
        <p:spPr>
          <a:xfrm>
            <a:off x="2419350" y="6147168"/>
            <a:ext cx="2619300" cy="2571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None/>
            </a:pPr>
            <a:r>
              <a:rPr b="0" lang="en-US" sz="1038">
                <a:solidFill>
                  <a:srgbClr val="5A6072"/>
                </a:solidFill>
                <a:latin typeface="Calibri"/>
                <a:ea typeface="Calibri"/>
                <a:cs typeface="Calibri"/>
                <a:sym typeface="Calibri"/>
              </a:rPr>
              <a:t>질문 생성 · 태그 추출 · 설명 문단</a:t>
            </a:r>
            <a:endParaRPr sz="1500"/>
          </a:p>
        </p:txBody>
      </p:sp>
      <p:sp>
        <p:nvSpPr>
          <p:cNvPr id="109" name="Google Shape;109;p3"/>
          <p:cNvSpPr/>
          <p:nvPr/>
        </p:nvSpPr>
        <p:spPr>
          <a:xfrm>
            <a:off x="5524500" y="6147168"/>
            <a:ext cx="743100" cy="257100"/>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None/>
            </a:pPr>
            <a:r>
              <a:rPr b="1" lang="en-US" sz="1038">
                <a:solidFill>
                  <a:srgbClr val="1E2761"/>
                </a:solidFill>
                <a:latin typeface="Calibri"/>
                <a:ea typeface="Calibri"/>
                <a:cs typeface="Calibri"/>
                <a:sym typeface="Calibri"/>
              </a:rPr>
              <a:t>결정 로직</a:t>
            </a:r>
            <a:endParaRPr sz="1500"/>
          </a:p>
        </p:txBody>
      </p:sp>
      <p:sp>
        <p:nvSpPr>
          <p:cNvPr id="110" name="Google Shape;110;p3"/>
          <p:cNvSpPr/>
          <p:nvPr/>
        </p:nvSpPr>
        <p:spPr>
          <a:xfrm>
            <a:off x="6286500" y="6147168"/>
            <a:ext cx="3143400" cy="2571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None/>
            </a:pPr>
            <a:r>
              <a:rPr b="0" lang="en-US" sz="1038">
                <a:solidFill>
                  <a:srgbClr val="5A6072"/>
                </a:solidFill>
                <a:latin typeface="Calibri"/>
                <a:ea typeface="Calibri"/>
                <a:cs typeface="Calibri"/>
                <a:sym typeface="Calibri"/>
              </a:rPr>
              <a:t>전공 순위 · 직무 매칭 · 과목 선택</a:t>
            </a:r>
            <a:endParaRPr sz="1500"/>
          </a:p>
        </p:txBody>
      </p:sp>
      <p:sp>
        <p:nvSpPr>
          <p:cNvPr id="111" name="Google Shape;111;p3"/>
          <p:cNvSpPr/>
          <p:nvPr/>
        </p:nvSpPr>
        <p:spPr>
          <a:xfrm>
            <a:off x="457200" y="6473952"/>
            <a:ext cx="8686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072"/>
              </a:buClr>
              <a:buSzPts val="900"/>
              <a:buFont typeface="Calibri"/>
              <a:buNone/>
            </a:pPr>
            <a:r>
              <a:rPr lang="en-US" sz="900">
                <a:solidFill>
                  <a:srgbClr val="5A6072"/>
                </a:solidFill>
                <a:latin typeface="Calibri"/>
                <a:ea typeface="Calibri"/>
                <a:cs typeface="Calibri"/>
                <a:sym typeface="Calibri"/>
              </a:rPr>
              <a:t>LG CNS AI캠퍼스 · Knowledge Graph 과정 mini project 1 - LG 직무 추천 AI Agent</a:t>
            </a:r>
            <a:endParaRPr sz="900">
              <a:solidFill>
                <a:schemeClr val="dk1"/>
              </a:solidFill>
              <a:latin typeface="Calibri"/>
              <a:ea typeface="Calibri"/>
              <a:cs typeface="Calibri"/>
              <a:sym typeface="Calibri"/>
            </a:endParaRPr>
          </a:p>
        </p:txBody>
      </p:sp>
      <p:sp>
        <p:nvSpPr>
          <p:cNvPr id="112" name="Google Shape;112;p3"/>
          <p:cNvSpPr/>
          <p:nvPr/>
        </p:nvSpPr>
        <p:spPr>
          <a:xfrm rot="-1690827">
            <a:off x="11397281" y="562376"/>
            <a:ext cx="290312" cy="18388"/>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rot="1690827">
            <a:off x="11397217" y="699476"/>
            <a:ext cx="290312" cy="18388"/>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p:nvPr/>
        </p:nvSpPr>
        <p:spPr>
          <a:xfrm>
            <a:off x="11359591" y="585216"/>
            <a:ext cx="109800" cy="10980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
          <p:cNvSpPr/>
          <p:nvPr/>
        </p:nvSpPr>
        <p:spPr>
          <a:xfrm>
            <a:off x="11615623" y="448056"/>
            <a:ext cx="109800" cy="109800"/>
          </a:xfrm>
          <a:prstGeom prst="ellipse">
            <a:avLst/>
          </a:prstGeom>
          <a:solidFill>
            <a:srgbClr val="E857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
          <p:cNvSpPr/>
          <p:nvPr/>
        </p:nvSpPr>
        <p:spPr>
          <a:xfrm>
            <a:off x="11615623" y="722376"/>
            <a:ext cx="109800" cy="109800"/>
          </a:xfrm>
          <a:prstGeom prst="ellipse">
            <a:avLst/>
          </a:prstGeom>
          <a:solidFill>
            <a:srgbClr val="2F9E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3"/>
          <p:cNvSpPr txBox="1"/>
          <p:nvPr/>
        </p:nvSpPr>
        <p:spPr>
          <a:xfrm>
            <a:off x="-42900" y="5496550"/>
            <a:ext cx="674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18" name="Google Shape;118;p3"/>
          <p:cNvSpPr/>
          <p:nvPr/>
        </p:nvSpPr>
        <p:spPr>
          <a:xfrm>
            <a:off x="457200" y="384048"/>
            <a:ext cx="914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574A"/>
              </a:buClr>
              <a:buSzPts val="2000"/>
              <a:buFont typeface="Calibri"/>
              <a:buNone/>
            </a:pPr>
            <a:r>
              <a:rPr b="1" lang="en-US" sz="2000">
                <a:solidFill>
                  <a:srgbClr val="E8574A"/>
                </a:solidFill>
                <a:latin typeface="Calibri"/>
                <a:ea typeface="Calibri"/>
                <a:cs typeface="Calibri"/>
                <a:sym typeface="Calibri"/>
              </a:rPr>
              <a:t>02</a:t>
            </a:r>
            <a:endParaRPr sz="2000">
              <a:solidFill>
                <a:schemeClr val="dk1"/>
              </a:solidFill>
              <a:latin typeface="Calibri"/>
              <a:ea typeface="Calibri"/>
              <a:cs typeface="Calibri"/>
              <a:sym typeface="Calibri"/>
            </a:endParaRPr>
          </a:p>
        </p:txBody>
      </p:sp>
      <p:sp>
        <p:nvSpPr>
          <p:cNvPr id="119" name="Google Shape;119;p3"/>
          <p:cNvSpPr/>
          <p:nvPr/>
        </p:nvSpPr>
        <p:spPr>
          <a:xfrm>
            <a:off x="457200" y="713232"/>
            <a:ext cx="10058400" cy="502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sz="2603">
                <a:solidFill>
                  <a:srgbClr val="1E2761"/>
                </a:solidFill>
                <a:latin typeface="Calibri"/>
                <a:ea typeface="Calibri"/>
                <a:cs typeface="Calibri"/>
                <a:sym typeface="Calibri"/>
              </a:rPr>
              <a:t>Overall Architecture</a:t>
            </a:r>
            <a:endParaRPr b="1" sz="2600">
              <a:solidFill>
                <a:srgbClr val="1E2761"/>
              </a:solidFill>
              <a:latin typeface="Calibri"/>
              <a:ea typeface="Calibri"/>
              <a:cs typeface="Calibri"/>
              <a:sym typeface="Calibri"/>
            </a:endParaRPr>
          </a:p>
        </p:txBody>
      </p:sp>
      <p:sp>
        <p:nvSpPr>
          <p:cNvPr id="120" name="Google Shape;120;p3"/>
          <p:cNvSpPr/>
          <p:nvPr/>
        </p:nvSpPr>
        <p:spPr>
          <a:xfrm>
            <a:off x="457200" y="1207008"/>
            <a:ext cx="10332600" cy="3657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lang="en-US" sz="1298">
                <a:solidFill>
                  <a:srgbClr val="5A6072"/>
                </a:solidFill>
                <a:latin typeface="Calibri"/>
                <a:ea typeface="Calibri"/>
                <a:cs typeface="Calibri"/>
                <a:sym typeface="Calibri"/>
              </a:rPr>
              <a:t>대화형 입력은 LLM으로 구조화하고, 추천 판정은 graph.json과 Python 조회 함수가 수행한다</a:t>
            </a:r>
            <a:endParaRPr sz="1300">
              <a:solidFill>
                <a:srgbClr val="5A6072"/>
              </a:solidFill>
              <a:latin typeface="Calibri"/>
              <a:ea typeface="Calibri"/>
              <a:cs typeface="Calibri"/>
              <a:sym typeface="Calibri"/>
            </a:endParaRPr>
          </a:p>
        </p:txBody>
      </p:sp>
      <p:sp>
        <p:nvSpPr>
          <p:cNvPr id="121" name="Google Shape;121;p3"/>
          <p:cNvSpPr/>
          <p:nvPr/>
        </p:nvSpPr>
        <p:spPr>
          <a:xfrm>
            <a:off x="11277295" y="6473952"/>
            <a:ext cx="4572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072"/>
              </a:buClr>
              <a:buSzPts val="900"/>
              <a:buFont typeface="Calibri"/>
              <a:buNone/>
            </a:pPr>
            <a:r>
              <a:rPr lang="en-US" sz="900">
                <a:solidFill>
                  <a:srgbClr val="5A6072"/>
                </a:solidFill>
                <a:latin typeface="Calibri"/>
                <a:ea typeface="Calibri"/>
                <a:cs typeface="Calibri"/>
                <a:sym typeface="Calibri"/>
              </a:rPr>
              <a:t>3</a:t>
            </a:r>
            <a:endParaRPr sz="9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C"/>
        </a:solidFill>
      </p:bgPr>
    </p:bg>
    <p:spTree>
      <p:nvGrpSpPr>
        <p:cNvPr id="126" name="Shape 126"/>
        <p:cNvGrpSpPr/>
        <p:nvPr/>
      </p:nvGrpSpPr>
      <p:grpSpPr>
        <a:xfrm>
          <a:off x="0" y="0"/>
          <a:ext cx="0" cy="0"/>
          <a:chOff x="0" y="0"/>
          <a:chExt cx="0" cy="0"/>
        </a:xfrm>
      </p:grpSpPr>
      <p:sp>
        <p:nvSpPr>
          <p:cNvPr id="127" name="Google Shape;127;h5f98b5e057c13be2_2_9"/>
          <p:cNvSpPr/>
          <p:nvPr/>
        </p:nvSpPr>
        <p:spPr>
          <a:xfrm>
            <a:off x="457200" y="384048"/>
            <a:ext cx="914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574A"/>
              </a:buClr>
              <a:buSzPts val="2000"/>
              <a:buFont typeface="Calibri"/>
              <a:buNone/>
            </a:pPr>
            <a:r>
              <a:rPr b="1" lang="en-US" sz="2000">
                <a:solidFill>
                  <a:srgbClr val="E8574A"/>
                </a:solidFill>
                <a:latin typeface="Calibri"/>
                <a:ea typeface="Calibri"/>
                <a:cs typeface="Calibri"/>
                <a:sym typeface="Calibri"/>
              </a:rPr>
              <a:t>03</a:t>
            </a:r>
            <a:endParaRPr sz="2000">
              <a:solidFill>
                <a:schemeClr val="dk1"/>
              </a:solidFill>
              <a:latin typeface="Calibri"/>
              <a:ea typeface="Calibri"/>
              <a:cs typeface="Calibri"/>
              <a:sym typeface="Calibri"/>
            </a:endParaRPr>
          </a:p>
        </p:txBody>
      </p:sp>
      <p:sp>
        <p:nvSpPr>
          <p:cNvPr id="128" name="Google Shape;128;h5f98b5e057c13be2_2_9"/>
          <p:cNvSpPr/>
          <p:nvPr/>
        </p:nvSpPr>
        <p:spPr>
          <a:xfrm>
            <a:off x="457200" y="713232"/>
            <a:ext cx="100584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600"/>
              <a:buFont typeface="Calibri"/>
              <a:buNone/>
            </a:pPr>
            <a:r>
              <a:rPr b="1" lang="en-US" sz="2600">
                <a:solidFill>
                  <a:srgbClr val="1E2761"/>
                </a:solidFill>
                <a:latin typeface="Calibri"/>
                <a:ea typeface="Calibri"/>
                <a:cs typeface="Calibri"/>
                <a:sym typeface="Calibri"/>
              </a:rPr>
              <a:t>Data</a:t>
            </a:r>
            <a:endParaRPr sz="2600">
              <a:solidFill>
                <a:schemeClr val="dk1"/>
              </a:solidFill>
              <a:latin typeface="Calibri"/>
              <a:ea typeface="Calibri"/>
              <a:cs typeface="Calibri"/>
              <a:sym typeface="Calibri"/>
            </a:endParaRPr>
          </a:p>
        </p:txBody>
      </p:sp>
      <p:sp>
        <p:nvSpPr>
          <p:cNvPr id="129" name="Google Shape;129;h5f98b5e057c13be2_2_9"/>
          <p:cNvSpPr/>
          <p:nvPr/>
        </p:nvSpPr>
        <p:spPr>
          <a:xfrm>
            <a:off x="457200" y="1207008"/>
            <a:ext cx="103326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072"/>
              </a:buClr>
              <a:buSzPts val="1300"/>
              <a:buFont typeface="Calibri"/>
              <a:buNone/>
            </a:pPr>
            <a:r>
              <a:rPr lang="en-US" sz="1300">
                <a:solidFill>
                  <a:srgbClr val="5A6072"/>
                </a:solidFill>
                <a:latin typeface="Calibri"/>
                <a:ea typeface="Calibri"/>
                <a:cs typeface="Calibri"/>
                <a:sym typeface="Calibri"/>
              </a:rPr>
              <a:t>채용 공고와 대학 커리큘럼 원천 데이터 수집 및 전처리 방법</a:t>
            </a:r>
            <a:endParaRPr sz="1300">
              <a:solidFill>
                <a:schemeClr val="dk1"/>
              </a:solidFill>
              <a:latin typeface="Calibri"/>
              <a:ea typeface="Calibri"/>
              <a:cs typeface="Calibri"/>
              <a:sym typeface="Calibri"/>
            </a:endParaRPr>
          </a:p>
        </p:txBody>
      </p:sp>
      <p:sp>
        <p:nvSpPr>
          <p:cNvPr id="130" name="Google Shape;130;h5f98b5e057c13be2_2_9"/>
          <p:cNvSpPr/>
          <p:nvPr/>
        </p:nvSpPr>
        <p:spPr>
          <a:xfrm rot="-1690827">
            <a:off x="11397281" y="562376"/>
            <a:ext cx="290312" cy="18388"/>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h5f98b5e057c13be2_2_9"/>
          <p:cNvSpPr/>
          <p:nvPr/>
        </p:nvSpPr>
        <p:spPr>
          <a:xfrm rot="1690827">
            <a:off x="11397217" y="699476"/>
            <a:ext cx="290312" cy="18388"/>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h5f98b5e057c13be2_2_9"/>
          <p:cNvSpPr/>
          <p:nvPr/>
        </p:nvSpPr>
        <p:spPr>
          <a:xfrm>
            <a:off x="11359591" y="585216"/>
            <a:ext cx="109800" cy="10980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h5f98b5e057c13be2_2_9"/>
          <p:cNvSpPr/>
          <p:nvPr/>
        </p:nvSpPr>
        <p:spPr>
          <a:xfrm>
            <a:off x="11615623" y="448056"/>
            <a:ext cx="109800" cy="109800"/>
          </a:xfrm>
          <a:prstGeom prst="ellipse">
            <a:avLst/>
          </a:prstGeom>
          <a:solidFill>
            <a:srgbClr val="E857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h5f98b5e057c13be2_2_9"/>
          <p:cNvSpPr/>
          <p:nvPr/>
        </p:nvSpPr>
        <p:spPr>
          <a:xfrm>
            <a:off x="11615623" y="722376"/>
            <a:ext cx="109800" cy="109800"/>
          </a:xfrm>
          <a:prstGeom prst="ellipse">
            <a:avLst/>
          </a:prstGeom>
          <a:solidFill>
            <a:srgbClr val="2F9E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h5f98b5e057c13be2_2_9"/>
          <p:cNvSpPr/>
          <p:nvPr/>
        </p:nvSpPr>
        <p:spPr>
          <a:xfrm>
            <a:off x="457142" y="1737350"/>
            <a:ext cx="5440756" cy="4206300"/>
          </a:xfrm>
          <a:prstGeom prst="roundRect">
            <a:avLst>
              <a:gd fmla="val 2025" name="adj"/>
            </a:avLst>
          </a:prstGeom>
          <a:solidFill>
            <a:srgbClr val="FFFFFF"/>
          </a:solidFill>
          <a:ln cap="flat" cmpd="sng" w="12700">
            <a:solidFill>
              <a:srgbClr val="E2E6F2"/>
            </a:solidFill>
            <a:prstDash val="solid"/>
            <a:round/>
            <a:headEnd len="sm" w="sm" type="none"/>
            <a:tailEnd len="sm" w="sm" type="none"/>
          </a:ln>
          <a:effectLst>
            <a:outerShdw blurRad="63500" rotWithShape="0" algn="bl" dir="5400000" dist="25400">
              <a:srgbClr val="1E2761">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36" name="Google Shape;136;h5f98b5e057c13be2_2_9"/>
          <p:cNvSpPr/>
          <p:nvPr/>
        </p:nvSpPr>
        <p:spPr>
          <a:xfrm>
            <a:off x="457142" y="1737350"/>
            <a:ext cx="5440756" cy="502800"/>
          </a:xfrm>
          <a:prstGeom prst="rect">
            <a:avLst/>
          </a:prstGeom>
          <a:solidFill>
            <a:srgbClr val="E857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37" name="Google Shape;137;h5f98b5e057c13be2_2_9"/>
          <p:cNvSpPr/>
          <p:nvPr/>
        </p:nvSpPr>
        <p:spPr>
          <a:xfrm>
            <a:off x="732614" y="1737350"/>
            <a:ext cx="488945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lang="en-US">
                <a:solidFill>
                  <a:srgbClr val="FFFFFF"/>
                </a:solidFill>
                <a:latin typeface="Calibri"/>
                <a:ea typeface="Calibri"/>
                <a:cs typeface="Calibri"/>
                <a:sym typeface="Calibri"/>
              </a:rPr>
              <a:t>LG 채용 공고 데이터</a:t>
            </a:r>
            <a:endParaRPr sz="1400">
              <a:solidFill>
                <a:schemeClr val="dk1"/>
              </a:solidFill>
              <a:latin typeface="Calibri"/>
              <a:ea typeface="Calibri"/>
              <a:cs typeface="Calibri"/>
              <a:sym typeface="Calibri"/>
            </a:endParaRPr>
          </a:p>
        </p:txBody>
      </p:sp>
      <p:sp>
        <p:nvSpPr>
          <p:cNvPr id="138" name="Google Shape;138;h5f98b5e057c13be2_2_9"/>
          <p:cNvSpPr/>
          <p:nvPr/>
        </p:nvSpPr>
        <p:spPr>
          <a:xfrm>
            <a:off x="760150" y="2531525"/>
            <a:ext cx="82200" cy="85800"/>
          </a:xfrm>
          <a:prstGeom prst="ellipse">
            <a:avLst/>
          </a:prstGeom>
          <a:solidFill>
            <a:srgbClr val="E857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39" name="Google Shape;139;h5f98b5e057c13be2_2_9"/>
          <p:cNvSpPr/>
          <p:nvPr/>
        </p:nvSpPr>
        <p:spPr>
          <a:xfrm>
            <a:off x="1035634" y="2423150"/>
            <a:ext cx="4586683" cy="77730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050"/>
              <a:buFont typeface="Calibri"/>
              <a:buNone/>
            </a:pPr>
            <a:r>
              <a:rPr lang="en-US" sz="1200" u="sng">
                <a:solidFill>
                  <a:schemeClr val="hlink"/>
                </a:solidFill>
                <a:latin typeface="Calibri"/>
                <a:ea typeface="Calibri"/>
                <a:cs typeface="Calibri"/>
                <a:sym typeface="Calibri"/>
                <a:hlinkClick r:id="rId3"/>
              </a:rPr>
              <a:t>carrers.lg.com</a:t>
            </a:r>
            <a:r>
              <a:rPr lang="en-US" sz="1200">
                <a:solidFill>
                  <a:srgbClr val="1F2430"/>
                </a:solidFill>
                <a:latin typeface="Calibri"/>
                <a:ea typeface="Calibri"/>
                <a:cs typeface="Calibri"/>
                <a:sym typeface="Calibri"/>
              </a:rPr>
              <a:t> 페이지는 SPA 구조라 beautifulsoup 로 크롤링 불가</a:t>
            </a:r>
            <a:endParaRPr sz="1200">
              <a:solidFill>
                <a:srgbClr val="1F2430"/>
              </a:solidFill>
              <a:latin typeface="Calibri"/>
              <a:ea typeface="Calibri"/>
              <a:cs typeface="Calibri"/>
              <a:sym typeface="Calibri"/>
            </a:endParaRPr>
          </a:p>
          <a:p>
            <a:pPr indent="0" lvl="0" marL="0" rtl="0" algn="l">
              <a:lnSpc>
                <a:spcPct val="108000"/>
              </a:lnSpc>
              <a:spcBef>
                <a:spcPts val="0"/>
              </a:spcBef>
              <a:spcAft>
                <a:spcPts val="0"/>
              </a:spcAft>
              <a:buClr>
                <a:srgbClr val="1F2430"/>
              </a:buClr>
              <a:buSzPts val="1050"/>
              <a:buFont typeface="Calibri"/>
              <a:buNone/>
            </a:pPr>
            <a:r>
              <a:rPr lang="en-US" sz="1200">
                <a:solidFill>
                  <a:srgbClr val="1F2430"/>
                </a:solidFill>
                <a:latin typeface="Calibri"/>
                <a:ea typeface="Calibri"/>
                <a:cs typeface="Calibri"/>
                <a:sym typeface="Calibri"/>
              </a:rPr>
              <a:t>→ 웹 페이지가 쓰는 내부 API 확인</a:t>
            </a:r>
            <a:endParaRPr sz="1200">
              <a:solidFill>
                <a:srgbClr val="1F2430"/>
              </a:solidFill>
              <a:latin typeface="Calibri"/>
              <a:ea typeface="Calibri"/>
              <a:cs typeface="Calibri"/>
              <a:sym typeface="Calibri"/>
            </a:endParaRPr>
          </a:p>
          <a:p>
            <a:pPr indent="0" lvl="0" marL="0" rtl="0" algn="l">
              <a:lnSpc>
                <a:spcPct val="108000"/>
              </a:lnSpc>
              <a:spcBef>
                <a:spcPts val="0"/>
              </a:spcBef>
              <a:spcAft>
                <a:spcPts val="0"/>
              </a:spcAft>
              <a:buClr>
                <a:srgbClr val="1F2430"/>
              </a:buClr>
              <a:buSzPts val="1050"/>
              <a:buFont typeface="Calibri"/>
              <a:buNone/>
            </a:pPr>
            <a:r>
              <a:rPr lang="en-US" sz="1200">
                <a:solidFill>
                  <a:srgbClr val="1F2430"/>
                </a:solidFill>
                <a:latin typeface="Calibri"/>
                <a:ea typeface="Calibri"/>
                <a:cs typeface="Calibri"/>
                <a:sym typeface="Calibri"/>
              </a:rPr>
              <a:t>→ 파이썬으로 직접 호출 </a:t>
            </a:r>
            <a:r>
              <a:rPr i="1" lang="en-US" sz="1200">
                <a:solidFill>
                  <a:srgbClr val="1F2430"/>
                </a:solidFill>
                <a:latin typeface="Calibri"/>
                <a:ea typeface="Calibri"/>
                <a:cs typeface="Calibri"/>
                <a:sym typeface="Calibri"/>
              </a:rPr>
              <a:t>(lg_careers.py)</a:t>
            </a:r>
            <a:endParaRPr sz="1200">
              <a:solidFill>
                <a:srgbClr val="1F2430"/>
              </a:solidFill>
              <a:latin typeface="Calibri"/>
              <a:ea typeface="Calibri"/>
              <a:cs typeface="Calibri"/>
              <a:sym typeface="Calibri"/>
            </a:endParaRPr>
          </a:p>
        </p:txBody>
      </p:sp>
      <p:sp>
        <p:nvSpPr>
          <p:cNvPr id="140" name="Google Shape;140;h5f98b5e057c13be2_2_9"/>
          <p:cNvSpPr/>
          <p:nvPr/>
        </p:nvSpPr>
        <p:spPr>
          <a:xfrm>
            <a:off x="760150" y="3389317"/>
            <a:ext cx="82200" cy="85800"/>
          </a:xfrm>
          <a:prstGeom prst="ellipse">
            <a:avLst/>
          </a:prstGeom>
          <a:solidFill>
            <a:srgbClr val="E857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41" name="Google Shape;141;h5f98b5e057c13be2_2_9"/>
          <p:cNvSpPr/>
          <p:nvPr/>
        </p:nvSpPr>
        <p:spPr>
          <a:xfrm>
            <a:off x="1035634" y="3291830"/>
            <a:ext cx="4586683" cy="77730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050"/>
              <a:buFont typeface="Calibri"/>
              <a:buNone/>
            </a:pPr>
            <a:r>
              <a:rPr lang="en-US" sz="1200">
                <a:solidFill>
                  <a:srgbClr val="1F2430"/>
                </a:solidFill>
                <a:latin typeface="Calibri"/>
                <a:ea typeface="Calibri"/>
                <a:cs typeface="Calibri"/>
                <a:sym typeface="Calibri"/>
              </a:rPr>
              <a:t>최신 상세 공고를 받아 날짜별 파일로 누적 저장</a:t>
            </a:r>
            <a:endParaRPr sz="1200">
              <a:solidFill>
                <a:srgbClr val="1F2430"/>
              </a:solidFill>
              <a:latin typeface="Calibri"/>
              <a:ea typeface="Calibri"/>
              <a:cs typeface="Calibri"/>
              <a:sym typeface="Calibri"/>
            </a:endParaRPr>
          </a:p>
          <a:p>
            <a:pPr indent="0" lvl="0" marL="0" marR="0" rtl="0" algn="l">
              <a:lnSpc>
                <a:spcPct val="108000"/>
              </a:lnSpc>
              <a:spcBef>
                <a:spcPts val="0"/>
              </a:spcBef>
              <a:spcAft>
                <a:spcPts val="0"/>
              </a:spcAft>
              <a:buClr>
                <a:srgbClr val="1F2430"/>
              </a:buClr>
              <a:buSzPts val="1050"/>
              <a:buFont typeface="Calibri"/>
              <a:buNone/>
            </a:pPr>
            <a:r>
              <a:rPr lang="en-US" sz="1200">
                <a:solidFill>
                  <a:srgbClr val="1F2430"/>
                </a:solidFill>
                <a:latin typeface="Calibri"/>
                <a:ea typeface="Calibri"/>
                <a:cs typeface="Calibri"/>
                <a:sym typeface="Calibri"/>
              </a:rPr>
              <a:t>(마감 공고 소실 방지)</a:t>
            </a:r>
            <a:endParaRPr sz="1200">
              <a:solidFill>
                <a:srgbClr val="1F2430"/>
              </a:solidFill>
              <a:latin typeface="Calibri"/>
              <a:ea typeface="Calibri"/>
              <a:cs typeface="Calibri"/>
              <a:sym typeface="Calibri"/>
            </a:endParaRPr>
          </a:p>
        </p:txBody>
      </p:sp>
      <p:sp>
        <p:nvSpPr>
          <p:cNvPr id="142" name="Google Shape;142;h5f98b5e057c13be2_2_9"/>
          <p:cNvSpPr/>
          <p:nvPr/>
        </p:nvSpPr>
        <p:spPr>
          <a:xfrm>
            <a:off x="760150" y="4247108"/>
            <a:ext cx="82200" cy="85800"/>
          </a:xfrm>
          <a:prstGeom prst="ellipse">
            <a:avLst/>
          </a:prstGeom>
          <a:solidFill>
            <a:srgbClr val="E857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43" name="Google Shape;143;h5f98b5e057c13be2_2_9"/>
          <p:cNvSpPr/>
          <p:nvPr/>
        </p:nvSpPr>
        <p:spPr>
          <a:xfrm>
            <a:off x="1035634" y="4160510"/>
            <a:ext cx="4586683" cy="77730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050"/>
              <a:buFont typeface="Calibri"/>
              <a:buNone/>
            </a:pPr>
            <a:r>
              <a:rPr lang="en-US" sz="1200">
                <a:solidFill>
                  <a:srgbClr val="1F2430"/>
                </a:solidFill>
                <a:latin typeface="Calibri"/>
                <a:ea typeface="Calibri"/>
                <a:cs typeface="Calibri"/>
                <a:sym typeface="Calibri"/>
              </a:rPr>
              <a:t>공고를 직무 단위로 펼친 172건을 코드로 읽어 중복 제거</a:t>
            </a:r>
            <a:endParaRPr sz="1200">
              <a:solidFill>
                <a:srgbClr val="1F2430"/>
              </a:solidFill>
              <a:latin typeface="Calibri"/>
              <a:ea typeface="Calibri"/>
              <a:cs typeface="Calibri"/>
              <a:sym typeface="Calibri"/>
            </a:endParaRPr>
          </a:p>
          <a:p>
            <a:pPr indent="0" lvl="0" marL="0" rtl="0" algn="l">
              <a:lnSpc>
                <a:spcPct val="108000"/>
              </a:lnSpc>
              <a:spcBef>
                <a:spcPts val="0"/>
              </a:spcBef>
              <a:spcAft>
                <a:spcPts val="0"/>
              </a:spcAft>
              <a:buClr>
                <a:srgbClr val="1F2430"/>
              </a:buClr>
              <a:buSzPts val="1050"/>
              <a:buFont typeface="Calibri"/>
              <a:buNone/>
            </a:pPr>
            <a:r>
              <a:rPr lang="en-US" sz="1200">
                <a:solidFill>
                  <a:srgbClr val="1F2430"/>
                </a:solidFill>
                <a:latin typeface="Calibri"/>
                <a:ea typeface="Calibri"/>
                <a:cs typeface="Calibri"/>
                <a:sym typeface="Calibri"/>
              </a:rPr>
              <a:t>→ LLM 을 호출해 직무별 요구 skill 추출</a:t>
            </a:r>
            <a:endParaRPr sz="1200">
              <a:solidFill>
                <a:srgbClr val="1F2430"/>
              </a:solidFill>
              <a:latin typeface="Calibri"/>
              <a:ea typeface="Calibri"/>
              <a:cs typeface="Calibri"/>
              <a:sym typeface="Calibri"/>
            </a:endParaRPr>
          </a:p>
          <a:p>
            <a:pPr indent="0" lvl="0" marL="0" marR="0" rtl="0" algn="l">
              <a:lnSpc>
                <a:spcPct val="108000"/>
              </a:lnSpc>
              <a:spcBef>
                <a:spcPts val="0"/>
              </a:spcBef>
              <a:spcAft>
                <a:spcPts val="0"/>
              </a:spcAft>
              <a:buClr>
                <a:srgbClr val="1F2430"/>
              </a:buClr>
              <a:buSzPts val="1050"/>
              <a:buFont typeface="Calibri"/>
              <a:buNone/>
            </a:pPr>
            <a:r>
              <a:rPr i="1" lang="en-US" sz="1200">
                <a:solidFill>
                  <a:srgbClr val="1F2430"/>
                </a:solidFill>
                <a:latin typeface="Calibri"/>
                <a:ea typeface="Calibri"/>
                <a:cs typeface="Calibri"/>
                <a:sym typeface="Calibri"/>
              </a:rPr>
              <a:t>(transform_v2.py)</a:t>
            </a:r>
            <a:endParaRPr i="1" sz="1200">
              <a:solidFill>
                <a:srgbClr val="1F2430"/>
              </a:solidFill>
              <a:latin typeface="Calibri"/>
              <a:ea typeface="Calibri"/>
              <a:cs typeface="Calibri"/>
              <a:sym typeface="Calibri"/>
            </a:endParaRPr>
          </a:p>
        </p:txBody>
      </p:sp>
      <p:sp>
        <p:nvSpPr>
          <p:cNvPr id="144" name="Google Shape;144;h5f98b5e057c13be2_2_9"/>
          <p:cNvSpPr/>
          <p:nvPr/>
        </p:nvSpPr>
        <p:spPr>
          <a:xfrm>
            <a:off x="760150" y="5104900"/>
            <a:ext cx="82200" cy="85800"/>
          </a:xfrm>
          <a:prstGeom prst="ellipse">
            <a:avLst/>
          </a:prstGeom>
          <a:solidFill>
            <a:srgbClr val="E857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45" name="Google Shape;145;h5f98b5e057c13be2_2_9"/>
          <p:cNvSpPr/>
          <p:nvPr/>
        </p:nvSpPr>
        <p:spPr>
          <a:xfrm>
            <a:off x="1035634" y="5029190"/>
            <a:ext cx="4586683" cy="77730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050"/>
              <a:buFont typeface="Calibri"/>
              <a:buNone/>
            </a:pPr>
            <a:r>
              <a:rPr lang="en-US" sz="1200">
                <a:solidFill>
                  <a:schemeClr val="dk1"/>
                </a:solidFill>
                <a:latin typeface="Calibri"/>
                <a:ea typeface="Calibri"/>
                <a:cs typeface="Calibri"/>
                <a:sym typeface="Calibri"/>
              </a:rPr>
              <a:t>각기 다른 이름의 skill 들을 어휘 사전-</a:t>
            </a:r>
            <a:r>
              <a:rPr i="1" lang="en-US" sz="1200">
                <a:solidFill>
                  <a:schemeClr val="dk1"/>
                </a:solidFill>
                <a:latin typeface="Calibri"/>
                <a:ea typeface="Calibri"/>
                <a:cs typeface="Calibri"/>
                <a:sym typeface="Calibri"/>
              </a:rPr>
              <a:t>vocab.py</a:t>
            </a:r>
            <a:r>
              <a:rPr lang="en-US" sz="1200">
                <a:solidFill>
                  <a:schemeClr val="dk1"/>
                </a:solidFill>
                <a:latin typeface="Calibri"/>
                <a:ea typeface="Calibri"/>
                <a:cs typeface="Calibri"/>
                <a:sym typeface="Calibri"/>
              </a:rPr>
              <a:t>-의 내용으로 통일</a:t>
            </a:r>
            <a:endParaRPr sz="12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1F2430"/>
              </a:buClr>
              <a:buSzPts val="1050"/>
              <a:buFont typeface="Calibri"/>
              <a:buNone/>
            </a:pPr>
            <a:r>
              <a:rPr i="1" lang="en-US" sz="1200">
                <a:solidFill>
                  <a:schemeClr val="dk1"/>
                </a:solidFill>
                <a:latin typeface="Calibri"/>
                <a:ea typeface="Calibri"/>
                <a:cs typeface="Calibri"/>
                <a:sym typeface="Calibri"/>
              </a:rPr>
              <a:t>(build_graph_jobs.py)</a:t>
            </a:r>
            <a:endParaRPr i="1" sz="1200">
              <a:solidFill>
                <a:schemeClr val="dk1"/>
              </a:solidFill>
              <a:latin typeface="Calibri"/>
              <a:ea typeface="Calibri"/>
              <a:cs typeface="Calibri"/>
              <a:sym typeface="Calibri"/>
            </a:endParaRPr>
          </a:p>
        </p:txBody>
      </p:sp>
      <p:sp>
        <p:nvSpPr>
          <p:cNvPr id="146" name="Google Shape;146;h5f98b5e057c13be2_2_9"/>
          <p:cNvSpPr/>
          <p:nvPr/>
        </p:nvSpPr>
        <p:spPr>
          <a:xfrm>
            <a:off x="6181335" y="1737350"/>
            <a:ext cx="5440756" cy="4206300"/>
          </a:xfrm>
          <a:prstGeom prst="roundRect">
            <a:avLst>
              <a:gd fmla="val 2025" name="adj"/>
            </a:avLst>
          </a:prstGeom>
          <a:solidFill>
            <a:srgbClr val="FFFFFF"/>
          </a:solidFill>
          <a:ln cap="flat" cmpd="sng" w="12700">
            <a:solidFill>
              <a:srgbClr val="E2E6F2"/>
            </a:solidFill>
            <a:prstDash val="solid"/>
            <a:round/>
            <a:headEnd len="sm" w="sm" type="none"/>
            <a:tailEnd len="sm" w="sm" type="none"/>
          </a:ln>
          <a:effectLst>
            <a:outerShdw blurRad="63500" rotWithShape="0" algn="bl" dir="5400000" dist="25400">
              <a:srgbClr val="1E2761">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47" name="Google Shape;147;h5f98b5e057c13be2_2_9"/>
          <p:cNvSpPr/>
          <p:nvPr/>
        </p:nvSpPr>
        <p:spPr>
          <a:xfrm>
            <a:off x="6181335" y="1737350"/>
            <a:ext cx="5440756" cy="502800"/>
          </a:xfrm>
          <a:prstGeom prst="rect">
            <a:avLst/>
          </a:prstGeom>
          <a:solidFill>
            <a:srgbClr val="3B5B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48" name="Google Shape;148;h5f98b5e057c13be2_2_9"/>
          <p:cNvSpPr/>
          <p:nvPr/>
        </p:nvSpPr>
        <p:spPr>
          <a:xfrm>
            <a:off x="6456808" y="1737350"/>
            <a:ext cx="488945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lang="en-US">
                <a:solidFill>
                  <a:srgbClr val="FFFFFF"/>
                </a:solidFill>
                <a:latin typeface="Calibri"/>
                <a:ea typeface="Calibri"/>
                <a:cs typeface="Calibri"/>
                <a:sym typeface="Calibri"/>
              </a:rPr>
              <a:t>대학 알리미 커리큘럼 데이터</a:t>
            </a:r>
            <a:endParaRPr sz="1400">
              <a:solidFill>
                <a:schemeClr val="dk1"/>
              </a:solidFill>
              <a:latin typeface="Calibri"/>
              <a:ea typeface="Calibri"/>
              <a:cs typeface="Calibri"/>
              <a:sym typeface="Calibri"/>
            </a:endParaRPr>
          </a:p>
        </p:txBody>
      </p:sp>
      <p:sp>
        <p:nvSpPr>
          <p:cNvPr id="149" name="Google Shape;149;h5f98b5e057c13be2_2_9"/>
          <p:cNvSpPr/>
          <p:nvPr/>
        </p:nvSpPr>
        <p:spPr>
          <a:xfrm>
            <a:off x="6484156" y="2515150"/>
            <a:ext cx="81300" cy="80400"/>
          </a:xfrm>
          <a:prstGeom prst="ellipse">
            <a:avLst/>
          </a:prstGeom>
          <a:solidFill>
            <a:srgbClr val="3B5B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50" name="Google Shape;150;h5f98b5e057c13be2_2_9"/>
          <p:cNvSpPr/>
          <p:nvPr/>
        </p:nvSpPr>
        <p:spPr>
          <a:xfrm>
            <a:off x="6759827" y="2423150"/>
            <a:ext cx="4586700" cy="77730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050"/>
              <a:buFont typeface="Calibri"/>
              <a:buNone/>
            </a:pPr>
            <a:r>
              <a:rPr lang="en-US" sz="1200">
                <a:solidFill>
                  <a:schemeClr val="dk1"/>
                </a:solidFill>
                <a:latin typeface="Calibri"/>
                <a:ea typeface="Calibri"/>
                <a:cs typeface="Calibri"/>
                <a:sym typeface="Calibri"/>
              </a:rPr>
              <a:t>대학 알리미 '교육과정_대학.xlsx' 자료 확보</a:t>
            </a:r>
            <a:endParaRPr sz="1200">
              <a:solidFill>
                <a:schemeClr val="dk1"/>
              </a:solidFill>
              <a:latin typeface="Calibri"/>
              <a:ea typeface="Calibri"/>
              <a:cs typeface="Calibri"/>
              <a:sym typeface="Calibri"/>
            </a:endParaRPr>
          </a:p>
          <a:p>
            <a:pPr indent="0" lvl="0" marL="0" rtl="0" algn="l">
              <a:lnSpc>
                <a:spcPct val="108000"/>
              </a:lnSpc>
              <a:spcBef>
                <a:spcPts val="0"/>
              </a:spcBef>
              <a:spcAft>
                <a:spcPts val="0"/>
              </a:spcAft>
              <a:buClr>
                <a:srgbClr val="1F2430"/>
              </a:buClr>
              <a:buSzPts val="1050"/>
              <a:buFont typeface="Calibri"/>
              <a:buNone/>
            </a:pPr>
            <a:r>
              <a:t/>
            </a:r>
            <a:endParaRPr i="1" sz="1200">
              <a:solidFill>
                <a:srgbClr val="1F2430"/>
              </a:solidFill>
              <a:latin typeface="Calibri"/>
              <a:ea typeface="Calibri"/>
              <a:cs typeface="Calibri"/>
              <a:sym typeface="Calibri"/>
            </a:endParaRPr>
          </a:p>
        </p:txBody>
      </p:sp>
      <p:sp>
        <p:nvSpPr>
          <p:cNvPr id="151" name="Google Shape;151;h5f98b5e057c13be2_2_9"/>
          <p:cNvSpPr/>
          <p:nvPr/>
        </p:nvSpPr>
        <p:spPr>
          <a:xfrm>
            <a:off x="6759827" y="3291830"/>
            <a:ext cx="4586700" cy="777300"/>
          </a:xfrm>
          <a:prstGeom prst="rect">
            <a:avLst/>
          </a:prstGeom>
          <a:noFill/>
          <a:ln>
            <a:noFill/>
          </a:ln>
        </p:spPr>
        <p:txBody>
          <a:bodyPr anchorCtr="0" anchor="t" bIns="45700" lIns="91425" spcFirstLastPara="1" rIns="91425" wrap="square" tIns="45700">
            <a:noAutofit/>
          </a:bodyPr>
          <a:lstStyle/>
          <a:p>
            <a:pPr indent="0" lvl="0" marL="0" rtl="0" algn="l">
              <a:lnSpc>
                <a:spcPct val="108000"/>
              </a:lnSpc>
              <a:spcBef>
                <a:spcPts val="0"/>
              </a:spcBef>
              <a:spcAft>
                <a:spcPts val="0"/>
              </a:spcAft>
              <a:buClr>
                <a:srgbClr val="1F2430"/>
              </a:buClr>
              <a:buSzPts val="1050"/>
              <a:buFont typeface="Calibri"/>
              <a:buNone/>
            </a:pPr>
            <a:r>
              <a:rPr lang="en-US" sz="1200">
                <a:solidFill>
                  <a:srgbClr val="1F2430"/>
                </a:solidFill>
                <a:latin typeface="Calibri"/>
                <a:ea typeface="Calibri"/>
                <a:cs typeface="Calibri"/>
                <a:sym typeface="Calibri"/>
              </a:rPr>
              <a:t>서울대 전공 과목만 필터링, 비교과 항목 제거, 컬럼 정리</a:t>
            </a:r>
            <a:endParaRPr sz="1200">
              <a:solidFill>
                <a:srgbClr val="1F2430"/>
              </a:solidFill>
              <a:latin typeface="Calibri"/>
              <a:ea typeface="Calibri"/>
              <a:cs typeface="Calibri"/>
              <a:sym typeface="Calibri"/>
            </a:endParaRPr>
          </a:p>
          <a:p>
            <a:pPr indent="0" lvl="0" marL="0" rtl="0" algn="l">
              <a:lnSpc>
                <a:spcPct val="108000"/>
              </a:lnSpc>
              <a:spcBef>
                <a:spcPts val="0"/>
              </a:spcBef>
              <a:spcAft>
                <a:spcPts val="0"/>
              </a:spcAft>
              <a:buClr>
                <a:srgbClr val="1F2430"/>
              </a:buClr>
              <a:buSzPts val="1050"/>
              <a:buFont typeface="Calibri"/>
              <a:buNone/>
            </a:pPr>
            <a:r>
              <a:rPr i="1" lang="en-US" sz="1200">
                <a:solidFill>
                  <a:srgbClr val="1F2430"/>
                </a:solidFill>
                <a:latin typeface="Calibri"/>
                <a:ea typeface="Calibri"/>
                <a:cs typeface="Calibri"/>
                <a:sym typeface="Calibri"/>
              </a:rPr>
              <a:t>(data/subject_cleaned.csv)</a:t>
            </a:r>
            <a:endParaRPr sz="1200">
              <a:solidFill>
                <a:srgbClr val="1F2430"/>
              </a:solidFill>
              <a:latin typeface="Calibri"/>
              <a:ea typeface="Calibri"/>
              <a:cs typeface="Calibri"/>
              <a:sym typeface="Calibri"/>
            </a:endParaRPr>
          </a:p>
        </p:txBody>
      </p:sp>
      <p:sp>
        <p:nvSpPr>
          <p:cNvPr id="152" name="Google Shape;152;h5f98b5e057c13be2_2_9"/>
          <p:cNvSpPr/>
          <p:nvPr/>
        </p:nvSpPr>
        <p:spPr>
          <a:xfrm>
            <a:off x="6759827" y="4160510"/>
            <a:ext cx="4586700" cy="777300"/>
          </a:xfrm>
          <a:prstGeom prst="rect">
            <a:avLst/>
          </a:prstGeom>
          <a:noFill/>
          <a:ln>
            <a:noFill/>
          </a:ln>
        </p:spPr>
        <p:txBody>
          <a:bodyPr anchorCtr="0" anchor="t" bIns="45700" lIns="91425" spcFirstLastPara="1" rIns="91425" wrap="square" tIns="45700">
            <a:noAutofit/>
          </a:bodyPr>
          <a:lstStyle/>
          <a:p>
            <a:pPr indent="0" lvl="0" marL="0" rtl="0" algn="l">
              <a:lnSpc>
                <a:spcPct val="108000"/>
              </a:lnSpc>
              <a:spcBef>
                <a:spcPts val="0"/>
              </a:spcBef>
              <a:spcAft>
                <a:spcPts val="0"/>
              </a:spcAft>
              <a:buClr>
                <a:srgbClr val="1F2430"/>
              </a:buClr>
              <a:buSzPts val="1050"/>
              <a:buFont typeface="Calibri"/>
              <a:buNone/>
            </a:pPr>
            <a:r>
              <a:rPr lang="en-US" sz="1200">
                <a:solidFill>
                  <a:schemeClr val="dk1"/>
                </a:solidFill>
                <a:latin typeface="Calibri"/>
                <a:ea typeface="Calibri"/>
                <a:cs typeface="Calibri"/>
                <a:sym typeface="Calibri"/>
              </a:rPr>
              <a:t>LLM 을 호출해 전공별 습득 가능 skill 추출</a:t>
            </a:r>
            <a:endParaRPr sz="1200">
              <a:solidFill>
                <a:schemeClr val="dk1"/>
              </a:solidFill>
              <a:latin typeface="Calibri"/>
              <a:ea typeface="Calibri"/>
              <a:cs typeface="Calibri"/>
              <a:sym typeface="Calibri"/>
            </a:endParaRPr>
          </a:p>
          <a:p>
            <a:pPr indent="0" lvl="0" marL="0" rtl="0" algn="l">
              <a:lnSpc>
                <a:spcPct val="108000"/>
              </a:lnSpc>
              <a:spcBef>
                <a:spcPts val="0"/>
              </a:spcBef>
              <a:spcAft>
                <a:spcPts val="0"/>
              </a:spcAft>
              <a:buClr>
                <a:srgbClr val="1F2430"/>
              </a:buClr>
              <a:buSzPts val="1050"/>
              <a:buFont typeface="Calibri"/>
              <a:buNone/>
            </a:pPr>
            <a:r>
              <a:rPr i="1" lang="en-US" sz="1200">
                <a:solidFill>
                  <a:schemeClr val="dk1"/>
                </a:solidFill>
                <a:latin typeface="Calibri"/>
                <a:ea typeface="Calibri"/>
                <a:cs typeface="Calibri"/>
                <a:sym typeface="Calibri"/>
              </a:rPr>
              <a:t>(build_graph_majors.py)</a:t>
            </a:r>
            <a:endParaRPr i="1" sz="12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1F2430"/>
              </a:buClr>
              <a:buSzPts val="1050"/>
              <a:buFont typeface="Calibri"/>
              <a:buNone/>
            </a:pPr>
            <a:r>
              <a:t/>
            </a:r>
            <a:endParaRPr sz="1200">
              <a:solidFill>
                <a:srgbClr val="1F2430"/>
              </a:solidFill>
              <a:latin typeface="Calibri"/>
              <a:ea typeface="Calibri"/>
              <a:cs typeface="Calibri"/>
              <a:sym typeface="Calibri"/>
            </a:endParaRPr>
          </a:p>
        </p:txBody>
      </p:sp>
      <p:sp>
        <p:nvSpPr>
          <p:cNvPr id="153" name="Google Shape;153;h5f98b5e057c13be2_2_9"/>
          <p:cNvSpPr/>
          <p:nvPr/>
        </p:nvSpPr>
        <p:spPr>
          <a:xfrm>
            <a:off x="6484160" y="5126863"/>
            <a:ext cx="81300" cy="63900"/>
          </a:xfrm>
          <a:prstGeom prst="ellipse">
            <a:avLst/>
          </a:prstGeom>
          <a:solidFill>
            <a:srgbClr val="3B5B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54" name="Google Shape;154;h5f98b5e057c13be2_2_9"/>
          <p:cNvSpPr/>
          <p:nvPr/>
        </p:nvSpPr>
        <p:spPr>
          <a:xfrm>
            <a:off x="6759827" y="5029190"/>
            <a:ext cx="4586700" cy="777300"/>
          </a:xfrm>
          <a:prstGeom prst="rect">
            <a:avLst/>
          </a:prstGeom>
          <a:noFill/>
          <a:ln>
            <a:noFill/>
          </a:ln>
        </p:spPr>
        <p:txBody>
          <a:bodyPr anchorCtr="0" anchor="t" bIns="45700" lIns="91425" spcFirstLastPara="1" rIns="91425" wrap="square" tIns="45700">
            <a:noAutofit/>
          </a:bodyPr>
          <a:lstStyle/>
          <a:p>
            <a:pPr indent="0" lvl="0" marL="0" rtl="0" algn="l">
              <a:lnSpc>
                <a:spcPct val="108000"/>
              </a:lnSpc>
              <a:spcBef>
                <a:spcPts val="0"/>
              </a:spcBef>
              <a:spcAft>
                <a:spcPts val="0"/>
              </a:spcAft>
              <a:buClr>
                <a:srgbClr val="1F2430"/>
              </a:buClr>
              <a:buSzPts val="1050"/>
              <a:buFont typeface="Calibri"/>
              <a:buNone/>
            </a:pPr>
            <a:r>
              <a:rPr lang="en-US" sz="1200">
                <a:solidFill>
                  <a:schemeClr val="dk1"/>
                </a:solidFill>
                <a:latin typeface="Calibri"/>
                <a:ea typeface="Calibri"/>
                <a:cs typeface="Calibri"/>
                <a:sym typeface="Calibri"/>
              </a:rPr>
              <a:t>각기 다른 이름의 skill 들을 어휘 사전-</a:t>
            </a:r>
            <a:r>
              <a:rPr i="1" lang="en-US" sz="1200">
                <a:solidFill>
                  <a:schemeClr val="dk1"/>
                </a:solidFill>
                <a:latin typeface="Calibri"/>
                <a:ea typeface="Calibri"/>
                <a:cs typeface="Calibri"/>
                <a:sym typeface="Calibri"/>
              </a:rPr>
              <a:t>vocab.py</a:t>
            </a:r>
            <a:r>
              <a:rPr lang="en-US" sz="1200">
                <a:solidFill>
                  <a:schemeClr val="dk1"/>
                </a:solidFill>
                <a:latin typeface="Calibri"/>
                <a:ea typeface="Calibri"/>
                <a:cs typeface="Calibri"/>
                <a:sym typeface="Calibri"/>
              </a:rPr>
              <a:t>-의 내용으로 통일</a:t>
            </a:r>
            <a:endParaRPr sz="1200">
              <a:solidFill>
                <a:schemeClr val="dk1"/>
              </a:solidFill>
              <a:latin typeface="Calibri"/>
              <a:ea typeface="Calibri"/>
              <a:cs typeface="Calibri"/>
              <a:sym typeface="Calibri"/>
            </a:endParaRPr>
          </a:p>
          <a:p>
            <a:pPr indent="0" lvl="0" marL="0" rtl="0" algn="l">
              <a:lnSpc>
                <a:spcPct val="108000"/>
              </a:lnSpc>
              <a:spcBef>
                <a:spcPts val="0"/>
              </a:spcBef>
              <a:spcAft>
                <a:spcPts val="0"/>
              </a:spcAft>
              <a:buClr>
                <a:srgbClr val="1F2430"/>
              </a:buClr>
              <a:buSzPts val="1050"/>
              <a:buFont typeface="Calibri"/>
              <a:buNone/>
            </a:pPr>
            <a:r>
              <a:rPr i="1" lang="en-US" sz="1200">
                <a:solidFill>
                  <a:schemeClr val="dk1"/>
                </a:solidFill>
                <a:latin typeface="Calibri"/>
                <a:ea typeface="Calibri"/>
                <a:cs typeface="Calibri"/>
                <a:sym typeface="Calibri"/>
              </a:rPr>
              <a:t>(build_graph_majors.py)</a:t>
            </a:r>
            <a:endParaRPr sz="1200">
              <a:solidFill>
                <a:srgbClr val="1F2430"/>
              </a:solidFill>
              <a:latin typeface="Calibri"/>
              <a:ea typeface="Calibri"/>
              <a:cs typeface="Calibri"/>
              <a:sym typeface="Calibri"/>
            </a:endParaRPr>
          </a:p>
        </p:txBody>
      </p:sp>
      <p:sp>
        <p:nvSpPr>
          <p:cNvPr id="155" name="Google Shape;155;h5f98b5e057c13be2_2_9"/>
          <p:cNvSpPr/>
          <p:nvPr/>
        </p:nvSpPr>
        <p:spPr>
          <a:xfrm>
            <a:off x="11277295" y="6473952"/>
            <a:ext cx="4572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072"/>
              </a:buClr>
              <a:buSzPts val="900"/>
              <a:buFont typeface="Calibri"/>
              <a:buNone/>
            </a:pPr>
            <a:r>
              <a:rPr lang="en-US" sz="900">
                <a:solidFill>
                  <a:srgbClr val="5A6072"/>
                </a:solidFill>
                <a:latin typeface="Calibri"/>
                <a:ea typeface="Calibri"/>
                <a:cs typeface="Calibri"/>
                <a:sym typeface="Calibri"/>
              </a:rPr>
              <a:t>4</a:t>
            </a:r>
            <a:endParaRPr sz="900">
              <a:solidFill>
                <a:schemeClr val="dk1"/>
              </a:solidFill>
              <a:latin typeface="Calibri"/>
              <a:ea typeface="Calibri"/>
              <a:cs typeface="Calibri"/>
              <a:sym typeface="Calibri"/>
            </a:endParaRPr>
          </a:p>
        </p:txBody>
      </p:sp>
      <p:sp>
        <p:nvSpPr>
          <p:cNvPr id="156" name="Google Shape;156;h5f98b5e057c13be2_2_9"/>
          <p:cNvSpPr/>
          <p:nvPr/>
        </p:nvSpPr>
        <p:spPr>
          <a:xfrm>
            <a:off x="457200" y="6473952"/>
            <a:ext cx="8686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072"/>
              </a:buClr>
              <a:buSzPts val="900"/>
              <a:buFont typeface="Calibri"/>
              <a:buNone/>
            </a:pPr>
            <a:r>
              <a:rPr lang="en-US" sz="900">
                <a:solidFill>
                  <a:srgbClr val="5A6072"/>
                </a:solidFill>
                <a:latin typeface="Calibri"/>
                <a:ea typeface="Calibri"/>
                <a:cs typeface="Calibri"/>
                <a:sym typeface="Calibri"/>
              </a:rPr>
              <a:t>LG CNS AI캠퍼스 · Knowledge Graph 과정 mini project 1 - LG 직무 추천 AI Agent</a:t>
            </a:r>
            <a:endParaRPr sz="900">
              <a:solidFill>
                <a:schemeClr val="dk1"/>
              </a:solidFill>
              <a:latin typeface="Calibri"/>
              <a:ea typeface="Calibri"/>
              <a:cs typeface="Calibri"/>
              <a:sym typeface="Calibri"/>
            </a:endParaRPr>
          </a:p>
        </p:txBody>
      </p:sp>
      <p:sp>
        <p:nvSpPr>
          <p:cNvPr id="157" name="Google Shape;157;h5f98b5e057c13be2_2_9"/>
          <p:cNvSpPr/>
          <p:nvPr/>
        </p:nvSpPr>
        <p:spPr>
          <a:xfrm>
            <a:off x="6484150" y="3383636"/>
            <a:ext cx="81300" cy="80400"/>
          </a:xfrm>
          <a:prstGeom prst="ellipse">
            <a:avLst/>
          </a:prstGeom>
          <a:solidFill>
            <a:srgbClr val="3B5B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58" name="Google Shape;158;h5f98b5e057c13be2_2_9"/>
          <p:cNvSpPr/>
          <p:nvPr/>
        </p:nvSpPr>
        <p:spPr>
          <a:xfrm>
            <a:off x="6483773" y="4252123"/>
            <a:ext cx="81300" cy="80400"/>
          </a:xfrm>
          <a:prstGeom prst="ellipse">
            <a:avLst/>
          </a:prstGeom>
          <a:solidFill>
            <a:srgbClr val="3B5B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59" name="Google Shape;159;h5f98b5e057c13be2_2_9"/>
          <p:cNvSpPr/>
          <p:nvPr/>
        </p:nvSpPr>
        <p:spPr>
          <a:xfrm>
            <a:off x="6483110" y="5120609"/>
            <a:ext cx="81300" cy="80400"/>
          </a:xfrm>
          <a:prstGeom prst="ellipse">
            <a:avLst/>
          </a:prstGeom>
          <a:solidFill>
            <a:srgbClr val="3B5B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C"/>
        </a:solidFill>
      </p:bgPr>
    </p:bg>
    <p:spTree>
      <p:nvGrpSpPr>
        <p:cNvPr id="164" name="Shape 164"/>
        <p:cNvGrpSpPr/>
        <p:nvPr/>
      </p:nvGrpSpPr>
      <p:grpSpPr>
        <a:xfrm>
          <a:off x="0" y="0"/>
          <a:ext cx="0" cy="0"/>
          <a:chOff x="0" y="0"/>
          <a:chExt cx="0" cy="0"/>
        </a:xfrm>
      </p:grpSpPr>
      <p:sp>
        <p:nvSpPr>
          <p:cNvPr id="165" name="Google Shape;165;p4"/>
          <p:cNvSpPr/>
          <p:nvPr/>
        </p:nvSpPr>
        <p:spPr>
          <a:xfrm>
            <a:off x="457200" y="373346"/>
            <a:ext cx="914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574A"/>
              </a:buClr>
              <a:buSzPts val="2000"/>
              <a:buFont typeface="Calibri"/>
              <a:buNone/>
            </a:pPr>
            <a:r>
              <a:rPr b="1" lang="en-US" sz="2000">
                <a:solidFill>
                  <a:srgbClr val="E8574A"/>
                </a:solidFill>
                <a:latin typeface="Calibri"/>
                <a:ea typeface="Calibri"/>
                <a:cs typeface="Calibri"/>
                <a:sym typeface="Calibri"/>
              </a:rPr>
              <a:t>04</a:t>
            </a:r>
            <a:endParaRPr sz="2000">
              <a:solidFill>
                <a:schemeClr val="dk1"/>
              </a:solidFill>
              <a:latin typeface="Calibri"/>
              <a:ea typeface="Calibri"/>
              <a:cs typeface="Calibri"/>
              <a:sym typeface="Calibri"/>
            </a:endParaRPr>
          </a:p>
        </p:txBody>
      </p:sp>
      <p:sp>
        <p:nvSpPr>
          <p:cNvPr id="166" name="Google Shape;166;p4"/>
          <p:cNvSpPr/>
          <p:nvPr/>
        </p:nvSpPr>
        <p:spPr>
          <a:xfrm>
            <a:off x="457200" y="713232"/>
            <a:ext cx="100584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600"/>
              <a:buFont typeface="Calibri"/>
              <a:buNone/>
            </a:pPr>
            <a:r>
              <a:rPr b="1" lang="en-US" sz="2600">
                <a:solidFill>
                  <a:srgbClr val="1E2761"/>
                </a:solidFill>
                <a:latin typeface="Calibri"/>
                <a:ea typeface="Calibri"/>
                <a:cs typeface="Calibri"/>
                <a:sym typeface="Calibri"/>
              </a:rPr>
              <a:t>서비스 구조 — 오프라인 지도 만들기, 온라인 지도 읽기</a:t>
            </a:r>
            <a:endParaRPr sz="2600">
              <a:solidFill>
                <a:schemeClr val="dk1"/>
              </a:solidFill>
              <a:latin typeface="Calibri"/>
              <a:ea typeface="Calibri"/>
              <a:cs typeface="Calibri"/>
              <a:sym typeface="Calibri"/>
            </a:endParaRPr>
          </a:p>
        </p:txBody>
      </p:sp>
      <p:sp>
        <p:nvSpPr>
          <p:cNvPr id="167" name="Google Shape;167;p4"/>
          <p:cNvSpPr/>
          <p:nvPr/>
        </p:nvSpPr>
        <p:spPr>
          <a:xfrm>
            <a:off x="457200" y="1249817"/>
            <a:ext cx="103326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072"/>
              </a:buClr>
              <a:buSzPts val="1300"/>
              <a:buFont typeface="Calibri"/>
              <a:buNone/>
            </a:pPr>
            <a:r>
              <a:rPr lang="en-US" sz="1300">
                <a:solidFill>
                  <a:srgbClr val="5A6072"/>
                </a:solidFill>
                <a:latin typeface="Calibri"/>
                <a:ea typeface="Calibri"/>
                <a:cs typeface="Calibri"/>
                <a:sym typeface="Calibri"/>
              </a:rPr>
              <a:t>지식그래프를 한 번 만들고, 학생이 올 때마다 그래프</a:t>
            </a:r>
            <a:r>
              <a:rPr lang="en-US" sz="1300">
                <a:solidFill>
                  <a:srgbClr val="5A6072"/>
                </a:solidFill>
                <a:latin typeface="Calibri"/>
                <a:ea typeface="Calibri"/>
                <a:cs typeface="Calibri"/>
                <a:sym typeface="Calibri"/>
              </a:rPr>
              <a:t>를</a:t>
            </a:r>
            <a:r>
              <a:rPr lang="en-US" sz="1300">
                <a:solidFill>
                  <a:srgbClr val="5A6072"/>
                </a:solidFill>
                <a:latin typeface="Calibri"/>
                <a:ea typeface="Calibri"/>
                <a:cs typeface="Calibri"/>
                <a:sym typeface="Calibri"/>
              </a:rPr>
              <a:t> 읽는다</a:t>
            </a:r>
            <a:endParaRPr sz="1300">
              <a:solidFill>
                <a:schemeClr val="dk1"/>
              </a:solidFill>
              <a:latin typeface="Calibri"/>
              <a:ea typeface="Calibri"/>
              <a:cs typeface="Calibri"/>
              <a:sym typeface="Calibri"/>
            </a:endParaRPr>
          </a:p>
        </p:txBody>
      </p:sp>
      <p:sp>
        <p:nvSpPr>
          <p:cNvPr id="168" name="Google Shape;168;p4"/>
          <p:cNvSpPr/>
          <p:nvPr/>
        </p:nvSpPr>
        <p:spPr>
          <a:xfrm rot="-1690715">
            <a:off x="11397243" y="562356"/>
            <a:ext cx="290457" cy="18288"/>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4"/>
          <p:cNvSpPr/>
          <p:nvPr/>
        </p:nvSpPr>
        <p:spPr>
          <a:xfrm rot="1690715">
            <a:off x="11397243" y="699516"/>
            <a:ext cx="290457" cy="18288"/>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4"/>
          <p:cNvSpPr/>
          <p:nvPr/>
        </p:nvSpPr>
        <p:spPr>
          <a:xfrm>
            <a:off x="11359591" y="585216"/>
            <a:ext cx="109728" cy="109728"/>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4"/>
          <p:cNvSpPr/>
          <p:nvPr/>
        </p:nvSpPr>
        <p:spPr>
          <a:xfrm>
            <a:off x="11615623" y="448056"/>
            <a:ext cx="109728" cy="109728"/>
          </a:xfrm>
          <a:prstGeom prst="ellipse">
            <a:avLst/>
          </a:prstGeom>
          <a:solidFill>
            <a:srgbClr val="E857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4"/>
          <p:cNvSpPr/>
          <p:nvPr/>
        </p:nvSpPr>
        <p:spPr>
          <a:xfrm>
            <a:off x="11615623" y="722376"/>
            <a:ext cx="109728" cy="109728"/>
          </a:xfrm>
          <a:prstGeom prst="ellipse">
            <a:avLst/>
          </a:prstGeom>
          <a:solidFill>
            <a:srgbClr val="2F9E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4"/>
          <p:cNvSpPr/>
          <p:nvPr/>
        </p:nvSpPr>
        <p:spPr>
          <a:xfrm>
            <a:off x="472438" y="1672385"/>
            <a:ext cx="11247000" cy="1828800"/>
          </a:xfrm>
          <a:prstGeom prst="roundRect">
            <a:avLst>
              <a:gd fmla="val 4000" name="adj"/>
            </a:avLst>
          </a:prstGeom>
          <a:solidFill>
            <a:srgbClr val="FFFFFF"/>
          </a:solidFill>
          <a:ln cap="flat" cmpd="sng" w="12700">
            <a:solidFill>
              <a:srgbClr val="E2E6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4"/>
          <p:cNvSpPr/>
          <p:nvPr/>
        </p:nvSpPr>
        <p:spPr>
          <a:xfrm>
            <a:off x="701038" y="1758707"/>
            <a:ext cx="5486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574A"/>
              </a:buClr>
              <a:buSzPts val="1200"/>
              <a:buFont typeface="Calibri"/>
              <a:buNone/>
            </a:pPr>
            <a:r>
              <a:rPr b="1" lang="en-US" sz="1200">
                <a:solidFill>
                  <a:srgbClr val="E8574A"/>
                </a:solidFill>
                <a:latin typeface="Calibri"/>
                <a:ea typeface="Calibri"/>
                <a:cs typeface="Calibri"/>
                <a:sym typeface="Calibri"/>
              </a:rPr>
              <a:t>OFFLINE · 배치 (</a:t>
            </a:r>
            <a:r>
              <a:rPr b="1" lang="en-US" sz="1200">
                <a:solidFill>
                  <a:srgbClr val="E8574A"/>
                </a:solidFill>
                <a:latin typeface="Calibri"/>
                <a:ea typeface="Calibri"/>
                <a:cs typeface="Calibri"/>
                <a:sym typeface="Calibri"/>
              </a:rPr>
              <a:t>갱신이 필요할 때 </a:t>
            </a:r>
            <a:r>
              <a:rPr b="1" lang="en-US" sz="1200">
                <a:solidFill>
                  <a:srgbClr val="E8574A"/>
                </a:solidFill>
                <a:latin typeface="Calibri"/>
                <a:ea typeface="Calibri"/>
                <a:cs typeface="Calibri"/>
                <a:sym typeface="Calibri"/>
              </a:rPr>
              <a:t>한 번, LLM 277회, 캐시</a:t>
            </a:r>
            <a:r>
              <a:rPr b="1" lang="en-US" sz="1200">
                <a:solidFill>
                  <a:srgbClr val="E8574A"/>
                </a:solidFill>
                <a:latin typeface="Calibri"/>
                <a:ea typeface="Calibri"/>
                <a:cs typeface="Calibri"/>
                <a:sym typeface="Calibri"/>
              </a:rPr>
              <a:t>됨</a:t>
            </a:r>
            <a:r>
              <a:rPr b="1" lang="en-US" sz="1200">
                <a:solidFill>
                  <a:srgbClr val="E8574A"/>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
        <p:nvSpPr>
          <p:cNvPr id="175" name="Google Shape;175;p4"/>
          <p:cNvSpPr/>
          <p:nvPr/>
        </p:nvSpPr>
        <p:spPr>
          <a:xfrm>
            <a:off x="701038" y="2051875"/>
            <a:ext cx="2377500" cy="592800"/>
          </a:xfrm>
          <a:prstGeom prst="roundRect">
            <a:avLst>
              <a:gd fmla="val 6316" name="adj"/>
            </a:avLst>
          </a:prstGeom>
          <a:solidFill>
            <a:srgbClr val="FBF2F1"/>
          </a:solidFill>
          <a:ln cap="flat" cmpd="sng" w="12700">
            <a:solidFill>
              <a:srgbClr val="E857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4"/>
          <p:cNvSpPr/>
          <p:nvPr/>
        </p:nvSpPr>
        <p:spPr>
          <a:xfrm>
            <a:off x="792538" y="2051800"/>
            <a:ext cx="2194500" cy="59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2430"/>
              </a:buClr>
              <a:buSzPts val="1050"/>
              <a:buFont typeface="Calibri"/>
              <a:buNone/>
            </a:pPr>
            <a:r>
              <a:rPr lang="en-US" sz="1250">
                <a:solidFill>
                  <a:srgbClr val="1F2430"/>
                </a:solidFill>
                <a:latin typeface="Calibri"/>
                <a:ea typeface="Calibri"/>
                <a:cs typeface="Calibri"/>
                <a:sym typeface="Calibri"/>
              </a:rPr>
              <a:t>서울대 교육과정</a:t>
            </a:r>
            <a:endParaRPr sz="1250">
              <a:solidFill>
                <a:schemeClr val="dk1"/>
              </a:solidFill>
              <a:latin typeface="Calibri"/>
              <a:ea typeface="Calibri"/>
              <a:cs typeface="Calibri"/>
              <a:sym typeface="Calibri"/>
            </a:endParaRPr>
          </a:p>
          <a:p>
            <a:pPr indent="0" lvl="0" marL="0" marR="0" rtl="0" algn="ctr">
              <a:spcBef>
                <a:spcPts val="0"/>
              </a:spcBef>
              <a:spcAft>
                <a:spcPts val="0"/>
              </a:spcAft>
              <a:buClr>
                <a:srgbClr val="1F2430"/>
              </a:buClr>
              <a:buSzPts val="1050"/>
              <a:buFont typeface="Calibri"/>
              <a:buNone/>
            </a:pPr>
            <a:r>
              <a:rPr lang="en-US" sz="1250">
                <a:solidFill>
                  <a:srgbClr val="1F2430"/>
                </a:solidFill>
                <a:latin typeface="Calibri"/>
                <a:ea typeface="Calibri"/>
                <a:cs typeface="Calibri"/>
                <a:sym typeface="Calibri"/>
              </a:rPr>
              <a:t>(105개 전공 · 3,829과목)</a:t>
            </a:r>
            <a:endParaRPr sz="1250">
              <a:solidFill>
                <a:schemeClr val="dk1"/>
              </a:solidFill>
              <a:latin typeface="Calibri"/>
              <a:ea typeface="Calibri"/>
              <a:cs typeface="Calibri"/>
              <a:sym typeface="Calibri"/>
            </a:endParaRPr>
          </a:p>
        </p:txBody>
      </p:sp>
      <p:sp>
        <p:nvSpPr>
          <p:cNvPr id="177" name="Google Shape;177;p4"/>
          <p:cNvSpPr/>
          <p:nvPr/>
        </p:nvSpPr>
        <p:spPr>
          <a:xfrm>
            <a:off x="701038" y="2748150"/>
            <a:ext cx="2377500" cy="592800"/>
          </a:xfrm>
          <a:prstGeom prst="roundRect">
            <a:avLst>
              <a:gd fmla="val 6316" name="adj"/>
            </a:avLst>
          </a:prstGeom>
          <a:solidFill>
            <a:srgbClr val="FBF2F1"/>
          </a:solidFill>
          <a:ln cap="flat" cmpd="sng" w="12700">
            <a:solidFill>
              <a:srgbClr val="E857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4"/>
          <p:cNvSpPr/>
          <p:nvPr/>
        </p:nvSpPr>
        <p:spPr>
          <a:xfrm>
            <a:off x="792538" y="2755010"/>
            <a:ext cx="2194500" cy="59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2430"/>
              </a:buClr>
              <a:buSzPts val="1050"/>
              <a:buFont typeface="Calibri"/>
              <a:buNone/>
            </a:pPr>
            <a:r>
              <a:rPr lang="en-US" sz="1250">
                <a:solidFill>
                  <a:srgbClr val="1F2430"/>
                </a:solidFill>
                <a:latin typeface="Calibri"/>
                <a:ea typeface="Calibri"/>
                <a:cs typeface="Calibri"/>
                <a:sym typeface="Calibri"/>
              </a:rPr>
              <a:t>LG 채용 공고</a:t>
            </a:r>
            <a:endParaRPr sz="1250">
              <a:solidFill>
                <a:schemeClr val="dk1"/>
              </a:solidFill>
              <a:latin typeface="Calibri"/>
              <a:ea typeface="Calibri"/>
              <a:cs typeface="Calibri"/>
              <a:sym typeface="Calibri"/>
            </a:endParaRPr>
          </a:p>
          <a:p>
            <a:pPr indent="0" lvl="0" marL="0" marR="0" rtl="0" algn="ctr">
              <a:spcBef>
                <a:spcPts val="0"/>
              </a:spcBef>
              <a:spcAft>
                <a:spcPts val="0"/>
              </a:spcAft>
              <a:buClr>
                <a:srgbClr val="1F2430"/>
              </a:buClr>
              <a:buSzPts val="1050"/>
              <a:buFont typeface="Calibri"/>
              <a:buNone/>
            </a:pPr>
            <a:r>
              <a:rPr lang="en-US" sz="1250">
                <a:solidFill>
                  <a:srgbClr val="1F2430"/>
                </a:solidFill>
                <a:latin typeface="Calibri"/>
                <a:ea typeface="Calibri"/>
                <a:cs typeface="Calibri"/>
                <a:sym typeface="Calibri"/>
              </a:rPr>
              <a:t>(9개 계열사 · 172개 직무)</a:t>
            </a:r>
            <a:endParaRPr sz="1250">
              <a:solidFill>
                <a:schemeClr val="dk1"/>
              </a:solidFill>
              <a:latin typeface="Calibri"/>
              <a:ea typeface="Calibri"/>
              <a:cs typeface="Calibri"/>
              <a:sym typeface="Calibri"/>
            </a:endParaRPr>
          </a:p>
        </p:txBody>
      </p:sp>
      <p:grpSp>
        <p:nvGrpSpPr>
          <p:cNvPr id="179" name="Google Shape;179;p4"/>
          <p:cNvGrpSpPr/>
          <p:nvPr/>
        </p:nvGrpSpPr>
        <p:grpSpPr>
          <a:xfrm>
            <a:off x="5994016" y="2230117"/>
            <a:ext cx="2331600" cy="868863"/>
            <a:chOff x="5851465" y="2230117"/>
            <a:chExt cx="2331600" cy="868863"/>
          </a:xfrm>
        </p:grpSpPr>
        <p:sp>
          <p:nvSpPr>
            <p:cNvPr id="180" name="Google Shape;180;p4"/>
            <p:cNvSpPr/>
            <p:nvPr/>
          </p:nvSpPr>
          <p:spPr>
            <a:xfrm>
              <a:off x="5851465" y="2230117"/>
              <a:ext cx="2331600" cy="868800"/>
            </a:xfrm>
            <a:prstGeom prst="roundRect">
              <a:avLst>
                <a:gd fmla="val 6316" name="adj"/>
              </a:avLst>
            </a:prstGeom>
            <a:solidFill>
              <a:srgbClr val="EDEBFA"/>
            </a:solidFill>
            <a:ln cap="flat" cmpd="sng" w="12700">
              <a:solidFill>
                <a:srgbClr val="3B5BD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4"/>
            <p:cNvSpPr/>
            <p:nvPr/>
          </p:nvSpPr>
          <p:spPr>
            <a:xfrm>
              <a:off x="5945235" y="2230180"/>
              <a:ext cx="2148900" cy="868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2430"/>
                </a:buClr>
                <a:buSzPts val="1050"/>
                <a:buFont typeface="Calibri"/>
                <a:buNone/>
              </a:pPr>
              <a:r>
                <a:rPr lang="en-US" sz="1250">
                  <a:solidFill>
                    <a:srgbClr val="1F2430"/>
                  </a:solidFill>
                  <a:latin typeface="Calibri"/>
                  <a:ea typeface="Calibri"/>
                  <a:cs typeface="Calibri"/>
                  <a:sym typeface="Calibri"/>
                </a:rPr>
                <a:t>통제 어휘(사전) 및 </a:t>
              </a:r>
              <a:endParaRPr sz="1250">
                <a:solidFill>
                  <a:srgbClr val="1F2430"/>
                </a:solidFill>
                <a:latin typeface="Calibri"/>
                <a:ea typeface="Calibri"/>
                <a:cs typeface="Calibri"/>
                <a:sym typeface="Calibri"/>
              </a:endParaRPr>
            </a:p>
            <a:p>
              <a:pPr indent="0" lvl="0" marL="0" marR="0" rtl="0" algn="ctr">
                <a:spcBef>
                  <a:spcPts val="0"/>
                </a:spcBef>
                <a:spcAft>
                  <a:spcPts val="0"/>
                </a:spcAft>
                <a:buClr>
                  <a:srgbClr val="1F2430"/>
                </a:buClr>
                <a:buSzPts val="1050"/>
                <a:buFont typeface="Calibri"/>
                <a:buNone/>
              </a:pPr>
              <a:r>
                <a:rPr lang="en-US" sz="1250">
                  <a:solidFill>
                    <a:srgbClr val="1F2430"/>
                  </a:solidFill>
                  <a:latin typeface="Calibri"/>
                  <a:ea typeface="Calibri"/>
                  <a:cs typeface="Calibri"/>
                  <a:sym typeface="Calibri"/>
                </a:rPr>
                <a:t>온톨로지 계층으로 어휘 통일</a:t>
              </a:r>
              <a:endParaRPr sz="1250">
                <a:solidFill>
                  <a:schemeClr val="dk1"/>
                </a:solidFill>
                <a:latin typeface="Calibri"/>
                <a:ea typeface="Calibri"/>
                <a:cs typeface="Calibri"/>
                <a:sym typeface="Calibri"/>
              </a:endParaRPr>
            </a:p>
          </p:txBody>
        </p:sp>
      </p:grpSp>
      <p:sp>
        <p:nvSpPr>
          <p:cNvPr id="182" name="Google Shape;182;p4"/>
          <p:cNvSpPr/>
          <p:nvPr/>
        </p:nvSpPr>
        <p:spPr>
          <a:xfrm>
            <a:off x="8441472" y="2554714"/>
            <a:ext cx="201300" cy="219600"/>
          </a:xfrm>
          <a:prstGeom prst="chevron">
            <a:avLst>
              <a:gd fmla="val 50000" name="adj"/>
            </a:avLst>
          </a:prstGeom>
          <a:solidFill>
            <a:srgbClr val="B7AE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3" name="Google Shape;183;p4"/>
          <p:cNvGrpSpPr/>
          <p:nvPr/>
        </p:nvGrpSpPr>
        <p:grpSpPr>
          <a:xfrm>
            <a:off x="8758629" y="2230175"/>
            <a:ext cx="2666294" cy="868800"/>
            <a:chOff x="8544353" y="2230180"/>
            <a:chExt cx="2880300" cy="868800"/>
          </a:xfrm>
        </p:grpSpPr>
        <p:sp>
          <p:nvSpPr>
            <p:cNvPr id="184" name="Google Shape;184;p4"/>
            <p:cNvSpPr/>
            <p:nvPr/>
          </p:nvSpPr>
          <p:spPr>
            <a:xfrm>
              <a:off x="8544353" y="2230180"/>
              <a:ext cx="2880300" cy="868800"/>
            </a:xfrm>
            <a:prstGeom prst="roundRect">
              <a:avLst>
                <a:gd fmla="val 6316" name="adj"/>
              </a:avLst>
            </a:prstGeom>
            <a:solidFill>
              <a:srgbClr val="E8F3EC"/>
            </a:solidFill>
            <a:ln cap="flat" cmpd="sng" w="12700">
              <a:solidFill>
                <a:srgbClr val="2F9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4"/>
            <p:cNvSpPr/>
            <p:nvPr/>
          </p:nvSpPr>
          <p:spPr>
            <a:xfrm>
              <a:off x="8634670" y="2230180"/>
              <a:ext cx="2697600" cy="868800"/>
            </a:xfrm>
            <a:prstGeom prst="rect">
              <a:avLst/>
            </a:prstGeom>
            <a:no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Clr>
                  <a:srgbClr val="1E2761"/>
                </a:buClr>
                <a:buSzPts val="1050"/>
                <a:buFont typeface="Calibri"/>
                <a:buNone/>
              </a:pPr>
              <a:r>
                <a:rPr b="1" lang="en-US" sz="1150">
                  <a:solidFill>
                    <a:srgbClr val="1E2761"/>
                  </a:solidFill>
                  <a:latin typeface="Calibri"/>
                  <a:ea typeface="Calibri"/>
                  <a:cs typeface="Calibri"/>
                  <a:sym typeface="Calibri"/>
                </a:rPr>
                <a:t>지식 그래프 graph.json 완성</a:t>
              </a:r>
              <a:endParaRPr b="1" sz="1150">
                <a:solidFill>
                  <a:srgbClr val="1E2761"/>
                </a:solidFill>
                <a:latin typeface="Calibri"/>
                <a:ea typeface="Calibri"/>
                <a:cs typeface="Calibri"/>
                <a:sym typeface="Calibri"/>
              </a:endParaRPr>
            </a:p>
            <a:p>
              <a:pPr indent="0" lvl="0" marL="0" marR="0" rtl="0" algn="ctr">
                <a:lnSpc>
                  <a:spcPct val="100000"/>
                </a:lnSpc>
                <a:spcBef>
                  <a:spcPts val="0"/>
                </a:spcBef>
                <a:spcAft>
                  <a:spcPts val="0"/>
                </a:spcAft>
                <a:buClr>
                  <a:srgbClr val="1E2761"/>
                </a:buClr>
                <a:buSzPts val="1050"/>
                <a:buFont typeface="Calibri"/>
                <a:buNone/>
              </a:pPr>
              <a:r>
                <a:rPr b="1" lang="en-US" sz="1350">
                  <a:solidFill>
                    <a:schemeClr val="lt1"/>
                  </a:solidFill>
                  <a:highlight>
                    <a:srgbClr val="2F9E63"/>
                  </a:highlight>
                  <a:latin typeface="Calibri"/>
                  <a:ea typeface="Calibri"/>
                  <a:cs typeface="Calibri"/>
                  <a:sym typeface="Calibri"/>
                </a:rPr>
                <a:t>전공</a:t>
              </a:r>
              <a:r>
                <a:rPr b="1" lang="en-US" sz="1350">
                  <a:solidFill>
                    <a:schemeClr val="lt1"/>
                  </a:solidFill>
                  <a:latin typeface="Calibri"/>
                  <a:ea typeface="Calibri"/>
                  <a:cs typeface="Calibri"/>
                  <a:sym typeface="Calibri"/>
                </a:rPr>
                <a:t> </a:t>
              </a:r>
              <a:r>
                <a:rPr b="1" lang="en-US" sz="1350">
                  <a:solidFill>
                    <a:srgbClr val="1E2761"/>
                  </a:solidFill>
                  <a:latin typeface="Calibri"/>
                  <a:ea typeface="Calibri"/>
                  <a:cs typeface="Calibri"/>
                  <a:sym typeface="Calibri"/>
                </a:rPr>
                <a:t> →  </a:t>
              </a:r>
              <a:r>
                <a:rPr b="1" lang="en-US" sz="1350">
                  <a:solidFill>
                    <a:schemeClr val="lt1"/>
                  </a:solidFill>
                  <a:highlight>
                    <a:srgbClr val="1E2761"/>
                  </a:highlight>
                  <a:latin typeface="Calibri"/>
                  <a:ea typeface="Calibri"/>
                  <a:cs typeface="Calibri"/>
                  <a:sym typeface="Calibri"/>
                </a:rPr>
                <a:t>역량</a:t>
              </a:r>
              <a:r>
                <a:rPr b="1" lang="en-US" sz="1350">
                  <a:solidFill>
                    <a:srgbClr val="1E2761"/>
                  </a:solidFill>
                  <a:latin typeface="Calibri"/>
                  <a:ea typeface="Calibri"/>
                  <a:cs typeface="Calibri"/>
                  <a:sym typeface="Calibri"/>
                </a:rPr>
                <a:t>  ←  </a:t>
              </a:r>
              <a:r>
                <a:rPr b="1" lang="en-US" sz="1350">
                  <a:solidFill>
                    <a:schemeClr val="lt1"/>
                  </a:solidFill>
                  <a:highlight>
                    <a:srgbClr val="E8574A"/>
                  </a:highlight>
                  <a:latin typeface="Calibri"/>
                  <a:ea typeface="Calibri"/>
                  <a:cs typeface="Calibri"/>
                  <a:sym typeface="Calibri"/>
                </a:rPr>
                <a:t>직무</a:t>
              </a:r>
              <a:endParaRPr b="1" sz="1350">
                <a:solidFill>
                  <a:schemeClr val="lt1"/>
                </a:solidFill>
                <a:highlight>
                  <a:srgbClr val="E8574A"/>
                </a:highlight>
                <a:latin typeface="Calibri"/>
                <a:ea typeface="Calibri"/>
                <a:cs typeface="Calibri"/>
                <a:sym typeface="Calibri"/>
              </a:endParaRPr>
            </a:p>
            <a:p>
              <a:pPr indent="0" lvl="0" marL="0" rtl="0" algn="ctr">
                <a:spcBef>
                  <a:spcPts val="0"/>
                </a:spcBef>
                <a:spcAft>
                  <a:spcPts val="0"/>
                </a:spcAft>
                <a:buClr>
                  <a:srgbClr val="1E2761"/>
                </a:buClr>
                <a:buSzPts val="1050"/>
                <a:buFont typeface="Calibri"/>
                <a:buNone/>
              </a:pPr>
              <a:r>
                <a:rPr b="1" lang="en-US" sz="1000">
                  <a:solidFill>
                    <a:srgbClr val="1E2761"/>
                  </a:solidFill>
                  <a:latin typeface="Calibri"/>
                  <a:ea typeface="Calibri"/>
                  <a:cs typeface="Calibri"/>
                  <a:sym typeface="Calibri"/>
                </a:rPr>
                <a:t>(61</a:t>
              </a:r>
              <a:r>
                <a:rPr b="1" lang="en-US" sz="1000">
                  <a:solidFill>
                    <a:srgbClr val="1E2761"/>
                  </a:solidFill>
                  <a:latin typeface="Calibri"/>
                  <a:ea typeface="Calibri"/>
                  <a:cs typeface="Calibri"/>
                  <a:sym typeface="Calibri"/>
                </a:rPr>
                <a:t>  →  120  ←  108)</a:t>
              </a:r>
              <a:endParaRPr b="1" sz="1000">
                <a:solidFill>
                  <a:srgbClr val="1E2761"/>
                </a:solidFill>
                <a:latin typeface="Calibri"/>
                <a:ea typeface="Calibri"/>
                <a:cs typeface="Calibri"/>
                <a:sym typeface="Calibri"/>
              </a:endParaRPr>
            </a:p>
          </p:txBody>
        </p:sp>
      </p:grpSp>
      <p:sp>
        <p:nvSpPr>
          <p:cNvPr id="186" name="Google Shape;186;p4"/>
          <p:cNvSpPr/>
          <p:nvPr/>
        </p:nvSpPr>
        <p:spPr>
          <a:xfrm rot="5400000">
            <a:off x="5998839" y="3688158"/>
            <a:ext cx="274200" cy="201300"/>
          </a:xfrm>
          <a:prstGeom prst="chevron">
            <a:avLst>
              <a:gd fmla="val 50000"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4"/>
          <p:cNvSpPr/>
          <p:nvPr/>
        </p:nvSpPr>
        <p:spPr>
          <a:xfrm>
            <a:off x="457200" y="4091325"/>
            <a:ext cx="11247000" cy="2259600"/>
          </a:xfrm>
          <a:prstGeom prst="roundRect">
            <a:avLst>
              <a:gd fmla="val 4000"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4"/>
          <p:cNvSpPr/>
          <p:nvPr/>
        </p:nvSpPr>
        <p:spPr>
          <a:xfrm>
            <a:off x="685800" y="4201056"/>
            <a:ext cx="6400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200"/>
              <a:buFont typeface="Calibri"/>
              <a:buNone/>
            </a:pPr>
            <a:r>
              <a:rPr b="1" lang="en-US" sz="1200">
                <a:solidFill>
                  <a:srgbClr val="CADCFC"/>
                </a:solidFill>
                <a:latin typeface="Calibri"/>
                <a:ea typeface="Calibri"/>
                <a:cs typeface="Calibri"/>
                <a:sym typeface="Calibri"/>
              </a:rPr>
              <a:t>ONLINE · 실시간 (학생 1명당 LLM 2~6회)</a:t>
            </a:r>
            <a:endParaRPr sz="1200">
              <a:solidFill>
                <a:schemeClr val="dk1"/>
              </a:solidFill>
              <a:latin typeface="Calibri"/>
              <a:ea typeface="Calibri"/>
              <a:cs typeface="Calibri"/>
              <a:sym typeface="Calibri"/>
            </a:endParaRPr>
          </a:p>
        </p:txBody>
      </p:sp>
      <p:grpSp>
        <p:nvGrpSpPr>
          <p:cNvPr id="189" name="Google Shape;189;p4"/>
          <p:cNvGrpSpPr/>
          <p:nvPr/>
        </p:nvGrpSpPr>
        <p:grpSpPr>
          <a:xfrm>
            <a:off x="777240" y="4594248"/>
            <a:ext cx="1828800" cy="868680"/>
            <a:chOff x="777240" y="4389120"/>
            <a:chExt cx="1828800" cy="868680"/>
          </a:xfrm>
        </p:grpSpPr>
        <p:sp>
          <p:nvSpPr>
            <p:cNvPr id="190" name="Google Shape;190;p4"/>
            <p:cNvSpPr/>
            <p:nvPr/>
          </p:nvSpPr>
          <p:spPr>
            <a:xfrm>
              <a:off x="777240" y="4389120"/>
              <a:ext cx="1828800" cy="868680"/>
            </a:xfrm>
            <a:prstGeom prst="roundRect">
              <a:avLst>
                <a:gd fmla="val 6316" name="adj"/>
              </a:avLst>
            </a:prstGeom>
            <a:solidFill>
              <a:srgbClr val="2A3480"/>
            </a:solidFill>
            <a:ln cap="flat" cmpd="sng" w="12700">
              <a:solidFill>
                <a:srgbClr val="4E5B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4"/>
            <p:cNvSpPr/>
            <p:nvPr/>
          </p:nvSpPr>
          <p:spPr>
            <a:xfrm>
              <a:off x="868680" y="4389120"/>
              <a:ext cx="1645920" cy="8686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alibri"/>
                <a:buNone/>
              </a:pPr>
              <a:r>
                <a:rPr lang="en-US" sz="1250">
                  <a:solidFill>
                    <a:srgbClr val="FFFFFF"/>
                  </a:solidFill>
                  <a:latin typeface="Calibri"/>
                  <a:ea typeface="Calibri"/>
                  <a:cs typeface="Calibri"/>
                  <a:sym typeface="Calibri"/>
                </a:rPr>
                <a:t>학생 입력</a:t>
              </a:r>
              <a:endParaRPr sz="125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50"/>
                <a:buFont typeface="Calibri"/>
                <a:buNone/>
              </a:pPr>
              <a:r>
                <a:rPr lang="en-US" sz="1250">
                  <a:solidFill>
                    <a:srgbClr val="FFFFFF"/>
                  </a:solidFill>
                  <a:latin typeface="Calibri"/>
                  <a:ea typeface="Calibri"/>
                  <a:cs typeface="Calibri"/>
                  <a:sym typeface="Calibri"/>
                </a:rPr>
                <a:t>(대화 · 질문)</a:t>
              </a:r>
              <a:endParaRPr sz="1250">
                <a:solidFill>
                  <a:schemeClr val="dk1"/>
                </a:solidFill>
                <a:latin typeface="Calibri"/>
                <a:ea typeface="Calibri"/>
                <a:cs typeface="Calibri"/>
                <a:sym typeface="Calibri"/>
              </a:endParaRPr>
            </a:p>
          </p:txBody>
        </p:sp>
      </p:grpSp>
      <p:sp>
        <p:nvSpPr>
          <p:cNvPr id="192" name="Google Shape;192;p4"/>
          <p:cNvSpPr/>
          <p:nvPr/>
        </p:nvSpPr>
        <p:spPr>
          <a:xfrm>
            <a:off x="2753870" y="4923432"/>
            <a:ext cx="146400" cy="219600"/>
          </a:xfrm>
          <a:prstGeom prst="chevron">
            <a:avLst>
              <a:gd fmla="val 50000" name="adj"/>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3" name="Google Shape;193;p4"/>
          <p:cNvGrpSpPr/>
          <p:nvPr/>
        </p:nvGrpSpPr>
        <p:grpSpPr>
          <a:xfrm>
            <a:off x="3048003" y="4594248"/>
            <a:ext cx="2011680" cy="868800"/>
            <a:chOff x="2788920" y="4389120"/>
            <a:chExt cx="2011680" cy="868800"/>
          </a:xfrm>
        </p:grpSpPr>
        <p:sp>
          <p:nvSpPr>
            <p:cNvPr id="194" name="Google Shape;194;p4"/>
            <p:cNvSpPr/>
            <p:nvPr/>
          </p:nvSpPr>
          <p:spPr>
            <a:xfrm>
              <a:off x="2788920" y="4389120"/>
              <a:ext cx="2011680" cy="868680"/>
            </a:xfrm>
            <a:prstGeom prst="roundRect">
              <a:avLst>
                <a:gd fmla="val 6316" name="adj"/>
              </a:avLst>
            </a:prstGeom>
            <a:solidFill>
              <a:srgbClr val="2A3480"/>
            </a:solidFill>
            <a:ln cap="flat" cmpd="sng" w="12700">
              <a:solidFill>
                <a:srgbClr val="4E5B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4"/>
            <p:cNvSpPr/>
            <p:nvPr/>
          </p:nvSpPr>
          <p:spPr>
            <a:xfrm>
              <a:off x="2880360" y="4389120"/>
              <a:ext cx="1828800" cy="868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alibri"/>
                <a:buNone/>
              </a:pPr>
              <a:r>
                <a:rPr lang="en-US" sz="1250">
                  <a:solidFill>
                    <a:srgbClr val="FFFFFF"/>
                  </a:solidFill>
                  <a:latin typeface="Calibri"/>
                  <a:ea typeface="Calibri"/>
                  <a:cs typeface="Calibri"/>
                  <a:sym typeface="Calibri"/>
                </a:rPr>
                <a:t>AI 가 역량 태그 추출</a:t>
              </a:r>
              <a:endParaRPr sz="1350">
                <a:solidFill>
                  <a:schemeClr val="dk1"/>
                </a:solidFill>
                <a:latin typeface="Calibri"/>
                <a:ea typeface="Calibri"/>
                <a:cs typeface="Calibri"/>
                <a:sym typeface="Calibri"/>
              </a:endParaRPr>
            </a:p>
          </p:txBody>
        </p:sp>
      </p:grpSp>
      <p:sp>
        <p:nvSpPr>
          <p:cNvPr id="196" name="Google Shape;196;p4"/>
          <p:cNvSpPr/>
          <p:nvPr/>
        </p:nvSpPr>
        <p:spPr>
          <a:xfrm>
            <a:off x="5207513" y="4923432"/>
            <a:ext cx="146400" cy="219600"/>
          </a:xfrm>
          <a:prstGeom prst="chevron">
            <a:avLst>
              <a:gd fmla="val 50000" name="adj"/>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7" name="Google Shape;197;p4"/>
          <p:cNvGrpSpPr/>
          <p:nvPr/>
        </p:nvGrpSpPr>
        <p:grpSpPr>
          <a:xfrm>
            <a:off x="5501647" y="4594248"/>
            <a:ext cx="3108960" cy="868680"/>
            <a:chOff x="4983480" y="4389120"/>
            <a:chExt cx="3108960" cy="868680"/>
          </a:xfrm>
        </p:grpSpPr>
        <p:sp>
          <p:nvSpPr>
            <p:cNvPr id="198" name="Google Shape;198;p4"/>
            <p:cNvSpPr/>
            <p:nvPr/>
          </p:nvSpPr>
          <p:spPr>
            <a:xfrm>
              <a:off x="4983480" y="4389120"/>
              <a:ext cx="3108960" cy="868680"/>
            </a:xfrm>
            <a:prstGeom prst="roundRect">
              <a:avLst>
                <a:gd fmla="val 6316" name="adj"/>
              </a:avLst>
            </a:prstGeom>
            <a:solidFill>
              <a:srgbClr val="2A3480"/>
            </a:solidFill>
            <a:ln cap="flat" cmpd="sng" w="12700">
              <a:solidFill>
                <a:srgbClr val="4E5B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4"/>
            <p:cNvSpPr/>
            <p:nvPr/>
          </p:nvSpPr>
          <p:spPr>
            <a:xfrm>
              <a:off x="5074920" y="4389120"/>
              <a:ext cx="2926080" cy="8686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alibri"/>
                <a:buNone/>
              </a:pPr>
              <a:r>
                <a:rPr b="1" lang="en-US" sz="1250">
                  <a:solidFill>
                    <a:srgbClr val="FFFFFF"/>
                  </a:solidFill>
                  <a:latin typeface="Calibri"/>
                  <a:ea typeface="Calibri"/>
                  <a:cs typeface="Calibri"/>
                  <a:sym typeface="Calibri"/>
                </a:rPr>
                <a:t>지식 </a:t>
              </a:r>
              <a:r>
                <a:rPr b="1" lang="en-US" sz="1250">
                  <a:solidFill>
                    <a:srgbClr val="FFFFFF"/>
                  </a:solidFill>
                  <a:latin typeface="Calibri"/>
                  <a:ea typeface="Calibri"/>
                  <a:cs typeface="Calibri"/>
                  <a:sym typeface="Calibri"/>
                </a:rPr>
                <a:t>그래프 graph.json 조회</a:t>
              </a:r>
              <a:endParaRPr b="1" sz="125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50"/>
                <a:buFont typeface="Calibri"/>
                <a:buNone/>
              </a:pPr>
              <a:r>
                <a:rPr lang="en-US" sz="1250">
                  <a:solidFill>
                    <a:srgbClr val="FFFFFF"/>
                  </a:solidFill>
                  <a:latin typeface="Calibri"/>
                  <a:ea typeface="Calibri"/>
                  <a:cs typeface="Calibri"/>
                  <a:sym typeface="Calibri"/>
                </a:rPr>
                <a:t>(딕셔너리·집합연산, LLM 0회)</a:t>
              </a:r>
              <a:endParaRPr sz="1250">
                <a:solidFill>
                  <a:schemeClr val="dk1"/>
                </a:solidFill>
                <a:latin typeface="Calibri"/>
                <a:ea typeface="Calibri"/>
                <a:cs typeface="Calibri"/>
                <a:sym typeface="Calibri"/>
              </a:endParaRPr>
            </a:p>
          </p:txBody>
        </p:sp>
      </p:grpSp>
      <p:sp>
        <p:nvSpPr>
          <p:cNvPr id="200" name="Google Shape;200;p4"/>
          <p:cNvSpPr/>
          <p:nvPr/>
        </p:nvSpPr>
        <p:spPr>
          <a:xfrm>
            <a:off x="8758436" y="4923432"/>
            <a:ext cx="146400" cy="219600"/>
          </a:xfrm>
          <a:prstGeom prst="chevron">
            <a:avLst>
              <a:gd fmla="val 50000" name="adj"/>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1" name="Google Shape;201;p4"/>
          <p:cNvGrpSpPr/>
          <p:nvPr/>
        </p:nvGrpSpPr>
        <p:grpSpPr>
          <a:xfrm>
            <a:off x="9052570" y="4594248"/>
            <a:ext cx="2377500" cy="868800"/>
            <a:chOff x="9052570" y="4389120"/>
            <a:chExt cx="2377500" cy="868800"/>
          </a:xfrm>
        </p:grpSpPr>
        <p:sp>
          <p:nvSpPr>
            <p:cNvPr id="202" name="Google Shape;202;p4"/>
            <p:cNvSpPr/>
            <p:nvPr/>
          </p:nvSpPr>
          <p:spPr>
            <a:xfrm>
              <a:off x="9052570" y="4389120"/>
              <a:ext cx="2377500" cy="868800"/>
            </a:xfrm>
            <a:prstGeom prst="roundRect">
              <a:avLst>
                <a:gd fmla="val 6316" name="adj"/>
              </a:avLst>
            </a:prstGeom>
            <a:solidFill>
              <a:srgbClr val="2A3480"/>
            </a:solidFill>
            <a:ln cap="flat" cmpd="sng" w="12700">
              <a:solidFill>
                <a:srgbClr val="4E5B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4"/>
            <p:cNvSpPr/>
            <p:nvPr/>
          </p:nvSpPr>
          <p:spPr>
            <a:xfrm>
              <a:off x="9144085" y="4389120"/>
              <a:ext cx="2194500" cy="868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alibri"/>
                <a:buNone/>
              </a:pPr>
              <a:r>
                <a:rPr lang="en-US" sz="1250">
                  <a:solidFill>
                    <a:srgbClr val="FFFFFF"/>
                  </a:solidFill>
                  <a:latin typeface="Calibri"/>
                  <a:ea typeface="Calibri"/>
                  <a:cs typeface="Calibri"/>
                  <a:sym typeface="Calibri"/>
                </a:rPr>
                <a:t>카드 + AI 설명 문단</a:t>
              </a:r>
              <a:endParaRPr sz="1250">
                <a:solidFill>
                  <a:schemeClr val="dk1"/>
                </a:solidFill>
                <a:latin typeface="Calibri"/>
                <a:ea typeface="Calibri"/>
                <a:cs typeface="Calibri"/>
                <a:sym typeface="Calibri"/>
              </a:endParaRPr>
            </a:p>
          </p:txBody>
        </p:sp>
      </p:grpSp>
      <p:sp>
        <p:nvSpPr>
          <p:cNvPr id="204" name="Google Shape;204;p4"/>
          <p:cNvSpPr/>
          <p:nvPr/>
        </p:nvSpPr>
        <p:spPr>
          <a:xfrm>
            <a:off x="11277295" y="647395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072"/>
              </a:buClr>
              <a:buSzPts val="900"/>
              <a:buFont typeface="Calibri"/>
              <a:buNone/>
            </a:pPr>
            <a:r>
              <a:rPr lang="en-US" sz="900">
                <a:solidFill>
                  <a:srgbClr val="5A6072"/>
                </a:solidFill>
                <a:latin typeface="Calibri"/>
                <a:ea typeface="Calibri"/>
                <a:cs typeface="Calibri"/>
                <a:sym typeface="Calibri"/>
              </a:rPr>
              <a:t>5</a:t>
            </a:r>
            <a:endParaRPr sz="900">
              <a:solidFill>
                <a:schemeClr val="dk1"/>
              </a:solidFill>
              <a:latin typeface="Calibri"/>
              <a:ea typeface="Calibri"/>
              <a:cs typeface="Calibri"/>
              <a:sym typeface="Calibri"/>
            </a:endParaRPr>
          </a:p>
        </p:txBody>
      </p:sp>
      <p:grpSp>
        <p:nvGrpSpPr>
          <p:cNvPr id="205" name="Google Shape;205;p4"/>
          <p:cNvGrpSpPr/>
          <p:nvPr/>
        </p:nvGrpSpPr>
        <p:grpSpPr>
          <a:xfrm>
            <a:off x="3229403" y="2230117"/>
            <a:ext cx="2331600" cy="868800"/>
            <a:chOff x="3229403" y="2230117"/>
            <a:chExt cx="2331600" cy="868800"/>
          </a:xfrm>
        </p:grpSpPr>
        <p:sp>
          <p:nvSpPr>
            <p:cNvPr id="206" name="Google Shape;206;p4"/>
            <p:cNvSpPr/>
            <p:nvPr/>
          </p:nvSpPr>
          <p:spPr>
            <a:xfrm>
              <a:off x="3229403" y="2230117"/>
              <a:ext cx="2331600" cy="868800"/>
            </a:xfrm>
            <a:prstGeom prst="roundRect">
              <a:avLst>
                <a:gd fmla="val 6316" name="adj"/>
              </a:avLst>
            </a:prstGeom>
            <a:solidFill>
              <a:srgbClr val="EDEBFA"/>
            </a:solidFill>
            <a:ln cap="flat" cmpd="sng" w="12700">
              <a:solidFill>
                <a:srgbClr val="3B5BD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4"/>
            <p:cNvSpPr/>
            <p:nvPr/>
          </p:nvSpPr>
          <p:spPr>
            <a:xfrm>
              <a:off x="3320768" y="2230117"/>
              <a:ext cx="2148900" cy="868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2430"/>
                </a:buClr>
                <a:buSzPts val="1050"/>
                <a:buFont typeface="Calibri"/>
                <a:buNone/>
              </a:pPr>
              <a:r>
                <a:rPr lang="en-US" sz="1250">
                  <a:solidFill>
                    <a:srgbClr val="1F2430"/>
                  </a:solidFill>
                  <a:latin typeface="Calibri"/>
                  <a:ea typeface="Calibri"/>
                  <a:cs typeface="Calibri"/>
                  <a:sym typeface="Calibri"/>
                </a:rPr>
                <a:t>AI 가 역량 태그 추출</a:t>
              </a:r>
              <a:endParaRPr sz="1250">
                <a:solidFill>
                  <a:srgbClr val="1F2430"/>
                </a:solidFill>
                <a:latin typeface="Calibri"/>
                <a:ea typeface="Calibri"/>
                <a:cs typeface="Calibri"/>
                <a:sym typeface="Calibri"/>
              </a:endParaRPr>
            </a:p>
            <a:p>
              <a:pPr indent="0" lvl="0" marL="0" marR="0" rtl="0" algn="ctr">
                <a:spcBef>
                  <a:spcPts val="0"/>
                </a:spcBef>
                <a:spcAft>
                  <a:spcPts val="0"/>
                </a:spcAft>
                <a:buClr>
                  <a:srgbClr val="1F2430"/>
                </a:buClr>
                <a:buSzPts val="1050"/>
                <a:buFont typeface="Calibri"/>
                <a:buNone/>
              </a:pPr>
              <a:r>
                <a:rPr i="1" lang="en-US" sz="1150">
                  <a:solidFill>
                    <a:srgbClr val="1F2430"/>
                  </a:solidFill>
                  <a:latin typeface="Calibri"/>
                  <a:ea typeface="Calibri"/>
                  <a:cs typeface="Calibri"/>
                  <a:sym typeface="Calibri"/>
                </a:rPr>
                <a:t>(data/staged_jobs.json ,</a:t>
              </a:r>
              <a:endParaRPr i="1" sz="1150">
                <a:solidFill>
                  <a:srgbClr val="1F2430"/>
                </a:solidFill>
                <a:latin typeface="Calibri"/>
                <a:ea typeface="Calibri"/>
                <a:cs typeface="Calibri"/>
                <a:sym typeface="Calibri"/>
              </a:endParaRPr>
            </a:p>
            <a:p>
              <a:pPr indent="0" lvl="0" marL="0" marR="0" rtl="0" algn="ctr">
                <a:spcBef>
                  <a:spcPts val="0"/>
                </a:spcBef>
                <a:spcAft>
                  <a:spcPts val="0"/>
                </a:spcAft>
                <a:buClr>
                  <a:srgbClr val="1F2430"/>
                </a:buClr>
                <a:buSzPts val="1050"/>
                <a:buFont typeface="Calibri"/>
                <a:buNone/>
              </a:pPr>
              <a:r>
                <a:rPr i="1" lang="en-US" sz="1150">
                  <a:solidFill>
                    <a:srgbClr val="1F2430"/>
                  </a:solidFill>
                  <a:latin typeface="Calibri"/>
                  <a:ea typeface="Calibri"/>
                  <a:cs typeface="Calibri"/>
                  <a:sym typeface="Calibri"/>
                </a:rPr>
                <a:t>data/majors_extracted.json)</a:t>
              </a:r>
              <a:endParaRPr i="1" sz="1150">
                <a:solidFill>
                  <a:srgbClr val="1F2430"/>
                </a:solidFill>
                <a:latin typeface="Calibri"/>
                <a:ea typeface="Calibri"/>
                <a:cs typeface="Calibri"/>
                <a:sym typeface="Calibri"/>
              </a:endParaRPr>
            </a:p>
          </p:txBody>
        </p:sp>
      </p:grpSp>
      <p:cxnSp>
        <p:nvCxnSpPr>
          <p:cNvPr id="208" name="Google Shape;208;p4"/>
          <p:cNvCxnSpPr>
            <a:stCxn id="191" idx="2"/>
            <a:endCxn id="209" idx="1"/>
          </p:cNvCxnSpPr>
          <p:nvPr/>
        </p:nvCxnSpPr>
        <p:spPr>
          <a:xfrm flipH="1" rot="-5400000">
            <a:off x="1587690" y="5566878"/>
            <a:ext cx="461400" cy="253500"/>
          </a:xfrm>
          <a:prstGeom prst="bentConnector2">
            <a:avLst/>
          </a:prstGeom>
          <a:noFill/>
          <a:ln cap="flat" cmpd="sng" w="38100">
            <a:solidFill>
              <a:srgbClr val="CADCFC"/>
            </a:solidFill>
            <a:prstDash val="solid"/>
            <a:round/>
            <a:headEnd len="med" w="med" type="triangle"/>
            <a:tailEnd len="med" w="med" type="none"/>
          </a:ln>
        </p:spPr>
      </p:cxnSp>
      <p:cxnSp>
        <p:nvCxnSpPr>
          <p:cNvPr id="210" name="Google Shape;210;p4"/>
          <p:cNvCxnSpPr>
            <a:stCxn id="209" idx="3"/>
            <a:endCxn id="195" idx="2"/>
          </p:cNvCxnSpPr>
          <p:nvPr/>
        </p:nvCxnSpPr>
        <p:spPr>
          <a:xfrm flipH="1" rot="10800000">
            <a:off x="3773947" y="5463087"/>
            <a:ext cx="279900" cy="461100"/>
          </a:xfrm>
          <a:prstGeom prst="bentConnector2">
            <a:avLst/>
          </a:prstGeom>
          <a:noFill/>
          <a:ln cap="flat" cmpd="sng" w="38100">
            <a:solidFill>
              <a:srgbClr val="CADCFC"/>
            </a:solidFill>
            <a:prstDash val="solid"/>
            <a:round/>
            <a:headEnd len="med" w="med" type="none"/>
            <a:tailEnd len="med" w="med" type="none"/>
          </a:ln>
        </p:spPr>
      </p:cxnSp>
      <p:sp>
        <p:nvSpPr>
          <p:cNvPr id="211" name="Google Shape;211;p4"/>
          <p:cNvSpPr/>
          <p:nvPr/>
        </p:nvSpPr>
        <p:spPr>
          <a:xfrm>
            <a:off x="457200" y="6473952"/>
            <a:ext cx="8686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072"/>
              </a:buClr>
              <a:buSzPts val="900"/>
              <a:buFont typeface="Calibri"/>
              <a:buNone/>
            </a:pPr>
            <a:r>
              <a:rPr lang="en-US" sz="900">
                <a:solidFill>
                  <a:srgbClr val="5A6072"/>
                </a:solidFill>
                <a:latin typeface="Calibri"/>
                <a:ea typeface="Calibri"/>
                <a:cs typeface="Calibri"/>
                <a:sym typeface="Calibri"/>
              </a:rPr>
              <a:t>LG CNS AI캠퍼스 · Knowledge Graph 과정 mini project 1 - LG 직무 추천 AI Agent</a:t>
            </a:r>
            <a:endParaRPr sz="900">
              <a:solidFill>
                <a:schemeClr val="dk1"/>
              </a:solidFill>
              <a:latin typeface="Calibri"/>
              <a:ea typeface="Calibri"/>
              <a:cs typeface="Calibri"/>
              <a:sym typeface="Calibri"/>
            </a:endParaRPr>
          </a:p>
        </p:txBody>
      </p:sp>
      <p:grpSp>
        <p:nvGrpSpPr>
          <p:cNvPr id="212" name="Google Shape;212;p4"/>
          <p:cNvGrpSpPr/>
          <p:nvPr/>
        </p:nvGrpSpPr>
        <p:grpSpPr>
          <a:xfrm>
            <a:off x="1945147" y="5571324"/>
            <a:ext cx="1828800" cy="716451"/>
            <a:chOff x="809712" y="4389120"/>
            <a:chExt cx="1828800" cy="882003"/>
          </a:xfrm>
        </p:grpSpPr>
        <p:sp>
          <p:nvSpPr>
            <p:cNvPr id="209" name="Google Shape;209;p4"/>
            <p:cNvSpPr/>
            <p:nvPr/>
          </p:nvSpPr>
          <p:spPr>
            <a:xfrm>
              <a:off x="809712" y="4389120"/>
              <a:ext cx="1828800" cy="868800"/>
            </a:xfrm>
            <a:prstGeom prst="roundRect">
              <a:avLst>
                <a:gd fmla="val 6316" name="adj"/>
              </a:avLst>
            </a:prstGeom>
            <a:solidFill>
              <a:srgbClr val="2A3480"/>
            </a:solidFill>
            <a:ln cap="flat" cmpd="sng" w="12700">
              <a:solidFill>
                <a:srgbClr val="4E5B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4"/>
            <p:cNvSpPr/>
            <p:nvPr/>
          </p:nvSpPr>
          <p:spPr>
            <a:xfrm>
              <a:off x="901205" y="4402323"/>
              <a:ext cx="1645800" cy="868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alibri"/>
                <a:buNone/>
              </a:pPr>
              <a:r>
                <a:rPr lang="en-US" sz="1150">
                  <a:solidFill>
                    <a:srgbClr val="FFFFFF"/>
                  </a:solidFill>
                  <a:latin typeface="Calibri"/>
                  <a:ea typeface="Calibri"/>
                  <a:cs typeface="Calibri"/>
                  <a:sym typeface="Calibri"/>
                </a:rPr>
                <a:t>추출 실패 시 추가 질문</a:t>
              </a:r>
              <a:endParaRPr sz="1150">
                <a:solidFill>
                  <a:schemeClr val="dk1"/>
                </a:solidFill>
                <a:latin typeface="Calibri"/>
                <a:ea typeface="Calibri"/>
                <a:cs typeface="Calibri"/>
                <a:sym typeface="Calibri"/>
              </a:endParaRPr>
            </a:p>
          </p:txBody>
        </p:sp>
      </p:grpSp>
      <p:sp>
        <p:nvSpPr>
          <p:cNvPr id="214" name="Google Shape;214;p4"/>
          <p:cNvSpPr/>
          <p:nvPr/>
        </p:nvSpPr>
        <p:spPr>
          <a:xfrm>
            <a:off x="5676859" y="2554714"/>
            <a:ext cx="201300" cy="219600"/>
          </a:xfrm>
          <a:prstGeom prst="chevron">
            <a:avLst>
              <a:gd fmla="val 50000" name="adj"/>
            </a:avLst>
          </a:prstGeom>
          <a:solidFill>
            <a:srgbClr val="B7AE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C"/>
        </a:solidFill>
      </p:bgPr>
    </p:bg>
    <p:spTree>
      <p:nvGrpSpPr>
        <p:cNvPr id="219" name="Shape 219"/>
        <p:cNvGrpSpPr/>
        <p:nvPr/>
      </p:nvGrpSpPr>
      <p:grpSpPr>
        <a:xfrm>
          <a:off x="0" y="0"/>
          <a:ext cx="0" cy="0"/>
          <a:chOff x="0" y="0"/>
          <a:chExt cx="0" cy="0"/>
        </a:xfrm>
      </p:grpSpPr>
      <p:sp>
        <p:nvSpPr>
          <p:cNvPr id="220" name="Google Shape;220;p5"/>
          <p:cNvSpPr/>
          <p:nvPr/>
        </p:nvSpPr>
        <p:spPr>
          <a:xfrm>
            <a:off x="457200" y="384048"/>
            <a:ext cx="914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574A"/>
              </a:buClr>
              <a:buSzPts val="2000"/>
              <a:buFont typeface="Calibri"/>
              <a:buNone/>
            </a:pPr>
            <a:r>
              <a:rPr b="1" lang="en-US" sz="2000">
                <a:solidFill>
                  <a:srgbClr val="E8574A"/>
                </a:solidFill>
                <a:latin typeface="Calibri"/>
                <a:ea typeface="Calibri"/>
                <a:cs typeface="Calibri"/>
                <a:sym typeface="Calibri"/>
              </a:rPr>
              <a:t>05</a:t>
            </a:r>
            <a:endParaRPr sz="2000">
              <a:solidFill>
                <a:schemeClr val="dk1"/>
              </a:solidFill>
              <a:latin typeface="Calibri"/>
              <a:ea typeface="Calibri"/>
              <a:cs typeface="Calibri"/>
              <a:sym typeface="Calibri"/>
            </a:endParaRPr>
          </a:p>
        </p:txBody>
      </p:sp>
      <p:sp>
        <p:nvSpPr>
          <p:cNvPr id="221" name="Google Shape;221;p5"/>
          <p:cNvSpPr/>
          <p:nvPr/>
        </p:nvSpPr>
        <p:spPr>
          <a:xfrm>
            <a:off x="457200" y="713232"/>
            <a:ext cx="100584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600"/>
              <a:buFont typeface="Calibri"/>
              <a:buNone/>
            </a:pPr>
            <a:r>
              <a:rPr b="1" lang="en-US" sz="2600">
                <a:solidFill>
                  <a:srgbClr val="1E2761"/>
                </a:solidFill>
                <a:latin typeface="Calibri"/>
                <a:ea typeface="Calibri"/>
                <a:cs typeface="Calibri"/>
                <a:sym typeface="Calibri"/>
              </a:rPr>
              <a:t>AI &amp; Agent 워크플로우, 사용 기술</a:t>
            </a:r>
            <a:endParaRPr sz="2600">
              <a:solidFill>
                <a:schemeClr val="dk1"/>
              </a:solidFill>
              <a:latin typeface="Calibri"/>
              <a:ea typeface="Calibri"/>
              <a:cs typeface="Calibri"/>
              <a:sym typeface="Calibri"/>
            </a:endParaRPr>
          </a:p>
        </p:txBody>
      </p:sp>
      <p:sp>
        <p:nvSpPr>
          <p:cNvPr id="222" name="Google Shape;222;p5"/>
          <p:cNvSpPr/>
          <p:nvPr/>
        </p:nvSpPr>
        <p:spPr>
          <a:xfrm>
            <a:off x="457200" y="1207008"/>
            <a:ext cx="103327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072"/>
              </a:buClr>
              <a:buSzPts val="1300"/>
              <a:buFont typeface="Calibri"/>
              <a:buNone/>
            </a:pPr>
            <a:r>
              <a:rPr lang="en-US" sz="1300">
                <a:solidFill>
                  <a:srgbClr val="5A6072"/>
                </a:solidFill>
                <a:latin typeface="Calibri"/>
                <a:ea typeface="Calibri"/>
                <a:cs typeface="Calibri"/>
                <a:sym typeface="Calibri"/>
              </a:rPr>
              <a:t>LLM은 두 곳에만 관여한다 — 판정은 항상 도구(코드)가 한다</a:t>
            </a:r>
            <a:endParaRPr sz="1300">
              <a:solidFill>
                <a:schemeClr val="dk1"/>
              </a:solidFill>
              <a:latin typeface="Calibri"/>
              <a:ea typeface="Calibri"/>
              <a:cs typeface="Calibri"/>
              <a:sym typeface="Calibri"/>
            </a:endParaRPr>
          </a:p>
        </p:txBody>
      </p:sp>
      <p:sp>
        <p:nvSpPr>
          <p:cNvPr id="223" name="Google Shape;223;p5"/>
          <p:cNvSpPr/>
          <p:nvPr/>
        </p:nvSpPr>
        <p:spPr>
          <a:xfrm rot="-1690715">
            <a:off x="11397243" y="562356"/>
            <a:ext cx="290457" cy="18288"/>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5"/>
          <p:cNvSpPr/>
          <p:nvPr/>
        </p:nvSpPr>
        <p:spPr>
          <a:xfrm rot="1690715">
            <a:off x="11397243" y="699516"/>
            <a:ext cx="290457" cy="18288"/>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5"/>
          <p:cNvSpPr/>
          <p:nvPr/>
        </p:nvSpPr>
        <p:spPr>
          <a:xfrm>
            <a:off x="11359591" y="585216"/>
            <a:ext cx="109728" cy="109728"/>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5"/>
          <p:cNvSpPr/>
          <p:nvPr/>
        </p:nvSpPr>
        <p:spPr>
          <a:xfrm>
            <a:off x="11615623" y="448056"/>
            <a:ext cx="109728" cy="109728"/>
          </a:xfrm>
          <a:prstGeom prst="ellipse">
            <a:avLst/>
          </a:prstGeom>
          <a:solidFill>
            <a:srgbClr val="E857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5"/>
          <p:cNvSpPr/>
          <p:nvPr/>
        </p:nvSpPr>
        <p:spPr>
          <a:xfrm>
            <a:off x="11615623" y="722376"/>
            <a:ext cx="109728" cy="109728"/>
          </a:xfrm>
          <a:prstGeom prst="ellipse">
            <a:avLst/>
          </a:prstGeom>
          <a:solidFill>
            <a:srgbClr val="2F9E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5"/>
          <p:cNvSpPr/>
          <p:nvPr/>
        </p:nvSpPr>
        <p:spPr>
          <a:xfrm>
            <a:off x="457200" y="1737360"/>
            <a:ext cx="3611880" cy="4206240"/>
          </a:xfrm>
          <a:prstGeom prst="roundRect">
            <a:avLst>
              <a:gd fmla="val 2025" name="adj"/>
            </a:avLst>
          </a:prstGeom>
          <a:solidFill>
            <a:srgbClr val="FFFFFF"/>
          </a:solidFill>
          <a:ln cap="flat" cmpd="sng" w="12700">
            <a:solidFill>
              <a:srgbClr val="E2E6F2"/>
            </a:solidFill>
            <a:prstDash val="solid"/>
            <a:round/>
            <a:headEnd len="sm" w="sm" type="none"/>
            <a:tailEnd len="sm" w="sm" type="none"/>
          </a:ln>
          <a:effectLst>
            <a:outerShdw blurRad="63500" rotWithShape="0" algn="bl" dir="5400000" dist="25400">
              <a:srgbClr val="1E2761">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5"/>
          <p:cNvSpPr/>
          <p:nvPr/>
        </p:nvSpPr>
        <p:spPr>
          <a:xfrm>
            <a:off x="457200" y="1737360"/>
            <a:ext cx="3611880" cy="502920"/>
          </a:xfrm>
          <a:prstGeom prst="rect">
            <a:avLst/>
          </a:prstGeom>
          <a:solidFill>
            <a:srgbClr val="E857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5"/>
          <p:cNvSpPr/>
          <p:nvPr/>
        </p:nvSpPr>
        <p:spPr>
          <a:xfrm>
            <a:off x="640080" y="1737360"/>
            <a:ext cx="324612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AI / Agent</a:t>
            </a:r>
            <a:r>
              <a:rPr b="1" lang="en-US" sz="1400">
                <a:solidFill>
                  <a:srgbClr val="FFFFFF"/>
                </a:solidFill>
                <a:latin typeface="Calibri"/>
                <a:ea typeface="Calibri"/>
                <a:cs typeface="Calibri"/>
                <a:sym typeface="Calibri"/>
              </a:rPr>
              <a:t> 워크플로우</a:t>
            </a:r>
            <a:endParaRPr sz="1400">
              <a:solidFill>
                <a:schemeClr val="dk1"/>
              </a:solidFill>
              <a:latin typeface="Calibri"/>
              <a:ea typeface="Calibri"/>
              <a:cs typeface="Calibri"/>
              <a:sym typeface="Calibri"/>
            </a:endParaRPr>
          </a:p>
        </p:txBody>
      </p:sp>
      <p:sp>
        <p:nvSpPr>
          <p:cNvPr id="231" name="Google Shape;231;p5"/>
          <p:cNvSpPr/>
          <p:nvPr/>
        </p:nvSpPr>
        <p:spPr>
          <a:xfrm>
            <a:off x="658368" y="2531535"/>
            <a:ext cx="63900" cy="63900"/>
          </a:xfrm>
          <a:prstGeom prst="ellipse">
            <a:avLst/>
          </a:prstGeom>
          <a:solidFill>
            <a:srgbClr val="E857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5"/>
          <p:cNvSpPr/>
          <p:nvPr/>
        </p:nvSpPr>
        <p:spPr>
          <a:xfrm>
            <a:off x="841248" y="2423160"/>
            <a:ext cx="3045000" cy="77730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050"/>
              <a:buFont typeface="Calibri"/>
              <a:buNone/>
            </a:pPr>
            <a:r>
              <a:rPr lang="en-US" sz="1200">
                <a:solidFill>
                  <a:srgbClr val="1F2430"/>
                </a:solidFill>
                <a:latin typeface="Calibri"/>
                <a:ea typeface="Calibri"/>
                <a:cs typeface="Calibri"/>
                <a:sym typeface="Calibri"/>
              </a:rPr>
              <a:t> </a:t>
            </a:r>
            <a:r>
              <a:rPr lang="en-US" sz="1200">
                <a:solidFill>
                  <a:srgbClr val="1F2430"/>
                </a:solidFill>
                <a:latin typeface="Calibri"/>
                <a:ea typeface="Calibri"/>
                <a:cs typeface="Calibri"/>
                <a:sym typeface="Calibri"/>
              </a:rPr>
              <a:t>오프라인:</a:t>
            </a:r>
            <a:r>
              <a:rPr lang="en-US" sz="1200">
                <a:solidFill>
                  <a:srgbClr val="1F2430"/>
                </a:solidFill>
                <a:latin typeface="Calibri"/>
                <a:ea typeface="Calibri"/>
                <a:cs typeface="Calibri"/>
                <a:sym typeface="Calibri"/>
              </a:rPr>
              <a:t> </a:t>
            </a:r>
            <a:r>
              <a:rPr lang="en-US" sz="1200">
                <a:solidFill>
                  <a:srgbClr val="1F2430"/>
                </a:solidFill>
                <a:latin typeface="Calibri"/>
                <a:ea typeface="Calibri"/>
                <a:cs typeface="Calibri"/>
                <a:sym typeface="Calibri"/>
              </a:rPr>
              <a:t>과목명·공고 텍스트 → 역량 태그 추출</a:t>
            </a:r>
            <a:r>
              <a:rPr lang="en-US" sz="1200">
                <a:solidFill>
                  <a:srgbClr val="1F2430"/>
                </a:solidFill>
                <a:latin typeface="Calibri"/>
                <a:ea typeface="Calibri"/>
                <a:cs typeface="Calibri"/>
                <a:sym typeface="Calibri"/>
              </a:rPr>
              <a:t> (전공 105회 + 직무 172회)</a:t>
            </a:r>
            <a:endParaRPr sz="1200">
              <a:solidFill>
                <a:schemeClr val="dk1"/>
              </a:solidFill>
              <a:latin typeface="Calibri"/>
              <a:ea typeface="Calibri"/>
              <a:cs typeface="Calibri"/>
              <a:sym typeface="Calibri"/>
            </a:endParaRPr>
          </a:p>
        </p:txBody>
      </p:sp>
      <p:sp>
        <p:nvSpPr>
          <p:cNvPr id="233" name="Google Shape;233;p5"/>
          <p:cNvSpPr/>
          <p:nvPr/>
        </p:nvSpPr>
        <p:spPr>
          <a:xfrm>
            <a:off x="670071" y="3358407"/>
            <a:ext cx="63900" cy="63900"/>
          </a:xfrm>
          <a:prstGeom prst="ellipse">
            <a:avLst/>
          </a:prstGeom>
          <a:solidFill>
            <a:srgbClr val="E857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5"/>
          <p:cNvSpPr/>
          <p:nvPr/>
        </p:nvSpPr>
        <p:spPr>
          <a:xfrm>
            <a:off x="841248" y="3259733"/>
            <a:ext cx="3045000" cy="77730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050"/>
              <a:buFont typeface="Calibri"/>
              <a:buNone/>
            </a:pPr>
            <a:r>
              <a:rPr lang="en-US" sz="1200">
                <a:solidFill>
                  <a:srgbClr val="1F2430"/>
                </a:solidFill>
                <a:latin typeface="Calibri"/>
                <a:ea typeface="Calibri"/>
                <a:cs typeface="Calibri"/>
                <a:sym typeface="Calibri"/>
              </a:rPr>
              <a:t> </a:t>
            </a:r>
            <a:r>
              <a:rPr lang="en-US" sz="1200">
                <a:solidFill>
                  <a:srgbClr val="1F2430"/>
                </a:solidFill>
                <a:latin typeface="Calibri"/>
                <a:ea typeface="Calibri"/>
                <a:cs typeface="Calibri"/>
                <a:sym typeface="Calibri"/>
              </a:rPr>
              <a:t>온라인: question_agent 가 7영역 적응형 질문 생성 → interview.py 가 대화 진행</a:t>
            </a:r>
            <a:endParaRPr sz="1200">
              <a:solidFill>
                <a:schemeClr val="dk1"/>
              </a:solidFill>
              <a:latin typeface="Calibri"/>
              <a:ea typeface="Calibri"/>
              <a:cs typeface="Calibri"/>
              <a:sym typeface="Calibri"/>
            </a:endParaRPr>
          </a:p>
        </p:txBody>
      </p:sp>
      <p:sp>
        <p:nvSpPr>
          <p:cNvPr id="235" name="Google Shape;235;p5"/>
          <p:cNvSpPr/>
          <p:nvPr/>
        </p:nvSpPr>
        <p:spPr>
          <a:xfrm>
            <a:off x="670071" y="4280598"/>
            <a:ext cx="63900" cy="63900"/>
          </a:xfrm>
          <a:prstGeom prst="ellipse">
            <a:avLst/>
          </a:prstGeom>
          <a:solidFill>
            <a:srgbClr val="E857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5"/>
          <p:cNvSpPr/>
          <p:nvPr/>
        </p:nvSpPr>
        <p:spPr>
          <a:xfrm>
            <a:off x="841248" y="4160520"/>
            <a:ext cx="3045000" cy="77730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050"/>
              <a:buFont typeface="Calibri"/>
              <a:buNone/>
            </a:pPr>
            <a:r>
              <a:rPr lang="en-US" sz="1200">
                <a:solidFill>
                  <a:srgbClr val="1F2430"/>
                </a:solidFill>
                <a:latin typeface="Calibri"/>
                <a:ea typeface="Calibri"/>
                <a:cs typeface="Calibri"/>
                <a:sym typeface="Calibri"/>
              </a:rPr>
              <a:t> </a:t>
            </a:r>
            <a:r>
              <a:rPr lang="en-US" sz="1200">
                <a:solidFill>
                  <a:srgbClr val="1F2430"/>
                </a:solidFill>
                <a:latin typeface="Calibri"/>
                <a:ea typeface="Calibri"/>
                <a:cs typeface="Calibri"/>
                <a:sym typeface="Calibri"/>
              </a:rPr>
              <a:t>온라인: 학생 문장 → 역량 태그 1회, 카드 → 설명 문단 1회</a:t>
            </a:r>
            <a:endParaRPr sz="1200">
              <a:solidFill>
                <a:schemeClr val="dk1"/>
              </a:solidFill>
              <a:latin typeface="Calibri"/>
              <a:ea typeface="Calibri"/>
              <a:cs typeface="Calibri"/>
              <a:sym typeface="Calibri"/>
            </a:endParaRPr>
          </a:p>
        </p:txBody>
      </p:sp>
      <p:sp>
        <p:nvSpPr>
          <p:cNvPr id="237" name="Google Shape;237;p5"/>
          <p:cNvSpPr/>
          <p:nvPr/>
        </p:nvSpPr>
        <p:spPr>
          <a:xfrm>
            <a:off x="670071" y="5138576"/>
            <a:ext cx="63900" cy="63900"/>
          </a:xfrm>
          <a:prstGeom prst="ellipse">
            <a:avLst/>
          </a:prstGeom>
          <a:solidFill>
            <a:srgbClr val="E857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5"/>
          <p:cNvSpPr/>
          <p:nvPr/>
        </p:nvSpPr>
        <p:spPr>
          <a:xfrm>
            <a:off x="841248" y="5029200"/>
            <a:ext cx="3045000" cy="77730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050"/>
              <a:buFont typeface="Calibri"/>
              <a:buNone/>
            </a:pPr>
            <a:r>
              <a:rPr lang="en-US" sz="1200">
                <a:solidFill>
                  <a:srgbClr val="1F2430"/>
                </a:solidFill>
                <a:latin typeface="Calibri"/>
                <a:ea typeface="Calibri"/>
                <a:cs typeface="Calibri"/>
                <a:sym typeface="Calibri"/>
              </a:rPr>
              <a:t> </a:t>
            </a:r>
            <a:r>
              <a:rPr lang="en-US" sz="1200">
                <a:solidFill>
                  <a:srgbClr val="1F2430"/>
                </a:solidFill>
                <a:latin typeface="Calibri"/>
                <a:ea typeface="Calibri"/>
                <a:cs typeface="Calibri"/>
                <a:sym typeface="Calibri"/>
              </a:rPr>
              <a:t>판정(전공 순위·직무 매칭·과목 선택)은 LLM이 아니라 그래프 조회 함수</a:t>
            </a:r>
            <a:endParaRPr sz="1200">
              <a:solidFill>
                <a:schemeClr val="dk1"/>
              </a:solidFill>
              <a:latin typeface="Calibri"/>
              <a:ea typeface="Calibri"/>
              <a:cs typeface="Calibri"/>
              <a:sym typeface="Calibri"/>
            </a:endParaRPr>
          </a:p>
        </p:txBody>
      </p:sp>
      <p:sp>
        <p:nvSpPr>
          <p:cNvPr id="239" name="Google Shape;239;p5"/>
          <p:cNvSpPr/>
          <p:nvPr/>
        </p:nvSpPr>
        <p:spPr>
          <a:xfrm>
            <a:off x="4251960" y="1737360"/>
            <a:ext cx="3611880" cy="4206240"/>
          </a:xfrm>
          <a:prstGeom prst="roundRect">
            <a:avLst>
              <a:gd fmla="val 2025" name="adj"/>
            </a:avLst>
          </a:prstGeom>
          <a:solidFill>
            <a:srgbClr val="FFFFFF"/>
          </a:solidFill>
          <a:ln cap="flat" cmpd="sng" w="12700">
            <a:solidFill>
              <a:srgbClr val="E2E6F2"/>
            </a:solidFill>
            <a:prstDash val="solid"/>
            <a:round/>
            <a:headEnd len="sm" w="sm" type="none"/>
            <a:tailEnd len="sm" w="sm" type="none"/>
          </a:ln>
          <a:effectLst>
            <a:outerShdw blurRad="63500" rotWithShape="0" algn="bl" dir="5400000" dist="25400">
              <a:srgbClr val="1E2761">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5"/>
          <p:cNvSpPr/>
          <p:nvPr/>
        </p:nvSpPr>
        <p:spPr>
          <a:xfrm>
            <a:off x="4251960" y="1737360"/>
            <a:ext cx="3611880" cy="502920"/>
          </a:xfrm>
          <a:prstGeom prst="rect">
            <a:avLst/>
          </a:prstGeom>
          <a:solidFill>
            <a:srgbClr val="3B5B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5"/>
          <p:cNvSpPr/>
          <p:nvPr/>
        </p:nvSpPr>
        <p:spPr>
          <a:xfrm>
            <a:off x="4434840" y="1737360"/>
            <a:ext cx="324612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모델 (OpenAI gpt-4o-mini) &amp; </a:t>
            </a:r>
            <a:r>
              <a:rPr b="1" lang="en-US">
                <a:solidFill>
                  <a:srgbClr val="FFFFFF"/>
                </a:solidFill>
                <a:latin typeface="Calibri"/>
                <a:ea typeface="Calibri"/>
                <a:cs typeface="Calibri"/>
                <a:sym typeface="Calibri"/>
              </a:rPr>
              <a:t>설계 요소</a:t>
            </a:r>
            <a:endParaRPr sz="1400">
              <a:solidFill>
                <a:schemeClr val="dk1"/>
              </a:solidFill>
              <a:latin typeface="Calibri"/>
              <a:ea typeface="Calibri"/>
              <a:cs typeface="Calibri"/>
              <a:sym typeface="Calibri"/>
            </a:endParaRPr>
          </a:p>
        </p:txBody>
      </p:sp>
      <p:sp>
        <p:nvSpPr>
          <p:cNvPr id="242" name="Google Shape;242;p5"/>
          <p:cNvSpPr/>
          <p:nvPr/>
        </p:nvSpPr>
        <p:spPr>
          <a:xfrm>
            <a:off x="4464831" y="2543238"/>
            <a:ext cx="63900" cy="63900"/>
          </a:xfrm>
          <a:prstGeom prst="ellipse">
            <a:avLst/>
          </a:prstGeom>
          <a:solidFill>
            <a:srgbClr val="3B5B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5"/>
          <p:cNvSpPr/>
          <p:nvPr/>
        </p:nvSpPr>
        <p:spPr>
          <a:xfrm>
            <a:off x="4600899" y="2444564"/>
            <a:ext cx="3045000" cy="77730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050"/>
              <a:buFont typeface="Calibri"/>
              <a:buNone/>
            </a:pPr>
            <a:r>
              <a:rPr lang="en-US" sz="1200">
                <a:solidFill>
                  <a:srgbClr val="1F2430"/>
                </a:solidFill>
                <a:latin typeface="Calibri"/>
                <a:ea typeface="Calibri"/>
                <a:cs typeface="Calibri"/>
                <a:sym typeface="Calibri"/>
              </a:rPr>
              <a:t> 프롬프트 : RCIF 를 시스템 프롬프트에 적용</a:t>
            </a:r>
            <a:endParaRPr sz="1200">
              <a:solidFill>
                <a:srgbClr val="1F2430"/>
              </a:solidFill>
              <a:latin typeface="Calibri"/>
              <a:ea typeface="Calibri"/>
              <a:cs typeface="Calibri"/>
              <a:sym typeface="Calibri"/>
            </a:endParaRPr>
          </a:p>
          <a:p>
            <a:pPr indent="0" lvl="0" marL="0" marR="0" rtl="0" algn="l">
              <a:lnSpc>
                <a:spcPct val="108000"/>
              </a:lnSpc>
              <a:spcBef>
                <a:spcPts val="0"/>
              </a:spcBef>
              <a:spcAft>
                <a:spcPts val="0"/>
              </a:spcAft>
              <a:buClr>
                <a:srgbClr val="1F2430"/>
              </a:buClr>
              <a:buSzPts val="1050"/>
              <a:buFont typeface="Calibri"/>
              <a:buNone/>
            </a:pPr>
            <a:r>
              <a:rPr lang="en-US" sz="1200">
                <a:solidFill>
                  <a:srgbClr val="1F2430"/>
                </a:solidFill>
                <a:latin typeface="Calibri"/>
                <a:ea typeface="Calibri"/>
                <a:cs typeface="Calibri"/>
                <a:sym typeface="Calibri"/>
              </a:rPr>
              <a:t>실제 오분류 4건으로 Few-shot </a:t>
            </a:r>
            <a:endParaRPr sz="1200">
              <a:solidFill>
                <a:srgbClr val="1F2430"/>
              </a:solidFill>
              <a:latin typeface="Calibri"/>
              <a:ea typeface="Calibri"/>
              <a:cs typeface="Calibri"/>
              <a:sym typeface="Calibri"/>
            </a:endParaRPr>
          </a:p>
          <a:p>
            <a:pPr indent="0" lvl="0" marL="0" marR="0" rtl="0" algn="l">
              <a:lnSpc>
                <a:spcPct val="108000"/>
              </a:lnSpc>
              <a:spcBef>
                <a:spcPts val="0"/>
              </a:spcBef>
              <a:spcAft>
                <a:spcPts val="0"/>
              </a:spcAft>
              <a:buClr>
                <a:srgbClr val="1F2430"/>
              </a:buClr>
              <a:buSzPts val="1050"/>
              <a:buFont typeface="Calibri"/>
              <a:buNone/>
            </a:pPr>
            <a:r>
              <a:rPr lang="en-US" sz="1200">
                <a:solidFill>
                  <a:srgbClr val="1F2430"/>
                </a:solidFill>
                <a:latin typeface="Calibri"/>
                <a:ea typeface="Calibri"/>
                <a:cs typeface="Calibri"/>
                <a:sym typeface="Calibri"/>
              </a:rPr>
              <a:t>→ </a:t>
            </a:r>
            <a:r>
              <a:rPr lang="en-US" sz="1200">
                <a:solidFill>
                  <a:srgbClr val="1F2430"/>
                </a:solidFill>
                <a:latin typeface="Calibri"/>
                <a:ea typeface="Calibri"/>
                <a:cs typeface="Calibri"/>
                <a:sym typeface="Calibri"/>
              </a:rPr>
              <a:t>평가셋 24건으로 확대</a:t>
            </a:r>
            <a:endParaRPr sz="1200">
              <a:solidFill>
                <a:srgbClr val="1F2430"/>
              </a:solidFill>
              <a:latin typeface="Calibri"/>
              <a:ea typeface="Calibri"/>
              <a:cs typeface="Calibri"/>
              <a:sym typeface="Calibri"/>
            </a:endParaRPr>
          </a:p>
        </p:txBody>
      </p:sp>
      <p:sp>
        <p:nvSpPr>
          <p:cNvPr id="244" name="Google Shape;244;p5"/>
          <p:cNvSpPr/>
          <p:nvPr/>
        </p:nvSpPr>
        <p:spPr>
          <a:xfrm>
            <a:off x="4464831" y="3358407"/>
            <a:ext cx="63900" cy="63900"/>
          </a:xfrm>
          <a:prstGeom prst="ellipse">
            <a:avLst/>
          </a:prstGeom>
          <a:solidFill>
            <a:srgbClr val="3B5B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5"/>
          <p:cNvSpPr/>
          <p:nvPr/>
        </p:nvSpPr>
        <p:spPr>
          <a:xfrm>
            <a:off x="4600899" y="3238329"/>
            <a:ext cx="3045000" cy="77730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050"/>
              <a:buFont typeface="Calibri"/>
              <a:buNone/>
            </a:pPr>
            <a:r>
              <a:rPr lang="en-US" sz="1200">
                <a:solidFill>
                  <a:srgbClr val="1F2430"/>
                </a:solidFill>
                <a:latin typeface="Calibri"/>
                <a:ea typeface="Calibri"/>
                <a:cs typeface="Calibri"/>
                <a:sym typeface="Calibri"/>
              </a:rPr>
              <a:t> 체인 구조 : </a:t>
            </a:r>
            <a:r>
              <a:rPr lang="en-US" sz="1200">
                <a:solidFill>
                  <a:srgbClr val="1F2430"/>
                </a:solidFill>
                <a:latin typeface="Calibri"/>
                <a:ea typeface="Calibri"/>
                <a:cs typeface="Calibri"/>
                <a:sym typeface="Calibri"/>
              </a:rPr>
              <a:t>LangChain LCEL — prompt | llm.with_structured_output(Model)</a:t>
            </a:r>
            <a:endParaRPr sz="1200">
              <a:solidFill>
                <a:schemeClr val="dk1"/>
              </a:solidFill>
              <a:latin typeface="Calibri"/>
              <a:ea typeface="Calibri"/>
              <a:cs typeface="Calibri"/>
              <a:sym typeface="Calibri"/>
            </a:endParaRPr>
          </a:p>
        </p:txBody>
      </p:sp>
      <p:sp>
        <p:nvSpPr>
          <p:cNvPr id="246" name="Google Shape;246;p5"/>
          <p:cNvSpPr/>
          <p:nvPr/>
        </p:nvSpPr>
        <p:spPr>
          <a:xfrm>
            <a:off x="4464831" y="4280598"/>
            <a:ext cx="63900" cy="63900"/>
          </a:xfrm>
          <a:prstGeom prst="ellipse">
            <a:avLst/>
          </a:prstGeom>
          <a:solidFill>
            <a:srgbClr val="3B5B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5"/>
          <p:cNvSpPr/>
          <p:nvPr/>
        </p:nvSpPr>
        <p:spPr>
          <a:xfrm>
            <a:off x="4600899" y="4160520"/>
            <a:ext cx="3045000" cy="77730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050"/>
              <a:buFont typeface="Calibri"/>
              <a:buNone/>
            </a:pPr>
            <a:r>
              <a:rPr lang="en-US" sz="1200">
                <a:solidFill>
                  <a:srgbClr val="1F2430"/>
                </a:solidFill>
                <a:latin typeface="Calibri"/>
                <a:ea typeface="Calibri"/>
                <a:cs typeface="Calibri"/>
                <a:sym typeface="Calibri"/>
              </a:rPr>
              <a:t> 상태 관리 : Summary Memory 방식</a:t>
            </a:r>
            <a:endParaRPr sz="1200">
              <a:solidFill>
                <a:schemeClr val="dk1"/>
              </a:solidFill>
              <a:latin typeface="Calibri"/>
              <a:ea typeface="Calibri"/>
              <a:cs typeface="Calibri"/>
              <a:sym typeface="Calibri"/>
            </a:endParaRPr>
          </a:p>
        </p:txBody>
      </p:sp>
      <p:sp>
        <p:nvSpPr>
          <p:cNvPr id="248" name="Google Shape;248;p5"/>
          <p:cNvSpPr/>
          <p:nvPr/>
        </p:nvSpPr>
        <p:spPr>
          <a:xfrm>
            <a:off x="4464831" y="5138576"/>
            <a:ext cx="63900" cy="63900"/>
          </a:xfrm>
          <a:prstGeom prst="ellipse">
            <a:avLst/>
          </a:prstGeom>
          <a:solidFill>
            <a:srgbClr val="3B5B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5"/>
          <p:cNvSpPr/>
          <p:nvPr/>
        </p:nvSpPr>
        <p:spPr>
          <a:xfrm>
            <a:off x="4600899" y="5029200"/>
            <a:ext cx="3045000" cy="77730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050"/>
              <a:buFont typeface="Calibri"/>
              <a:buNone/>
            </a:pPr>
            <a:r>
              <a:rPr lang="en-US" sz="1200">
                <a:solidFill>
                  <a:srgbClr val="1F2430"/>
                </a:solidFill>
                <a:latin typeface="Calibri"/>
                <a:ea typeface="Calibri"/>
                <a:cs typeface="Calibri"/>
                <a:sym typeface="Calibri"/>
              </a:rPr>
              <a:t> 스트리밍 : </a:t>
            </a:r>
            <a:r>
              <a:rPr lang="en-US" sz="1200">
                <a:solidFill>
                  <a:srgbClr val="1F2430"/>
                </a:solidFill>
                <a:latin typeface="Calibri"/>
                <a:ea typeface="Calibri"/>
                <a:cs typeface="Calibri"/>
                <a:sym typeface="Calibri"/>
              </a:rPr>
              <a:t>Flask 웹 서버 — /api/start·/api/answer·/api/explain(SSE)</a:t>
            </a:r>
            <a:endParaRPr sz="1200">
              <a:solidFill>
                <a:schemeClr val="dk1"/>
              </a:solidFill>
              <a:latin typeface="Calibri"/>
              <a:ea typeface="Calibri"/>
              <a:cs typeface="Calibri"/>
              <a:sym typeface="Calibri"/>
            </a:endParaRPr>
          </a:p>
        </p:txBody>
      </p:sp>
      <p:sp>
        <p:nvSpPr>
          <p:cNvPr id="250" name="Google Shape;250;p5"/>
          <p:cNvSpPr/>
          <p:nvPr/>
        </p:nvSpPr>
        <p:spPr>
          <a:xfrm>
            <a:off x="8046720" y="1737360"/>
            <a:ext cx="3611880" cy="4206240"/>
          </a:xfrm>
          <a:prstGeom prst="roundRect">
            <a:avLst>
              <a:gd fmla="val 2025" name="adj"/>
            </a:avLst>
          </a:prstGeom>
          <a:solidFill>
            <a:srgbClr val="FFFFFF"/>
          </a:solidFill>
          <a:ln cap="flat" cmpd="sng" w="12700">
            <a:solidFill>
              <a:srgbClr val="E2E6F2"/>
            </a:solidFill>
            <a:prstDash val="solid"/>
            <a:round/>
            <a:headEnd len="sm" w="sm" type="none"/>
            <a:tailEnd len="sm" w="sm" type="none"/>
          </a:ln>
          <a:effectLst>
            <a:outerShdw blurRad="63500" rotWithShape="0" algn="bl" dir="5400000" dist="25400">
              <a:srgbClr val="1E2761">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5"/>
          <p:cNvSpPr/>
          <p:nvPr/>
        </p:nvSpPr>
        <p:spPr>
          <a:xfrm>
            <a:off x="8046720" y="1737360"/>
            <a:ext cx="3611880" cy="502920"/>
          </a:xfrm>
          <a:prstGeom prst="rect">
            <a:avLst/>
          </a:prstGeom>
          <a:solidFill>
            <a:srgbClr val="2F9E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5"/>
          <p:cNvSpPr/>
          <p:nvPr/>
        </p:nvSpPr>
        <p:spPr>
          <a:xfrm>
            <a:off x="8229600" y="1737360"/>
            <a:ext cx="324612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지식그래프 / </a:t>
            </a:r>
            <a:r>
              <a:rPr b="1" lang="en-US">
                <a:solidFill>
                  <a:srgbClr val="FFFFFF"/>
                </a:solidFill>
                <a:latin typeface="Calibri"/>
                <a:ea typeface="Calibri"/>
                <a:cs typeface="Calibri"/>
                <a:sym typeface="Calibri"/>
              </a:rPr>
              <a:t>온톨로지</a:t>
            </a:r>
            <a:endParaRPr sz="1400">
              <a:solidFill>
                <a:schemeClr val="dk1"/>
              </a:solidFill>
              <a:latin typeface="Calibri"/>
              <a:ea typeface="Calibri"/>
              <a:cs typeface="Calibri"/>
              <a:sym typeface="Calibri"/>
            </a:endParaRPr>
          </a:p>
        </p:txBody>
      </p:sp>
      <p:sp>
        <p:nvSpPr>
          <p:cNvPr id="253" name="Google Shape;253;p5"/>
          <p:cNvSpPr/>
          <p:nvPr/>
        </p:nvSpPr>
        <p:spPr>
          <a:xfrm>
            <a:off x="8259591" y="2543238"/>
            <a:ext cx="63900" cy="63900"/>
          </a:xfrm>
          <a:prstGeom prst="ellipse">
            <a:avLst/>
          </a:prstGeom>
          <a:solidFill>
            <a:srgbClr val="2F9E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5"/>
          <p:cNvSpPr/>
          <p:nvPr/>
        </p:nvSpPr>
        <p:spPr>
          <a:xfrm>
            <a:off x="8430768" y="2423160"/>
            <a:ext cx="3045000" cy="77730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050"/>
              <a:buFont typeface="Calibri"/>
              <a:buNone/>
            </a:pPr>
            <a:r>
              <a:rPr lang="en-US" sz="1200">
                <a:solidFill>
                  <a:srgbClr val="1F2430"/>
                </a:solidFill>
                <a:latin typeface="Calibri"/>
                <a:ea typeface="Calibri"/>
                <a:cs typeface="Calibri"/>
                <a:sym typeface="Calibri"/>
              </a:rPr>
              <a:t> </a:t>
            </a:r>
            <a:r>
              <a:rPr lang="en-US" sz="1200">
                <a:solidFill>
                  <a:srgbClr val="1F2430"/>
                </a:solidFill>
                <a:latin typeface="Calibri"/>
                <a:ea typeface="Calibri"/>
                <a:cs typeface="Calibri"/>
                <a:sym typeface="Calibri"/>
              </a:rPr>
              <a:t>Neo4j 없이 graph.json + Python 딕셔너리로 구현 (노드 3종·2홉)</a:t>
            </a:r>
            <a:endParaRPr sz="1200">
              <a:solidFill>
                <a:schemeClr val="dk1"/>
              </a:solidFill>
              <a:latin typeface="Calibri"/>
              <a:ea typeface="Calibri"/>
              <a:cs typeface="Calibri"/>
              <a:sym typeface="Calibri"/>
            </a:endParaRPr>
          </a:p>
        </p:txBody>
      </p:sp>
      <p:sp>
        <p:nvSpPr>
          <p:cNvPr id="255" name="Google Shape;255;p5"/>
          <p:cNvSpPr/>
          <p:nvPr/>
        </p:nvSpPr>
        <p:spPr>
          <a:xfrm>
            <a:off x="8259591" y="3358407"/>
            <a:ext cx="63900" cy="63900"/>
          </a:xfrm>
          <a:prstGeom prst="ellipse">
            <a:avLst/>
          </a:prstGeom>
          <a:solidFill>
            <a:srgbClr val="2F9E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5"/>
          <p:cNvSpPr/>
          <p:nvPr/>
        </p:nvSpPr>
        <p:spPr>
          <a:xfrm>
            <a:off x="8430768" y="3259733"/>
            <a:ext cx="3045000" cy="77730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050"/>
              <a:buFont typeface="Calibri"/>
              <a:buNone/>
            </a:pPr>
            <a:r>
              <a:rPr lang="en-US" sz="1200">
                <a:solidFill>
                  <a:srgbClr val="1F2430"/>
                </a:solidFill>
                <a:latin typeface="Calibri"/>
                <a:ea typeface="Calibri"/>
                <a:cs typeface="Calibri"/>
                <a:sym typeface="Calibri"/>
              </a:rPr>
              <a:t> </a:t>
            </a:r>
            <a:r>
              <a:rPr lang="en-US" sz="1200">
                <a:solidFill>
                  <a:srgbClr val="1F2430"/>
                </a:solidFill>
                <a:latin typeface="Calibri"/>
                <a:ea typeface="Calibri"/>
                <a:cs typeface="Calibri"/>
                <a:sym typeface="Calibri"/>
              </a:rPr>
              <a:t>통제 어휘(CANON) 139개 — 표기가 달라도 같은 역량은 같은 이름으로</a:t>
            </a:r>
            <a:endParaRPr sz="1200">
              <a:solidFill>
                <a:schemeClr val="dk1"/>
              </a:solidFill>
              <a:latin typeface="Calibri"/>
              <a:ea typeface="Calibri"/>
              <a:cs typeface="Calibri"/>
              <a:sym typeface="Calibri"/>
            </a:endParaRPr>
          </a:p>
        </p:txBody>
      </p:sp>
      <p:sp>
        <p:nvSpPr>
          <p:cNvPr id="257" name="Google Shape;257;p5"/>
          <p:cNvSpPr/>
          <p:nvPr/>
        </p:nvSpPr>
        <p:spPr>
          <a:xfrm>
            <a:off x="8259591" y="4280598"/>
            <a:ext cx="63900" cy="63900"/>
          </a:xfrm>
          <a:prstGeom prst="ellipse">
            <a:avLst/>
          </a:prstGeom>
          <a:solidFill>
            <a:srgbClr val="2F9E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5"/>
          <p:cNvSpPr/>
          <p:nvPr/>
        </p:nvSpPr>
        <p:spPr>
          <a:xfrm>
            <a:off x="8430768" y="4160520"/>
            <a:ext cx="3045000" cy="77730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050"/>
              <a:buFont typeface="Calibri"/>
              <a:buNone/>
            </a:pPr>
            <a:r>
              <a:rPr lang="en-US" sz="1200">
                <a:solidFill>
                  <a:srgbClr val="1F2430"/>
                </a:solidFill>
                <a:latin typeface="Calibri"/>
                <a:ea typeface="Calibri"/>
                <a:cs typeface="Calibri"/>
                <a:sym typeface="Calibri"/>
              </a:rPr>
              <a:t> </a:t>
            </a:r>
            <a:r>
              <a:rPr lang="en-US" sz="1200">
                <a:solidFill>
                  <a:srgbClr val="1F2430"/>
                </a:solidFill>
                <a:latin typeface="Calibri"/>
                <a:ea typeface="Calibri"/>
                <a:cs typeface="Calibri"/>
                <a:sym typeface="Calibri"/>
              </a:rPr>
              <a:t>IS_A </a:t>
            </a:r>
            <a:r>
              <a:rPr lang="en-US" sz="1200">
                <a:solidFill>
                  <a:srgbClr val="1F2430"/>
                </a:solidFill>
                <a:latin typeface="Calibri"/>
                <a:ea typeface="Calibri"/>
                <a:cs typeface="Calibri"/>
                <a:sym typeface="Calibri"/>
              </a:rPr>
              <a:t>온톨로지 </a:t>
            </a:r>
            <a:r>
              <a:rPr lang="en-US" sz="1200">
                <a:solidFill>
                  <a:srgbClr val="1F2430"/>
                </a:solidFill>
                <a:latin typeface="Calibri"/>
                <a:ea typeface="Calibri"/>
                <a:cs typeface="Calibri"/>
                <a:sym typeface="Calibri"/>
              </a:rPr>
              <a:t>계층 102개 — </a:t>
            </a:r>
            <a:r>
              <a:rPr lang="en-US" sz="1200">
                <a:solidFill>
                  <a:srgbClr val="1F2430"/>
                </a:solidFill>
                <a:latin typeface="Calibri"/>
                <a:ea typeface="Calibri"/>
                <a:cs typeface="Calibri"/>
                <a:sym typeface="Calibri"/>
              </a:rPr>
              <a:t>도구 개념에서 학문 개념으로 추상화</a:t>
            </a:r>
            <a:endParaRPr sz="1200">
              <a:solidFill>
                <a:srgbClr val="1F2430"/>
              </a:solidFill>
              <a:latin typeface="Calibri"/>
              <a:ea typeface="Calibri"/>
              <a:cs typeface="Calibri"/>
              <a:sym typeface="Calibri"/>
            </a:endParaRPr>
          </a:p>
          <a:p>
            <a:pPr indent="0" lvl="0" marL="0" marR="0" rtl="0" algn="l">
              <a:lnSpc>
                <a:spcPct val="108000"/>
              </a:lnSpc>
              <a:spcBef>
                <a:spcPts val="0"/>
              </a:spcBef>
              <a:spcAft>
                <a:spcPts val="0"/>
              </a:spcAft>
              <a:buClr>
                <a:srgbClr val="1F2430"/>
              </a:buClr>
              <a:buSzPts val="1050"/>
              <a:buFont typeface="Calibri"/>
              <a:buNone/>
            </a:pPr>
            <a:r>
              <a:rPr lang="en-US" sz="1200">
                <a:solidFill>
                  <a:srgbClr val="1F2430"/>
                </a:solidFill>
                <a:latin typeface="Calibri"/>
                <a:ea typeface="Calibri"/>
                <a:cs typeface="Calibri"/>
                <a:sym typeface="Calibri"/>
              </a:rPr>
              <a:t>ex: Oracle → Database</a:t>
            </a:r>
            <a:endParaRPr sz="1200">
              <a:solidFill>
                <a:srgbClr val="1F2430"/>
              </a:solidFill>
              <a:latin typeface="Calibri"/>
              <a:ea typeface="Calibri"/>
              <a:cs typeface="Calibri"/>
              <a:sym typeface="Calibri"/>
            </a:endParaRPr>
          </a:p>
        </p:txBody>
      </p:sp>
      <p:sp>
        <p:nvSpPr>
          <p:cNvPr id="259" name="Google Shape;259;p5"/>
          <p:cNvSpPr/>
          <p:nvPr/>
        </p:nvSpPr>
        <p:spPr>
          <a:xfrm>
            <a:off x="8247888" y="5126873"/>
            <a:ext cx="63900" cy="63900"/>
          </a:xfrm>
          <a:prstGeom prst="ellipse">
            <a:avLst/>
          </a:prstGeom>
          <a:solidFill>
            <a:srgbClr val="2F9E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5"/>
          <p:cNvSpPr/>
          <p:nvPr/>
        </p:nvSpPr>
        <p:spPr>
          <a:xfrm>
            <a:off x="8430768" y="5029200"/>
            <a:ext cx="3045000" cy="77730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050"/>
              <a:buFont typeface="Calibri"/>
              <a:buNone/>
            </a:pPr>
            <a:r>
              <a:rPr lang="en-US" sz="1200">
                <a:solidFill>
                  <a:srgbClr val="1F2430"/>
                </a:solidFill>
                <a:latin typeface="Calibri"/>
                <a:ea typeface="Calibri"/>
                <a:cs typeface="Calibri"/>
                <a:sym typeface="Calibri"/>
              </a:rPr>
              <a:t> 노드를 잇는 </a:t>
            </a:r>
            <a:r>
              <a:rPr lang="en-US" sz="1200">
                <a:solidFill>
                  <a:srgbClr val="1F2430"/>
                </a:solidFill>
                <a:latin typeface="Calibri"/>
                <a:ea typeface="Calibri"/>
                <a:cs typeface="Calibri"/>
                <a:sym typeface="Calibri"/>
              </a:rPr>
              <a:t>관계 5종: </a:t>
            </a:r>
            <a:endParaRPr sz="1200">
              <a:solidFill>
                <a:srgbClr val="1F2430"/>
              </a:solidFill>
              <a:latin typeface="Calibri"/>
              <a:ea typeface="Calibri"/>
              <a:cs typeface="Calibri"/>
              <a:sym typeface="Calibri"/>
            </a:endParaRPr>
          </a:p>
          <a:p>
            <a:pPr indent="0" lvl="0" marL="0" marR="0" rtl="0" algn="l">
              <a:lnSpc>
                <a:spcPct val="108000"/>
              </a:lnSpc>
              <a:spcBef>
                <a:spcPts val="0"/>
              </a:spcBef>
              <a:spcAft>
                <a:spcPts val="0"/>
              </a:spcAft>
              <a:buClr>
                <a:srgbClr val="1F2430"/>
              </a:buClr>
              <a:buSzPts val="1050"/>
              <a:buFont typeface="Calibri"/>
              <a:buNone/>
            </a:pPr>
            <a:r>
              <a:rPr lang="en-US" sz="1200">
                <a:solidFill>
                  <a:srgbClr val="1F2430"/>
                </a:solidFill>
                <a:latin typeface="Calibri"/>
                <a:ea typeface="Calibri"/>
                <a:cs typeface="Calibri"/>
                <a:sym typeface="Calibri"/>
              </a:rPr>
              <a:t>DEVELOPS · REQUIRES/PREFERS · IS_A · SUGGESTS · MATCHES/WANTS</a:t>
            </a:r>
            <a:endParaRPr sz="1200">
              <a:solidFill>
                <a:schemeClr val="dk1"/>
              </a:solidFill>
              <a:latin typeface="Calibri"/>
              <a:ea typeface="Calibri"/>
              <a:cs typeface="Calibri"/>
              <a:sym typeface="Calibri"/>
            </a:endParaRPr>
          </a:p>
        </p:txBody>
      </p:sp>
      <p:sp>
        <p:nvSpPr>
          <p:cNvPr id="261" name="Google Shape;261;p5"/>
          <p:cNvSpPr/>
          <p:nvPr/>
        </p:nvSpPr>
        <p:spPr>
          <a:xfrm>
            <a:off x="11277295" y="647395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072"/>
              </a:buClr>
              <a:buSzPts val="900"/>
              <a:buFont typeface="Calibri"/>
              <a:buNone/>
            </a:pPr>
            <a:r>
              <a:rPr lang="en-US" sz="900">
                <a:solidFill>
                  <a:srgbClr val="5A6072"/>
                </a:solidFill>
                <a:latin typeface="Calibri"/>
                <a:ea typeface="Calibri"/>
                <a:cs typeface="Calibri"/>
                <a:sym typeface="Calibri"/>
              </a:rPr>
              <a:t>6</a:t>
            </a:r>
            <a:endParaRPr sz="900">
              <a:solidFill>
                <a:schemeClr val="dk1"/>
              </a:solidFill>
              <a:latin typeface="Calibri"/>
              <a:ea typeface="Calibri"/>
              <a:cs typeface="Calibri"/>
              <a:sym typeface="Calibri"/>
            </a:endParaRPr>
          </a:p>
        </p:txBody>
      </p:sp>
      <p:sp>
        <p:nvSpPr>
          <p:cNvPr id="262" name="Google Shape;262;p5"/>
          <p:cNvSpPr/>
          <p:nvPr/>
        </p:nvSpPr>
        <p:spPr>
          <a:xfrm>
            <a:off x="457200" y="6473952"/>
            <a:ext cx="8686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072"/>
              </a:buClr>
              <a:buSzPts val="900"/>
              <a:buFont typeface="Calibri"/>
              <a:buNone/>
            </a:pPr>
            <a:r>
              <a:rPr lang="en-US" sz="900">
                <a:solidFill>
                  <a:srgbClr val="5A6072"/>
                </a:solidFill>
                <a:latin typeface="Calibri"/>
                <a:ea typeface="Calibri"/>
                <a:cs typeface="Calibri"/>
                <a:sym typeface="Calibri"/>
              </a:rPr>
              <a:t>LG CNS AI캠퍼스 · Knowledge Graph 과정 mini project 1 - LG 직무 추천 AI Agent</a:t>
            </a:r>
            <a:endParaRPr sz="9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C"/>
        </a:solidFill>
      </p:bgPr>
    </p:bg>
    <p:spTree>
      <p:nvGrpSpPr>
        <p:cNvPr id="267" name="Shape 267"/>
        <p:cNvGrpSpPr/>
        <p:nvPr/>
      </p:nvGrpSpPr>
      <p:grpSpPr>
        <a:xfrm>
          <a:off x="0" y="0"/>
          <a:ext cx="0" cy="0"/>
          <a:chOff x="0" y="0"/>
          <a:chExt cx="0" cy="0"/>
        </a:xfrm>
      </p:grpSpPr>
      <p:sp>
        <p:nvSpPr>
          <p:cNvPr id="268" name="Google Shape;268;g409f53afb48_0_81"/>
          <p:cNvSpPr/>
          <p:nvPr/>
        </p:nvSpPr>
        <p:spPr>
          <a:xfrm>
            <a:off x="548700" y="1620075"/>
            <a:ext cx="5353500" cy="1344000"/>
          </a:xfrm>
          <a:prstGeom prst="roundRect">
            <a:avLst>
              <a:gd fmla="val 625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69" name="Google Shape;269;g409f53afb48_0_81"/>
          <p:cNvSpPr/>
          <p:nvPr/>
        </p:nvSpPr>
        <p:spPr>
          <a:xfrm>
            <a:off x="6120800" y="1613075"/>
            <a:ext cx="5436600" cy="1344000"/>
          </a:xfrm>
          <a:prstGeom prst="roundRect">
            <a:avLst>
              <a:gd fmla="val 625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70" name="Google Shape;270;g409f53afb48_0_81"/>
          <p:cNvSpPr/>
          <p:nvPr/>
        </p:nvSpPr>
        <p:spPr>
          <a:xfrm>
            <a:off x="6339839" y="2115991"/>
            <a:ext cx="457200" cy="457200"/>
          </a:xfrm>
          <a:prstGeom prst="ellipse">
            <a:avLst/>
          </a:prstGeom>
          <a:solidFill>
            <a:srgbClr val="1A9E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71" name="Google Shape;271;g409f53afb48_0_81"/>
          <p:cNvSpPr/>
          <p:nvPr/>
        </p:nvSpPr>
        <p:spPr>
          <a:xfrm>
            <a:off x="6339839" y="2115991"/>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Arial"/>
              <a:buNone/>
            </a:pPr>
            <a:r>
              <a:rPr b="1" lang="en-US" sz="1400">
                <a:solidFill>
                  <a:srgbClr val="FFFFFF"/>
                </a:solidFill>
                <a:latin typeface="Calibri"/>
                <a:ea typeface="Calibri"/>
                <a:cs typeface="Calibri"/>
                <a:sym typeface="Calibri"/>
              </a:rPr>
              <a:t>✓</a:t>
            </a:r>
            <a:endParaRPr sz="1400">
              <a:solidFill>
                <a:schemeClr val="dk1"/>
              </a:solidFill>
              <a:latin typeface="Calibri"/>
              <a:ea typeface="Calibri"/>
              <a:cs typeface="Calibri"/>
              <a:sym typeface="Calibri"/>
            </a:endParaRPr>
          </a:p>
        </p:txBody>
      </p:sp>
      <p:sp>
        <p:nvSpPr>
          <p:cNvPr id="272" name="Google Shape;272;g409f53afb48_0_81"/>
          <p:cNvSpPr/>
          <p:nvPr/>
        </p:nvSpPr>
        <p:spPr>
          <a:xfrm>
            <a:off x="7013936" y="1787899"/>
            <a:ext cx="43434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430"/>
              </a:buClr>
              <a:buSzPts val="1400"/>
              <a:buFont typeface="Malgun Gothic"/>
              <a:buNone/>
            </a:pPr>
            <a:r>
              <a:rPr b="1" lang="en-US" sz="1400">
                <a:solidFill>
                  <a:srgbClr val="1F2430"/>
                </a:solidFill>
                <a:latin typeface="Calibri"/>
                <a:ea typeface="Calibri"/>
                <a:cs typeface="Calibri"/>
                <a:sym typeface="Calibri"/>
              </a:rPr>
              <a:t>우리 Agent는 다릅니다</a:t>
            </a:r>
            <a:endParaRPr sz="1400">
              <a:solidFill>
                <a:schemeClr val="dk1"/>
              </a:solidFill>
              <a:latin typeface="Calibri"/>
              <a:ea typeface="Calibri"/>
              <a:cs typeface="Calibri"/>
              <a:sym typeface="Calibri"/>
            </a:endParaRPr>
          </a:p>
        </p:txBody>
      </p:sp>
      <p:sp>
        <p:nvSpPr>
          <p:cNvPr id="273" name="Google Shape;273;g409f53afb48_0_81"/>
          <p:cNvSpPr/>
          <p:nvPr/>
        </p:nvSpPr>
        <p:spPr>
          <a:xfrm>
            <a:off x="7013925" y="2051397"/>
            <a:ext cx="4465800" cy="8595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150">
                <a:solidFill>
                  <a:srgbClr val="6B7280"/>
                </a:solidFill>
                <a:latin typeface="Calibri"/>
                <a:ea typeface="Calibri"/>
                <a:cs typeface="Calibri"/>
                <a:sym typeface="Calibri"/>
              </a:rPr>
              <a:t>지식 그래프 내에 있는 모든 데이터들을 비교하여 순위를 매긴 후 답변을 생성하기 때문에 Hallucination 문제가 발생하지 않고, 재현성이 높아서 같은 질문에 항상 같은 답변을 생성합니다.</a:t>
            </a:r>
            <a:endParaRPr sz="1150">
              <a:solidFill>
                <a:srgbClr val="6B7280"/>
              </a:solidFill>
              <a:latin typeface="Calibri"/>
              <a:ea typeface="Calibri"/>
              <a:cs typeface="Calibri"/>
              <a:sym typeface="Calibri"/>
            </a:endParaRPr>
          </a:p>
        </p:txBody>
      </p:sp>
      <p:sp>
        <p:nvSpPr>
          <p:cNvPr id="274" name="Google Shape;274;g409f53afb48_0_81"/>
          <p:cNvSpPr/>
          <p:nvPr/>
        </p:nvSpPr>
        <p:spPr>
          <a:xfrm>
            <a:off x="741119" y="2152768"/>
            <a:ext cx="457200" cy="457200"/>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75" name="Google Shape;275;g409f53afb48_0_81"/>
          <p:cNvSpPr/>
          <p:nvPr/>
        </p:nvSpPr>
        <p:spPr>
          <a:xfrm>
            <a:off x="741119" y="2152768"/>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Arial"/>
              <a:buNone/>
            </a:pPr>
            <a:r>
              <a:rPr b="1" lang="en-US" sz="1400">
                <a:solidFill>
                  <a:srgbClr val="FFFFFF"/>
                </a:solidFill>
                <a:latin typeface="Calibri"/>
                <a:ea typeface="Calibri"/>
                <a:cs typeface="Calibri"/>
                <a:sym typeface="Calibri"/>
              </a:rPr>
              <a:t>!</a:t>
            </a:r>
            <a:endParaRPr sz="1400">
              <a:solidFill>
                <a:schemeClr val="dk1"/>
              </a:solidFill>
              <a:latin typeface="Calibri"/>
              <a:ea typeface="Calibri"/>
              <a:cs typeface="Calibri"/>
              <a:sym typeface="Calibri"/>
            </a:endParaRPr>
          </a:p>
        </p:txBody>
      </p:sp>
      <p:sp>
        <p:nvSpPr>
          <p:cNvPr id="276" name="Google Shape;276;g409f53afb48_0_81"/>
          <p:cNvSpPr/>
          <p:nvPr/>
        </p:nvSpPr>
        <p:spPr>
          <a:xfrm>
            <a:off x="1426919" y="1742755"/>
            <a:ext cx="43434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430"/>
              </a:buClr>
              <a:buSzPts val="1400"/>
              <a:buFont typeface="Malgun Gothic"/>
              <a:buNone/>
            </a:pPr>
            <a:r>
              <a:rPr b="1" lang="en-US" sz="1400">
                <a:solidFill>
                  <a:srgbClr val="1F2430"/>
                </a:solidFill>
                <a:latin typeface="Calibri"/>
                <a:ea typeface="Calibri"/>
                <a:cs typeface="Calibri"/>
                <a:sym typeface="Calibri"/>
              </a:rPr>
              <a:t>챗봇은 근거 없이 답한다</a:t>
            </a:r>
            <a:endParaRPr sz="1400">
              <a:solidFill>
                <a:schemeClr val="dk1"/>
              </a:solidFill>
              <a:latin typeface="Calibri"/>
              <a:ea typeface="Calibri"/>
              <a:cs typeface="Calibri"/>
              <a:sym typeface="Calibri"/>
            </a:endParaRPr>
          </a:p>
        </p:txBody>
      </p:sp>
      <p:sp>
        <p:nvSpPr>
          <p:cNvPr id="277" name="Google Shape;277;g409f53afb48_0_81"/>
          <p:cNvSpPr/>
          <p:nvPr/>
        </p:nvSpPr>
        <p:spPr>
          <a:xfrm>
            <a:off x="2305816" y="2991425"/>
            <a:ext cx="15468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050"/>
              <a:buFont typeface="Malgun Gothic"/>
              <a:buNone/>
            </a:pPr>
            <a:r>
              <a:rPr b="1" lang="en-US" sz="1050">
                <a:solidFill>
                  <a:srgbClr val="6B7280"/>
                </a:solidFill>
                <a:latin typeface="Calibri"/>
                <a:ea typeface="Calibri"/>
                <a:cs typeface="Calibri"/>
                <a:sym typeface="Calibri"/>
              </a:rPr>
              <a:t>① 챗봇이 추천한 과목</a:t>
            </a:r>
            <a:endParaRPr sz="1050">
              <a:solidFill>
                <a:schemeClr val="dk1"/>
              </a:solidFill>
              <a:latin typeface="Calibri"/>
              <a:ea typeface="Calibri"/>
              <a:cs typeface="Calibri"/>
              <a:sym typeface="Calibri"/>
            </a:endParaRPr>
          </a:p>
        </p:txBody>
      </p:sp>
      <p:sp>
        <p:nvSpPr>
          <p:cNvPr id="278" name="Google Shape;278;g409f53afb48_0_81"/>
          <p:cNvSpPr/>
          <p:nvPr/>
        </p:nvSpPr>
        <p:spPr>
          <a:xfrm>
            <a:off x="1443332" y="2057657"/>
            <a:ext cx="4343400" cy="8595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6B7280"/>
              </a:buClr>
              <a:buSzPts val="1150"/>
              <a:buFont typeface="Malgun Gothic"/>
              <a:buNone/>
            </a:pPr>
            <a:r>
              <a:rPr lang="en-US" sz="1150">
                <a:solidFill>
                  <a:srgbClr val="6B7280"/>
                </a:solidFill>
                <a:latin typeface="Calibri"/>
                <a:ea typeface="Calibri"/>
                <a:cs typeface="Calibri"/>
                <a:sym typeface="Calibri"/>
              </a:rPr>
              <a:t>학교·과목이 실재하는지 확인하지 않고, 그럴듯한 답을 자신 있게</a:t>
            </a:r>
            <a:r>
              <a:rPr lang="en-US" sz="1150">
                <a:solidFill>
                  <a:schemeClr val="dk1"/>
                </a:solidFill>
                <a:latin typeface="Calibri"/>
                <a:ea typeface="Calibri"/>
                <a:cs typeface="Calibri"/>
                <a:sym typeface="Calibri"/>
              </a:rPr>
              <a:t> </a:t>
            </a:r>
            <a:r>
              <a:rPr lang="en-US" sz="1150">
                <a:solidFill>
                  <a:srgbClr val="6B7280"/>
                </a:solidFill>
                <a:latin typeface="Calibri"/>
                <a:ea typeface="Calibri"/>
                <a:cs typeface="Calibri"/>
                <a:sym typeface="Calibri"/>
              </a:rPr>
              <a:t>만들어냅니다 - 실제로 존재하지 않는 '고급수학 1, 2'를 정규 과목인 것처럼 답변하였습니다.</a:t>
            </a:r>
            <a:endParaRPr sz="1150">
              <a:solidFill>
                <a:schemeClr val="dk1"/>
              </a:solidFill>
              <a:latin typeface="Calibri"/>
              <a:ea typeface="Calibri"/>
              <a:cs typeface="Calibri"/>
              <a:sym typeface="Calibri"/>
            </a:endParaRPr>
          </a:p>
        </p:txBody>
      </p:sp>
      <p:sp>
        <p:nvSpPr>
          <p:cNvPr id="279" name="Google Shape;279;g409f53afb48_0_81"/>
          <p:cNvSpPr/>
          <p:nvPr/>
        </p:nvSpPr>
        <p:spPr>
          <a:xfrm>
            <a:off x="7955275" y="2999200"/>
            <a:ext cx="18111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050"/>
              <a:buFont typeface="Malgun Gothic"/>
              <a:buNone/>
            </a:pPr>
            <a:r>
              <a:rPr b="1" lang="en-US" sz="1050">
                <a:solidFill>
                  <a:srgbClr val="6B7280"/>
                </a:solidFill>
                <a:latin typeface="Calibri"/>
                <a:ea typeface="Calibri"/>
                <a:cs typeface="Calibri"/>
                <a:sym typeface="Calibri"/>
              </a:rPr>
              <a:t>② 실제 데이터 검색 결과</a:t>
            </a:r>
            <a:endParaRPr sz="1050">
              <a:solidFill>
                <a:schemeClr val="dk1"/>
              </a:solidFill>
              <a:latin typeface="Calibri"/>
              <a:ea typeface="Calibri"/>
              <a:cs typeface="Calibri"/>
              <a:sym typeface="Calibri"/>
            </a:endParaRPr>
          </a:p>
        </p:txBody>
      </p:sp>
      <p:pic>
        <p:nvPicPr>
          <p:cNvPr descr="/mnt/user-data/uploads/챗봇_증거2.png" id="280" name="Google Shape;280;g409f53afb48_0_81"/>
          <p:cNvPicPr preferRelativeResize="0"/>
          <p:nvPr/>
        </p:nvPicPr>
        <p:blipFill rotWithShape="1">
          <a:blip r:embed="rId3">
            <a:alphaModFix/>
          </a:blip>
          <a:srcRect b="0" l="0" r="0" t="0"/>
          <a:stretch/>
        </p:blipFill>
        <p:spPr>
          <a:xfrm>
            <a:off x="1660110" y="3236021"/>
            <a:ext cx="2865676" cy="3171728"/>
          </a:xfrm>
          <a:prstGeom prst="rect">
            <a:avLst/>
          </a:prstGeom>
          <a:noFill/>
          <a:ln>
            <a:noFill/>
          </a:ln>
        </p:spPr>
      </p:pic>
      <p:pic>
        <p:nvPicPr>
          <p:cNvPr descr="/mnt/user-data/uploads/챗봇_증거1.png" id="281" name="Google Shape;281;g409f53afb48_0_81"/>
          <p:cNvPicPr preferRelativeResize="0"/>
          <p:nvPr/>
        </p:nvPicPr>
        <p:blipFill rotWithShape="1">
          <a:blip r:embed="rId4">
            <a:alphaModFix/>
          </a:blip>
          <a:srcRect b="0" l="0" r="0" t="0"/>
          <a:stretch/>
        </p:blipFill>
        <p:spPr>
          <a:xfrm>
            <a:off x="6132554" y="3291026"/>
            <a:ext cx="5436700" cy="3178725"/>
          </a:xfrm>
          <a:prstGeom prst="rect">
            <a:avLst/>
          </a:prstGeom>
          <a:noFill/>
          <a:ln>
            <a:noFill/>
          </a:ln>
        </p:spPr>
      </p:pic>
      <p:sp>
        <p:nvSpPr>
          <p:cNvPr id="282" name="Google Shape;282;g409f53afb48_0_81"/>
          <p:cNvSpPr/>
          <p:nvPr/>
        </p:nvSpPr>
        <p:spPr>
          <a:xfrm>
            <a:off x="457200" y="6473952"/>
            <a:ext cx="8686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072"/>
              </a:buClr>
              <a:buSzPts val="900"/>
              <a:buFont typeface="Calibri"/>
              <a:buNone/>
            </a:pPr>
            <a:r>
              <a:rPr lang="en-US" sz="900">
                <a:solidFill>
                  <a:srgbClr val="5A6072"/>
                </a:solidFill>
                <a:latin typeface="Calibri"/>
                <a:ea typeface="Calibri"/>
                <a:cs typeface="Calibri"/>
                <a:sym typeface="Calibri"/>
              </a:rPr>
              <a:t>LG CNS AI캠퍼스 · Knowledge Graph 과정 mini project 1 - LG 직무 추천 AI Agent</a:t>
            </a:r>
            <a:endParaRPr sz="900">
              <a:solidFill>
                <a:schemeClr val="dk1"/>
              </a:solidFill>
              <a:latin typeface="Calibri"/>
              <a:ea typeface="Calibri"/>
              <a:cs typeface="Calibri"/>
              <a:sym typeface="Calibri"/>
            </a:endParaRPr>
          </a:p>
        </p:txBody>
      </p:sp>
      <p:sp>
        <p:nvSpPr>
          <p:cNvPr id="283" name="Google Shape;283;g409f53afb48_0_81"/>
          <p:cNvSpPr/>
          <p:nvPr/>
        </p:nvSpPr>
        <p:spPr>
          <a:xfrm>
            <a:off x="457200" y="384048"/>
            <a:ext cx="914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574A"/>
              </a:buClr>
              <a:buSzPts val="2000"/>
              <a:buFont typeface="Calibri"/>
              <a:buNone/>
            </a:pPr>
            <a:r>
              <a:rPr b="1" lang="en-US" sz="2000">
                <a:solidFill>
                  <a:srgbClr val="E8574A"/>
                </a:solidFill>
                <a:latin typeface="Calibri"/>
                <a:ea typeface="Calibri"/>
                <a:cs typeface="Calibri"/>
                <a:sym typeface="Calibri"/>
              </a:rPr>
              <a:t>06</a:t>
            </a:r>
            <a:endParaRPr sz="2000">
              <a:solidFill>
                <a:schemeClr val="dk1"/>
              </a:solidFill>
              <a:latin typeface="Calibri"/>
              <a:ea typeface="Calibri"/>
              <a:cs typeface="Calibri"/>
              <a:sym typeface="Calibri"/>
            </a:endParaRPr>
          </a:p>
        </p:txBody>
      </p:sp>
      <p:sp>
        <p:nvSpPr>
          <p:cNvPr id="284" name="Google Shape;284;g409f53afb48_0_81"/>
          <p:cNvSpPr/>
          <p:nvPr/>
        </p:nvSpPr>
        <p:spPr>
          <a:xfrm>
            <a:off x="457200" y="713232"/>
            <a:ext cx="10058400" cy="502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E2761"/>
              </a:buClr>
              <a:buSzPts val="2600"/>
              <a:buFont typeface="Calibri"/>
              <a:buNone/>
            </a:pPr>
            <a:r>
              <a:rPr b="1" lang="en-US" sz="2600">
                <a:solidFill>
                  <a:srgbClr val="1E2761"/>
                </a:solidFill>
                <a:latin typeface="Calibri"/>
                <a:ea typeface="Calibri"/>
                <a:cs typeface="Calibri"/>
                <a:sym typeface="Calibri"/>
              </a:rPr>
              <a:t>챗봇 구현 결과</a:t>
            </a:r>
            <a:endParaRPr b="1" sz="2600">
              <a:solidFill>
                <a:srgbClr val="1E2761"/>
              </a:solidFill>
              <a:latin typeface="Calibri"/>
              <a:ea typeface="Calibri"/>
              <a:cs typeface="Calibri"/>
              <a:sym typeface="Calibri"/>
            </a:endParaRPr>
          </a:p>
        </p:txBody>
      </p:sp>
      <p:sp>
        <p:nvSpPr>
          <p:cNvPr id="285" name="Google Shape;285;g409f53afb48_0_81"/>
          <p:cNvSpPr/>
          <p:nvPr/>
        </p:nvSpPr>
        <p:spPr>
          <a:xfrm>
            <a:off x="457200" y="1207008"/>
            <a:ext cx="10332600" cy="3657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6B7280"/>
              </a:buClr>
              <a:buSzPts val="1300"/>
              <a:buFont typeface="Malgun Gothic"/>
              <a:buNone/>
            </a:pPr>
            <a:r>
              <a:rPr lang="en-US" sz="1300">
                <a:solidFill>
                  <a:srgbClr val="6B7280"/>
                </a:solidFill>
                <a:latin typeface="Calibri"/>
                <a:ea typeface="Calibri"/>
                <a:cs typeface="Calibri"/>
                <a:sym typeface="Calibri"/>
              </a:rPr>
              <a:t>실제 서울대학교 통계학과 커리큘럼을 검증한 사례입니다</a:t>
            </a:r>
            <a:endParaRPr sz="1300">
              <a:solidFill>
                <a:srgbClr val="5A6072"/>
              </a:solidFill>
              <a:latin typeface="Calibri"/>
              <a:ea typeface="Calibri"/>
              <a:cs typeface="Calibri"/>
              <a:sym typeface="Calibri"/>
            </a:endParaRPr>
          </a:p>
        </p:txBody>
      </p:sp>
      <p:cxnSp>
        <p:nvCxnSpPr>
          <p:cNvPr id="286" name="Google Shape;286;g409f53afb48_0_81"/>
          <p:cNvCxnSpPr/>
          <p:nvPr/>
        </p:nvCxnSpPr>
        <p:spPr>
          <a:xfrm flipH="1" rot="10800000">
            <a:off x="9154836" y="3925536"/>
            <a:ext cx="375900" cy="600"/>
          </a:xfrm>
          <a:prstGeom prst="straightConnector1">
            <a:avLst/>
          </a:prstGeom>
          <a:noFill/>
          <a:ln cap="flat" cmpd="sng" w="28575">
            <a:solidFill>
              <a:srgbClr val="F96167"/>
            </a:solidFill>
            <a:prstDash val="solid"/>
            <a:round/>
            <a:headEnd len="med" w="med" type="none"/>
            <a:tailEnd len="med" w="med" type="none"/>
          </a:ln>
        </p:spPr>
      </p:cxnSp>
      <p:sp>
        <p:nvSpPr>
          <p:cNvPr id="287" name="Google Shape;287;g409f53afb48_0_81"/>
          <p:cNvSpPr/>
          <p:nvPr/>
        </p:nvSpPr>
        <p:spPr>
          <a:xfrm>
            <a:off x="2264000" y="4832350"/>
            <a:ext cx="457200" cy="457200"/>
          </a:xfrm>
          <a:prstGeom prst="ellipse">
            <a:avLst/>
          </a:prstGeom>
          <a:noFill/>
          <a:ln cap="flat" cmpd="sng" w="28575">
            <a:solidFill>
              <a:srgbClr val="F9616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88" name="Google Shape;288;g409f53afb48_0_81"/>
          <p:cNvCxnSpPr/>
          <p:nvPr/>
        </p:nvCxnSpPr>
        <p:spPr>
          <a:xfrm flipH="1" rot="10800000">
            <a:off x="2304662" y="5105336"/>
            <a:ext cx="375900" cy="600"/>
          </a:xfrm>
          <a:prstGeom prst="straightConnector1">
            <a:avLst/>
          </a:prstGeom>
          <a:noFill/>
          <a:ln cap="flat" cmpd="sng" w="28575">
            <a:solidFill>
              <a:srgbClr val="F96167"/>
            </a:solidFill>
            <a:prstDash val="solid"/>
            <a:round/>
            <a:headEnd len="med" w="med" type="none"/>
            <a:tailEnd len="med" w="med" type="none"/>
          </a:ln>
        </p:spPr>
      </p:cxnSp>
      <p:cxnSp>
        <p:nvCxnSpPr>
          <p:cNvPr id="289" name="Google Shape;289;g409f53afb48_0_81"/>
          <p:cNvCxnSpPr/>
          <p:nvPr/>
        </p:nvCxnSpPr>
        <p:spPr>
          <a:xfrm flipH="1" rot="10800000">
            <a:off x="2708250" y="3970775"/>
            <a:ext cx="6426000" cy="993900"/>
          </a:xfrm>
          <a:prstGeom prst="straightConnector1">
            <a:avLst/>
          </a:prstGeom>
          <a:noFill/>
          <a:ln cap="flat" cmpd="sng" w="28575">
            <a:solidFill>
              <a:srgbClr val="F96167"/>
            </a:solidFill>
            <a:prstDash val="solid"/>
            <a:round/>
            <a:headEnd len="med" w="med" type="none"/>
            <a:tailEnd len="med" w="med" type="triangle"/>
          </a:ln>
        </p:spPr>
      </p:cxnSp>
      <p:sp>
        <p:nvSpPr>
          <p:cNvPr id="290" name="Google Shape;290;g409f53afb48_0_81"/>
          <p:cNvSpPr/>
          <p:nvPr/>
        </p:nvSpPr>
        <p:spPr>
          <a:xfrm>
            <a:off x="9111530" y="3650603"/>
            <a:ext cx="457200" cy="457200"/>
          </a:xfrm>
          <a:prstGeom prst="ellipse">
            <a:avLst/>
          </a:prstGeom>
          <a:noFill/>
          <a:ln cap="flat" cmpd="sng" w="28575">
            <a:solidFill>
              <a:srgbClr val="F9616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91" name="Google Shape;291;g409f53afb48_0_81"/>
          <p:cNvCxnSpPr/>
          <p:nvPr/>
        </p:nvCxnSpPr>
        <p:spPr>
          <a:xfrm>
            <a:off x="8983834" y="5853661"/>
            <a:ext cx="1172100" cy="0"/>
          </a:xfrm>
          <a:prstGeom prst="straightConnector1">
            <a:avLst/>
          </a:prstGeom>
          <a:noFill/>
          <a:ln cap="flat" cmpd="sng" w="28575">
            <a:solidFill>
              <a:srgbClr val="F96167"/>
            </a:solidFill>
            <a:prstDash val="solid"/>
            <a:round/>
            <a:headEnd len="med" w="med" type="none"/>
            <a:tailEnd len="med" w="med" type="none"/>
          </a:ln>
        </p:spPr>
      </p:cxnSp>
      <p:sp>
        <p:nvSpPr>
          <p:cNvPr id="292" name="Google Shape;292;g409f53afb48_0_81"/>
          <p:cNvSpPr/>
          <p:nvPr/>
        </p:nvSpPr>
        <p:spPr>
          <a:xfrm>
            <a:off x="9930300" y="5423900"/>
            <a:ext cx="859500" cy="859500"/>
          </a:xfrm>
          <a:prstGeom prst="mathMultiply">
            <a:avLst>
              <a:gd fmla="val 2495" name="adj1"/>
            </a:avLst>
          </a:prstGeom>
          <a:solidFill>
            <a:srgbClr val="F96167"/>
          </a:solidFill>
          <a:ln cap="flat" cmpd="sng" w="9525">
            <a:solidFill>
              <a:srgbClr val="F9616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3" name="Google Shape;293;g409f53afb48_0_81"/>
          <p:cNvSpPr/>
          <p:nvPr/>
        </p:nvSpPr>
        <p:spPr>
          <a:xfrm>
            <a:off x="11277295" y="6473952"/>
            <a:ext cx="4572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072"/>
              </a:buClr>
              <a:buSzPts val="900"/>
              <a:buFont typeface="Calibri"/>
              <a:buNone/>
            </a:pPr>
            <a:r>
              <a:rPr lang="en-US" sz="900">
                <a:solidFill>
                  <a:srgbClr val="5A6072"/>
                </a:solidFill>
                <a:latin typeface="Calibri"/>
                <a:ea typeface="Calibri"/>
                <a:cs typeface="Calibri"/>
                <a:sym typeface="Calibri"/>
              </a:rPr>
              <a:t>7</a:t>
            </a:r>
            <a:endParaRPr sz="900">
              <a:solidFill>
                <a:schemeClr val="dk1"/>
              </a:solidFill>
              <a:latin typeface="Calibri"/>
              <a:ea typeface="Calibri"/>
              <a:cs typeface="Calibri"/>
              <a:sym typeface="Calibri"/>
            </a:endParaRPr>
          </a:p>
        </p:txBody>
      </p:sp>
      <p:sp>
        <p:nvSpPr>
          <p:cNvPr id="294" name="Google Shape;294;g409f53afb48_0_81"/>
          <p:cNvSpPr/>
          <p:nvPr/>
        </p:nvSpPr>
        <p:spPr>
          <a:xfrm rot="-1690827">
            <a:off x="11397281" y="562376"/>
            <a:ext cx="290312" cy="18388"/>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g409f53afb48_0_81"/>
          <p:cNvSpPr/>
          <p:nvPr/>
        </p:nvSpPr>
        <p:spPr>
          <a:xfrm rot="1690827">
            <a:off x="11397217" y="699476"/>
            <a:ext cx="290312" cy="18388"/>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g409f53afb48_0_81"/>
          <p:cNvSpPr/>
          <p:nvPr/>
        </p:nvSpPr>
        <p:spPr>
          <a:xfrm>
            <a:off x="11359591" y="585216"/>
            <a:ext cx="109800" cy="10980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g409f53afb48_0_81"/>
          <p:cNvSpPr/>
          <p:nvPr/>
        </p:nvSpPr>
        <p:spPr>
          <a:xfrm>
            <a:off x="11615623" y="448056"/>
            <a:ext cx="109800" cy="109800"/>
          </a:xfrm>
          <a:prstGeom prst="ellipse">
            <a:avLst/>
          </a:prstGeom>
          <a:solidFill>
            <a:srgbClr val="E857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g409f53afb48_0_81"/>
          <p:cNvSpPr/>
          <p:nvPr/>
        </p:nvSpPr>
        <p:spPr>
          <a:xfrm>
            <a:off x="11615623" y="722376"/>
            <a:ext cx="109800" cy="109800"/>
          </a:xfrm>
          <a:prstGeom prst="ellipse">
            <a:avLst/>
          </a:prstGeom>
          <a:solidFill>
            <a:srgbClr val="2F9E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C"/>
        </a:solidFill>
      </p:bgPr>
    </p:bg>
    <p:spTree>
      <p:nvGrpSpPr>
        <p:cNvPr id="303" name="Shape 303"/>
        <p:cNvGrpSpPr/>
        <p:nvPr/>
      </p:nvGrpSpPr>
      <p:grpSpPr>
        <a:xfrm>
          <a:off x="0" y="0"/>
          <a:ext cx="0" cy="0"/>
          <a:chOff x="0" y="0"/>
          <a:chExt cx="0" cy="0"/>
        </a:xfrm>
      </p:grpSpPr>
      <p:sp>
        <p:nvSpPr>
          <p:cNvPr id="304" name="Google Shape;304;g409f53afb48_7_8"/>
          <p:cNvSpPr/>
          <p:nvPr/>
        </p:nvSpPr>
        <p:spPr>
          <a:xfrm>
            <a:off x="457200" y="384048"/>
            <a:ext cx="914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574A"/>
              </a:buClr>
              <a:buSzPts val="2000"/>
              <a:buFont typeface="Calibri"/>
              <a:buNone/>
            </a:pPr>
            <a:r>
              <a:rPr b="1" lang="en-US" sz="2000">
                <a:solidFill>
                  <a:srgbClr val="E8574A"/>
                </a:solidFill>
                <a:latin typeface="Calibri"/>
                <a:ea typeface="Calibri"/>
                <a:cs typeface="Calibri"/>
                <a:sym typeface="Calibri"/>
              </a:rPr>
              <a:t>07</a:t>
            </a:r>
            <a:endParaRPr sz="2000">
              <a:solidFill>
                <a:schemeClr val="dk1"/>
              </a:solidFill>
              <a:latin typeface="Calibri"/>
              <a:ea typeface="Calibri"/>
              <a:cs typeface="Calibri"/>
              <a:sym typeface="Calibri"/>
            </a:endParaRPr>
          </a:p>
        </p:txBody>
      </p:sp>
      <p:sp>
        <p:nvSpPr>
          <p:cNvPr id="305" name="Google Shape;305;g409f53afb48_7_8"/>
          <p:cNvSpPr/>
          <p:nvPr/>
        </p:nvSpPr>
        <p:spPr>
          <a:xfrm>
            <a:off x="457200" y="713232"/>
            <a:ext cx="100584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600"/>
              <a:buFont typeface="Calibri"/>
              <a:buNone/>
            </a:pPr>
            <a:r>
              <a:rPr b="1" lang="en-US" sz="2600">
                <a:solidFill>
                  <a:srgbClr val="1E2761"/>
                </a:solidFill>
                <a:latin typeface="Calibri"/>
                <a:ea typeface="Calibri"/>
                <a:cs typeface="Calibri"/>
                <a:sym typeface="Calibri"/>
              </a:rPr>
              <a:t>실제 구현 결과 </a:t>
            </a:r>
            <a:endParaRPr sz="2600">
              <a:solidFill>
                <a:schemeClr val="dk1"/>
              </a:solidFill>
              <a:latin typeface="Calibri"/>
              <a:ea typeface="Calibri"/>
              <a:cs typeface="Calibri"/>
              <a:sym typeface="Calibri"/>
            </a:endParaRPr>
          </a:p>
        </p:txBody>
      </p:sp>
      <p:sp>
        <p:nvSpPr>
          <p:cNvPr id="306" name="Google Shape;306;g409f53afb48_7_8"/>
          <p:cNvSpPr/>
          <p:nvPr/>
        </p:nvSpPr>
        <p:spPr>
          <a:xfrm rot="-1690827">
            <a:off x="11397281" y="562376"/>
            <a:ext cx="290312" cy="18388"/>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g409f53afb48_7_8"/>
          <p:cNvSpPr/>
          <p:nvPr/>
        </p:nvSpPr>
        <p:spPr>
          <a:xfrm rot="1690827">
            <a:off x="11397217" y="699476"/>
            <a:ext cx="290312" cy="18388"/>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g409f53afb48_7_8"/>
          <p:cNvSpPr/>
          <p:nvPr/>
        </p:nvSpPr>
        <p:spPr>
          <a:xfrm>
            <a:off x="11359591" y="585216"/>
            <a:ext cx="109800" cy="10980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g409f53afb48_7_8"/>
          <p:cNvSpPr/>
          <p:nvPr/>
        </p:nvSpPr>
        <p:spPr>
          <a:xfrm>
            <a:off x="11615623" y="448056"/>
            <a:ext cx="109800" cy="109800"/>
          </a:xfrm>
          <a:prstGeom prst="ellipse">
            <a:avLst/>
          </a:prstGeom>
          <a:solidFill>
            <a:srgbClr val="E857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g409f53afb48_7_8"/>
          <p:cNvSpPr/>
          <p:nvPr/>
        </p:nvSpPr>
        <p:spPr>
          <a:xfrm>
            <a:off x="11615623" y="722376"/>
            <a:ext cx="109800" cy="109800"/>
          </a:xfrm>
          <a:prstGeom prst="ellipse">
            <a:avLst/>
          </a:prstGeom>
          <a:solidFill>
            <a:srgbClr val="2F9E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g409f53afb48_7_8"/>
          <p:cNvSpPr/>
          <p:nvPr/>
        </p:nvSpPr>
        <p:spPr>
          <a:xfrm>
            <a:off x="11277295" y="6473952"/>
            <a:ext cx="4572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072"/>
              </a:buClr>
              <a:buSzPts val="900"/>
              <a:buFont typeface="Calibri"/>
              <a:buNone/>
            </a:pPr>
            <a:r>
              <a:rPr lang="en-US" sz="900">
                <a:solidFill>
                  <a:srgbClr val="5A6072"/>
                </a:solidFill>
                <a:latin typeface="Calibri"/>
                <a:ea typeface="Calibri"/>
                <a:cs typeface="Calibri"/>
                <a:sym typeface="Calibri"/>
              </a:rPr>
              <a:t>8</a:t>
            </a:r>
            <a:endParaRPr sz="900">
              <a:solidFill>
                <a:schemeClr val="dk1"/>
              </a:solidFill>
              <a:latin typeface="Calibri"/>
              <a:ea typeface="Calibri"/>
              <a:cs typeface="Calibri"/>
              <a:sym typeface="Calibri"/>
            </a:endParaRPr>
          </a:p>
        </p:txBody>
      </p:sp>
      <p:sp>
        <p:nvSpPr>
          <p:cNvPr id="312" name="Google Shape;312;g409f53afb48_7_8"/>
          <p:cNvSpPr/>
          <p:nvPr/>
        </p:nvSpPr>
        <p:spPr>
          <a:xfrm>
            <a:off x="548650" y="1216025"/>
            <a:ext cx="11126100" cy="5257800"/>
          </a:xfrm>
          <a:prstGeom prst="roundRect">
            <a:avLst>
              <a:gd fmla="val 3000" name="adj"/>
            </a:avLst>
          </a:prstGeom>
          <a:solidFill>
            <a:srgbClr val="F3F4F8"/>
          </a:solidFill>
          <a:ln cap="flat" cmpd="sng" w="9525">
            <a:solidFill>
              <a:srgbClr val="1E276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pic>
        <p:nvPicPr>
          <p:cNvPr id="313" name="Google Shape;313;g409f53afb48_7_8" title="스크린샷 2026-09-17 174353.png"/>
          <p:cNvPicPr preferRelativeResize="0"/>
          <p:nvPr/>
        </p:nvPicPr>
        <p:blipFill>
          <a:blip r:embed="rId3">
            <a:alphaModFix/>
          </a:blip>
          <a:stretch>
            <a:fillRect/>
          </a:stretch>
        </p:blipFill>
        <p:spPr>
          <a:xfrm>
            <a:off x="7262235" y="1315299"/>
            <a:ext cx="3531825" cy="5134576"/>
          </a:xfrm>
          <a:prstGeom prst="rect">
            <a:avLst/>
          </a:prstGeom>
          <a:noFill/>
          <a:ln>
            <a:noFill/>
          </a:ln>
        </p:spPr>
      </p:pic>
      <p:pic>
        <p:nvPicPr>
          <p:cNvPr id="314" name="Google Shape;314;g409f53afb48_7_8" title="스크린샷 2026-09-17 174250.png"/>
          <p:cNvPicPr preferRelativeResize="0"/>
          <p:nvPr/>
        </p:nvPicPr>
        <p:blipFill>
          <a:blip r:embed="rId4">
            <a:alphaModFix/>
          </a:blip>
          <a:stretch>
            <a:fillRect/>
          </a:stretch>
        </p:blipFill>
        <p:spPr>
          <a:xfrm>
            <a:off x="1157719" y="2403924"/>
            <a:ext cx="4360950" cy="3263375"/>
          </a:xfrm>
          <a:prstGeom prst="rect">
            <a:avLst/>
          </a:prstGeom>
          <a:noFill/>
          <a:ln>
            <a:noFill/>
          </a:ln>
        </p:spPr>
      </p:pic>
      <p:sp>
        <p:nvSpPr>
          <p:cNvPr id="315" name="Google Shape;315;g409f53afb48_7_8"/>
          <p:cNvSpPr/>
          <p:nvPr/>
        </p:nvSpPr>
        <p:spPr>
          <a:xfrm>
            <a:off x="1263606" y="1519867"/>
            <a:ext cx="20883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500"/>
              <a:buFont typeface="Calibri"/>
              <a:buNone/>
            </a:pPr>
            <a:r>
              <a:rPr b="1" lang="en-US" sz="1600">
                <a:solidFill>
                  <a:srgbClr val="1E2761"/>
                </a:solidFill>
                <a:latin typeface="Calibri"/>
                <a:ea typeface="Calibri"/>
                <a:cs typeface="Calibri"/>
                <a:sym typeface="Calibri"/>
              </a:rPr>
              <a:t>유저 입력</a:t>
            </a:r>
            <a:endParaRPr sz="1600">
              <a:solidFill>
                <a:schemeClr val="dk1"/>
              </a:solidFill>
              <a:latin typeface="Calibri"/>
              <a:ea typeface="Calibri"/>
              <a:cs typeface="Calibri"/>
              <a:sym typeface="Calibri"/>
            </a:endParaRPr>
          </a:p>
        </p:txBody>
      </p:sp>
      <p:sp>
        <p:nvSpPr>
          <p:cNvPr id="316" name="Google Shape;316;g409f53afb48_7_8"/>
          <p:cNvSpPr/>
          <p:nvPr/>
        </p:nvSpPr>
        <p:spPr>
          <a:xfrm>
            <a:off x="6322187" y="1530299"/>
            <a:ext cx="20883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500"/>
              <a:buFont typeface="Calibri"/>
              <a:buNone/>
            </a:pPr>
            <a:r>
              <a:rPr b="1" lang="en-US" sz="1600">
                <a:solidFill>
                  <a:srgbClr val="1E2761"/>
                </a:solidFill>
                <a:latin typeface="Calibri"/>
                <a:ea typeface="Calibri"/>
                <a:cs typeface="Calibri"/>
                <a:sym typeface="Calibri"/>
              </a:rPr>
              <a:t>출력</a:t>
            </a:r>
            <a:r>
              <a:rPr b="1" lang="en-US" sz="1600">
                <a:solidFill>
                  <a:srgbClr val="1E2761"/>
                </a:solidFill>
                <a:latin typeface="Calibri"/>
                <a:ea typeface="Calibri"/>
                <a:cs typeface="Calibri"/>
                <a:sym typeface="Calibri"/>
              </a:rPr>
              <a:t> </a:t>
            </a:r>
            <a:endParaRPr sz="1600">
              <a:solidFill>
                <a:schemeClr val="dk1"/>
              </a:solidFill>
              <a:latin typeface="Calibri"/>
              <a:ea typeface="Calibri"/>
              <a:cs typeface="Calibri"/>
              <a:sym typeface="Calibri"/>
            </a:endParaRPr>
          </a:p>
        </p:txBody>
      </p:sp>
      <p:cxnSp>
        <p:nvCxnSpPr>
          <p:cNvPr id="317" name="Google Shape;317;g409f53afb48_7_8"/>
          <p:cNvCxnSpPr/>
          <p:nvPr/>
        </p:nvCxnSpPr>
        <p:spPr>
          <a:xfrm flipH="1">
            <a:off x="6107050" y="2172400"/>
            <a:ext cx="9300" cy="4057500"/>
          </a:xfrm>
          <a:prstGeom prst="straightConnector1">
            <a:avLst/>
          </a:prstGeom>
          <a:noFill/>
          <a:ln cap="flat" cmpd="sng" w="9525">
            <a:solidFill>
              <a:schemeClr val="dk2"/>
            </a:solidFill>
            <a:prstDash val="solid"/>
            <a:round/>
            <a:headEnd len="med" w="med" type="none"/>
            <a:tailEnd len="med" w="med" type="none"/>
          </a:ln>
        </p:spPr>
      </p:cxnSp>
      <p:sp>
        <p:nvSpPr>
          <p:cNvPr id="318" name="Google Shape;318;g409f53afb48_7_8"/>
          <p:cNvSpPr/>
          <p:nvPr/>
        </p:nvSpPr>
        <p:spPr>
          <a:xfrm>
            <a:off x="457200" y="6473952"/>
            <a:ext cx="8686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072"/>
              </a:buClr>
              <a:buSzPts val="900"/>
              <a:buFont typeface="Calibri"/>
              <a:buNone/>
            </a:pPr>
            <a:r>
              <a:rPr lang="en-US" sz="900">
                <a:solidFill>
                  <a:srgbClr val="5A6072"/>
                </a:solidFill>
                <a:latin typeface="Calibri"/>
                <a:ea typeface="Calibri"/>
                <a:cs typeface="Calibri"/>
                <a:sym typeface="Calibri"/>
              </a:rPr>
              <a:t>LG CNS AI캠퍼스 · Knowledge Graph 과정 mini project 1 - LG 직무 추천 AI Agent</a:t>
            </a:r>
            <a:endParaRPr sz="9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C"/>
        </a:solidFill>
      </p:bgPr>
    </p:bg>
    <p:spTree>
      <p:nvGrpSpPr>
        <p:cNvPr id="323" name="Shape 323"/>
        <p:cNvGrpSpPr/>
        <p:nvPr/>
      </p:nvGrpSpPr>
      <p:grpSpPr>
        <a:xfrm>
          <a:off x="0" y="0"/>
          <a:ext cx="0" cy="0"/>
          <a:chOff x="0" y="0"/>
          <a:chExt cx="0" cy="0"/>
        </a:xfrm>
      </p:grpSpPr>
      <p:sp>
        <p:nvSpPr>
          <p:cNvPr id="324" name="Google Shape;324;p7"/>
          <p:cNvSpPr/>
          <p:nvPr/>
        </p:nvSpPr>
        <p:spPr>
          <a:xfrm>
            <a:off x="457200" y="384048"/>
            <a:ext cx="914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574A"/>
              </a:buClr>
              <a:buSzPts val="2000"/>
              <a:buFont typeface="Calibri"/>
              <a:buNone/>
            </a:pPr>
            <a:r>
              <a:rPr b="1" lang="en-US" sz="2000">
                <a:solidFill>
                  <a:srgbClr val="E8574A"/>
                </a:solidFill>
                <a:latin typeface="Calibri"/>
                <a:ea typeface="Calibri"/>
                <a:cs typeface="Calibri"/>
                <a:sym typeface="Calibri"/>
              </a:rPr>
              <a:t>08</a:t>
            </a:r>
            <a:endParaRPr sz="2000">
              <a:solidFill>
                <a:schemeClr val="dk1"/>
              </a:solidFill>
              <a:latin typeface="Calibri"/>
              <a:ea typeface="Calibri"/>
              <a:cs typeface="Calibri"/>
              <a:sym typeface="Calibri"/>
            </a:endParaRPr>
          </a:p>
        </p:txBody>
      </p:sp>
      <p:sp>
        <p:nvSpPr>
          <p:cNvPr id="325" name="Google Shape;325;p7"/>
          <p:cNvSpPr/>
          <p:nvPr/>
        </p:nvSpPr>
        <p:spPr>
          <a:xfrm>
            <a:off x="457200" y="713232"/>
            <a:ext cx="100584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600"/>
              <a:buFont typeface="Calibri"/>
              <a:buNone/>
            </a:pPr>
            <a:r>
              <a:rPr b="1" lang="en-US" sz="2600">
                <a:solidFill>
                  <a:srgbClr val="1E2761"/>
                </a:solidFill>
                <a:latin typeface="Calibri"/>
                <a:ea typeface="Calibri"/>
                <a:cs typeface="Calibri"/>
                <a:sym typeface="Calibri"/>
              </a:rPr>
              <a:t>한계</a:t>
            </a:r>
            <a:r>
              <a:rPr b="1" lang="en-US" sz="2600">
                <a:solidFill>
                  <a:srgbClr val="1E2761"/>
                </a:solidFill>
                <a:latin typeface="Calibri"/>
                <a:ea typeface="Calibri"/>
                <a:cs typeface="Calibri"/>
                <a:sym typeface="Calibri"/>
              </a:rPr>
              <a:t>점</a:t>
            </a:r>
            <a:endParaRPr sz="2600">
              <a:solidFill>
                <a:schemeClr val="dk1"/>
              </a:solidFill>
              <a:latin typeface="Calibri"/>
              <a:ea typeface="Calibri"/>
              <a:cs typeface="Calibri"/>
              <a:sym typeface="Calibri"/>
            </a:endParaRPr>
          </a:p>
        </p:txBody>
      </p:sp>
      <p:sp>
        <p:nvSpPr>
          <p:cNvPr id="326" name="Google Shape;326;p7"/>
          <p:cNvSpPr/>
          <p:nvPr/>
        </p:nvSpPr>
        <p:spPr>
          <a:xfrm rot="-1690715">
            <a:off x="11397243" y="562356"/>
            <a:ext cx="290457" cy="18288"/>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7"/>
          <p:cNvSpPr/>
          <p:nvPr/>
        </p:nvSpPr>
        <p:spPr>
          <a:xfrm rot="1690715">
            <a:off x="11397243" y="699516"/>
            <a:ext cx="290457" cy="18288"/>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7"/>
          <p:cNvSpPr/>
          <p:nvPr/>
        </p:nvSpPr>
        <p:spPr>
          <a:xfrm>
            <a:off x="11359591" y="585216"/>
            <a:ext cx="109728" cy="109728"/>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7"/>
          <p:cNvSpPr/>
          <p:nvPr/>
        </p:nvSpPr>
        <p:spPr>
          <a:xfrm>
            <a:off x="11615623" y="448056"/>
            <a:ext cx="109728" cy="109728"/>
          </a:xfrm>
          <a:prstGeom prst="ellipse">
            <a:avLst/>
          </a:prstGeom>
          <a:solidFill>
            <a:srgbClr val="E857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7"/>
          <p:cNvSpPr/>
          <p:nvPr/>
        </p:nvSpPr>
        <p:spPr>
          <a:xfrm>
            <a:off x="11615623" y="722376"/>
            <a:ext cx="109728" cy="109728"/>
          </a:xfrm>
          <a:prstGeom prst="ellipse">
            <a:avLst/>
          </a:prstGeom>
          <a:solidFill>
            <a:srgbClr val="2F9E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7"/>
          <p:cNvSpPr/>
          <p:nvPr/>
        </p:nvSpPr>
        <p:spPr>
          <a:xfrm>
            <a:off x="457200" y="1737360"/>
            <a:ext cx="11247120" cy="758952"/>
          </a:xfrm>
          <a:prstGeom prst="roundRect">
            <a:avLst>
              <a:gd fmla="val 7229" name="adj"/>
            </a:avLst>
          </a:prstGeom>
          <a:solidFill>
            <a:srgbClr val="FFFFFF"/>
          </a:solidFill>
          <a:ln cap="flat" cmpd="sng" w="12700">
            <a:solidFill>
              <a:srgbClr val="E2E6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7"/>
          <p:cNvSpPr/>
          <p:nvPr/>
        </p:nvSpPr>
        <p:spPr>
          <a:xfrm>
            <a:off x="640080" y="1933956"/>
            <a:ext cx="365760" cy="365760"/>
          </a:xfrm>
          <a:prstGeom prst="ellipse">
            <a:avLst/>
          </a:prstGeom>
          <a:solidFill>
            <a:srgbClr val="E857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7"/>
          <p:cNvSpPr/>
          <p:nvPr/>
        </p:nvSpPr>
        <p:spPr>
          <a:xfrm>
            <a:off x="640080" y="1933956"/>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1</a:t>
            </a:r>
            <a:endParaRPr sz="1300">
              <a:solidFill>
                <a:schemeClr val="dk1"/>
              </a:solidFill>
              <a:latin typeface="Calibri"/>
              <a:ea typeface="Calibri"/>
              <a:cs typeface="Calibri"/>
              <a:sym typeface="Calibri"/>
            </a:endParaRPr>
          </a:p>
        </p:txBody>
      </p:sp>
      <p:sp>
        <p:nvSpPr>
          <p:cNvPr id="334" name="Google Shape;334;p7"/>
          <p:cNvSpPr/>
          <p:nvPr/>
        </p:nvSpPr>
        <p:spPr>
          <a:xfrm>
            <a:off x="1156970" y="1810512"/>
            <a:ext cx="2834700" cy="612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200"/>
              <a:buFont typeface="Calibri"/>
              <a:buNone/>
            </a:pPr>
            <a:r>
              <a:rPr b="1" lang="en-US" sz="1300">
                <a:solidFill>
                  <a:srgbClr val="1E2761"/>
                </a:solidFill>
                <a:latin typeface="Calibri"/>
                <a:ea typeface="Calibri"/>
                <a:cs typeface="Calibri"/>
                <a:sym typeface="Calibri"/>
              </a:rPr>
              <a:t>채용 공고는 스냅샷</a:t>
            </a:r>
            <a:endParaRPr sz="1300">
              <a:solidFill>
                <a:schemeClr val="dk1"/>
              </a:solidFill>
              <a:latin typeface="Calibri"/>
              <a:ea typeface="Calibri"/>
              <a:cs typeface="Calibri"/>
              <a:sym typeface="Calibri"/>
            </a:endParaRPr>
          </a:p>
        </p:txBody>
      </p:sp>
      <p:sp>
        <p:nvSpPr>
          <p:cNvPr id="335" name="Google Shape;335;p7"/>
          <p:cNvSpPr/>
          <p:nvPr/>
        </p:nvSpPr>
        <p:spPr>
          <a:xfrm>
            <a:off x="3805125" y="1810500"/>
            <a:ext cx="7810500" cy="612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F2430"/>
              </a:buClr>
              <a:buSzPts val="1050"/>
              <a:buFont typeface="Calibri"/>
              <a:buNone/>
            </a:pPr>
            <a:r>
              <a:rPr lang="en-US" sz="1200">
                <a:solidFill>
                  <a:srgbClr val="1F2430"/>
                </a:solidFill>
                <a:latin typeface="Calibri"/>
                <a:ea typeface="Calibri"/>
                <a:cs typeface="Calibri"/>
                <a:sym typeface="Calibri"/>
              </a:rPr>
              <a:t>채용 공고 정보를 자동으로 상시 수집하는 구조가 아니기 때문에, 두 스냅샷 사이에 올라왔다가 마감된 공고는 수집 불가능 </a:t>
            </a:r>
            <a:endParaRPr sz="1200">
              <a:solidFill>
                <a:schemeClr val="dk1"/>
              </a:solidFill>
              <a:latin typeface="Calibri"/>
              <a:ea typeface="Calibri"/>
              <a:cs typeface="Calibri"/>
              <a:sym typeface="Calibri"/>
            </a:endParaRPr>
          </a:p>
        </p:txBody>
      </p:sp>
      <p:sp>
        <p:nvSpPr>
          <p:cNvPr id="336" name="Google Shape;336;p7"/>
          <p:cNvSpPr/>
          <p:nvPr/>
        </p:nvSpPr>
        <p:spPr>
          <a:xfrm>
            <a:off x="457200" y="2587752"/>
            <a:ext cx="11247120" cy="758952"/>
          </a:xfrm>
          <a:prstGeom prst="roundRect">
            <a:avLst>
              <a:gd fmla="val 7229" name="adj"/>
            </a:avLst>
          </a:prstGeom>
          <a:solidFill>
            <a:srgbClr val="FFFFFF"/>
          </a:solidFill>
          <a:ln cap="flat" cmpd="sng" w="12700">
            <a:solidFill>
              <a:srgbClr val="E2E6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7"/>
          <p:cNvSpPr/>
          <p:nvPr/>
        </p:nvSpPr>
        <p:spPr>
          <a:xfrm>
            <a:off x="640080" y="2784348"/>
            <a:ext cx="365760" cy="365760"/>
          </a:xfrm>
          <a:prstGeom prst="ellipse">
            <a:avLst/>
          </a:prstGeom>
          <a:solidFill>
            <a:srgbClr val="E857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7"/>
          <p:cNvSpPr/>
          <p:nvPr/>
        </p:nvSpPr>
        <p:spPr>
          <a:xfrm>
            <a:off x="640080" y="278434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2</a:t>
            </a:r>
            <a:endParaRPr sz="1300">
              <a:solidFill>
                <a:schemeClr val="dk1"/>
              </a:solidFill>
              <a:latin typeface="Calibri"/>
              <a:ea typeface="Calibri"/>
              <a:cs typeface="Calibri"/>
              <a:sym typeface="Calibri"/>
            </a:endParaRPr>
          </a:p>
        </p:txBody>
      </p:sp>
      <p:sp>
        <p:nvSpPr>
          <p:cNvPr id="339" name="Google Shape;339;p7"/>
          <p:cNvSpPr/>
          <p:nvPr/>
        </p:nvSpPr>
        <p:spPr>
          <a:xfrm>
            <a:off x="1156970" y="2660904"/>
            <a:ext cx="2834700" cy="612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200"/>
              <a:buFont typeface="Calibri"/>
              <a:buNone/>
            </a:pPr>
            <a:r>
              <a:rPr b="1" lang="en-US" sz="1300">
                <a:solidFill>
                  <a:srgbClr val="1E2761"/>
                </a:solidFill>
                <a:latin typeface="Calibri"/>
                <a:ea typeface="Calibri"/>
                <a:cs typeface="Calibri"/>
                <a:sym typeface="Calibri"/>
              </a:rPr>
              <a:t>채용공고만으로는 직무 커버 한계</a:t>
            </a:r>
            <a:endParaRPr sz="1300">
              <a:solidFill>
                <a:schemeClr val="dk1"/>
              </a:solidFill>
              <a:latin typeface="Calibri"/>
              <a:ea typeface="Calibri"/>
              <a:cs typeface="Calibri"/>
              <a:sym typeface="Calibri"/>
            </a:endParaRPr>
          </a:p>
        </p:txBody>
      </p:sp>
      <p:sp>
        <p:nvSpPr>
          <p:cNvPr id="340" name="Google Shape;340;p7"/>
          <p:cNvSpPr/>
          <p:nvPr/>
        </p:nvSpPr>
        <p:spPr>
          <a:xfrm>
            <a:off x="4114800" y="2660904"/>
            <a:ext cx="7406700" cy="612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F2430"/>
              </a:buClr>
              <a:buSzPts val="1050"/>
              <a:buFont typeface="Calibri"/>
              <a:buNone/>
            </a:pPr>
            <a:r>
              <a:rPr lang="en-US" sz="1200">
                <a:solidFill>
                  <a:srgbClr val="1F2430"/>
                </a:solidFill>
                <a:latin typeface="Calibri"/>
                <a:ea typeface="Calibri"/>
                <a:cs typeface="Calibri"/>
                <a:sym typeface="Calibri"/>
              </a:rPr>
              <a:t>LG 신입 채용공고만으로는 계열사 전체 직무 영역을 실질적으로 다 담을 수 없다 (공고 없는 직무, 요구 역량 없는 공고)</a:t>
            </a:r>
            <a:endParaRPr sz="1200">
              <a:solidFill>
                <a:schemeClr val="dk1"/>
              </a:solidFill>
              <a:latin typeface="Calibri"/>
              <a:ea typeface="Calibri"/>
              <a:cs typeface="Calibri"/>
              <a:sym typeface="Calibri"/>
            </a:endParaRPr>
          </a:p>
        </p:txBody>
      </p:sp>
      <p:sp>
        <p:nvSpPr>
          <p:cNvPr id="341" name="Google Shape;341;p7"/>
          <p:cNvSpPr/>
          <p:nvPr/>
        </p:nvSpPr>
        <p:spPr>
          <a:xfrm>
            <a:off x="457200" y="3438144"/>
            <a:ext cx="11247120" cy="758952"/>
          </a:xfrm>
          <a:prstGeom prst="roundRect">
            <a:avLst>
              <a:gd fmla="val 7229" name="adj"/>
            </a:avLst>
          </a:prstGeom>
          <a:solidFill>
            <a:srgbClr val="FFFFFF"/>
          </a:solidFill>
          <a:ln cap="flat" cmpd="sng" w="12700">
            <a:solidFill>
              <a:srgbClr val="E2E6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7"/>
          <p:cNvSpPr/>
          <p:nvPr/>
        </p:nvSpPr>
        <p:spPr>
          <a:xfrm>
            <a:off x="640080" y="3634740"/>
            <a:ext cx="365760" cy="365760"/>
          </a:xfrm>
          <a:prstGeom prst="ellipse">
            <a:avLst/>
          </a:prstGeom>
          <a:solidFill>
            <a:srgbClr val="3B5B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7"/>
          <p:cNvSpPr/>
          <p:nvPr/>
        </p:nvSpPr>
        <p:spPr>
          <a:xfrm>
            <a:off x="640080" y="363474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3</a:t>
            </a:r>
            <a:endParaRPr sz="1300">
              <a:solidFill>
                <a:schemeClr val="dk1"/>
              </a:solidFill>
              <a:latin typeface="Calibri"/>
              <a:ea typeface="Calibri"/>
              <a:cs typeface="Calibri"/>
              <a:sym typeface="Calibri"/>
            </a:endParaRPr>
          </a:p>
        </p:txBody>
      </p:sp>
      <p:sp>
        <p:nvSpPr>
          <p:cNvPr id="344" name="Google Shape;344;p7"/>
          <p:cNvSpPr/>
          <p:nvPr/>
        </p:nvSpPr>
        <p:spPr>
          <a:xfrm>
            <a:off x="1156970" y="3511296"/>
            <a:ext cx="2834700" cy="612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200"/>
              <a:buFont typeface="Calibri"/>
              <a:buNone/>
            </a:pPr>
            <a:r>
              <a:rPr b="1" lang="en-US" sz="1300">
                <a:solidFill>
                  <a:srgbClr val="1E2761"/>
                </a:solidFill>
                <a:latin typeface="Calibri"/>
                <a:ea typeface="Calibri"/>
                <a:cs typeface="Calibri"/>
                <a:sym typeface="Calibri"/>
              </a:rPr>
              <a:t>서울대 1개교 한정</a:t>
            </a:r>
            <a:endParaRPr sz="1300">
              <a:solidFill>
                <a:schemeClr val="dk1"/>
              </a:solidFill>
              <a:latin typeface="Calibri"/>
              <a:ea typeface="Calibri"/>
              <a:cs typeface="Calibri"/>
              <a:sym typeface="Calibri"/>
            </a:endParaRPr>
          </a:p>
        </p:txBody>
      </p:sp>
      <p:sp>
        <p:nvSpPr>
          <p:cNvPr id="345" name="Google Shape;345;p7"/>
          <p:cNvSpPr/>
          <p:nvPr/>
        </p:nvSpPr>
        <p:spPr>
          <a:xfrm>
            <a:off x="3551100" y="3511300"/>
            <a:ext cx="7970400" cy="612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F2430"/>
              </a:buClr>
              <a:buSzPts val="1050"/>
              <a:buFont typeface="Calibri"/>
              <a:buNone/>
            </a:pPr>
            <a:r>
              <a:rPr lang="en-US" sz="1200">
                <a:solidFill>
                  <a:srgbClr val="1F2430"/>
                </a:solidFill>
                <a:latin typeface="Calibri"/>
                <a:ea typeface="Calibri"/>
                <a:cs typeface="Calibri"/>
                <a:sym typeface="Calibri"/>
              </a:rPr>
              <a:t>"서울대 교육과정 기준" 추천이라는 전제가 붙는다 — </a:t>
            </a:r>
            <a:r>
              <a:rPr lang="en-US" sz="1200">
                <a:solidFill>
                  <a:srgbClr val="1F2430"/>
                </a:solidFill>
                <a:latin typeface="Calibri"/>
                <a:ea typeface="Calibri"/>
                <a:cs typeface="Calibri"/>
                <a:sym typeface="Calibri"/>
              </a:rPr>
              <a:t>서울대 교육과정에는 없고, 타대학 교육과정에 있는 과목은 추천 불가능</a:t>
            </a:r>
            <a:endParaRPr sz="1200">
              <a:solidFill>
                <a:schemeClr val="dk1"/>
              </a:solidFill>
              <a:latin typeface="Calibri"/>
              <a:ea typeface="Calibri"/>
              <a:cs typeface="Calibri"/>
              <a:sym typeface="Calibri"/>
            </a:endParaRPr>
          </a:p>
        </p:txBody>
      </p:sp>
      <p:sp>
        <p:nvSpPr>
          <p:cNvPr id="346" name="Google Shape;346;p7"/>
          <p:cNvSpPr/>
          <p:nvPr/>
        </p:nvSpPr>
        <p:spPr>
          <a:xfrm>
            <a:off x="457200" y="4288553"/>
            <a:ext cx="11247000" cy="759000"/>
          </a:xfrm>
          <a:prstGeom prst="roundRect">
            <a:avLst>
              <a:gd fmla="val 7229" name="adj"/>
            </a:avLst>
          </a:prstGeom>
          <a:solidFill>
            <a:srgbClr val="FFFFFF"/>
          </a:solidFill>
          <a:ln cap="flat" cmpd="sng" w="12700">
            <a:solidFill>
              <a:srgbClr val="E2E6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7"/>
          <p:cNvSpPr/>
          <p:nvPr/>
        </p:nvSpPr>
        <p:spPr>
          <a:xfrm>
            <a:off x="640080" y="4485149"/>
            <a:ext cx="365700" cy="365700"/>
          </a:xfrm>
          <a:prstGeom prst="ellipse">
            <a:avLst/>
          </a:prstGeom>
          <a:solidFill>
            <a:srgbClr val="2F9E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7"/>
          <p:cNvSpPr/>
          <p:nvPr/>
        </p:nvSpPr>
        <p:spPr>
          <a:xfrm>
            <a:off x="640080" y="4485149"/>
            <a:ext cx="365700" cy="365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4</a:t>
            </a:r>
            <a:endParaRPr sz="1300">
              <a:solidFill>
                <a:schemeClr val="dk1"/>
              </a:solidFill>
              <a:latin typeface="Calibri"/>
              <a:ea typeface="Calibri"/>
              <a:cs typeface="Calibri"/>
              <a:sym typeface="Calibri"/>
            </a:endParaRPr>
          </a:p>
        </p:txBody>
      </p:sp>
      <p:sp>
        <p:nvSpPr>
          <p:cNvPr id="349" name="Google Shape;349;p7"/>
          <p:cNvSpPr/>
          <p:nvPr/>
        </p:nvSpPr>
        <p:spPr>
          <a:xfrm>
            <a:off x="1156970" y="4361705"/>
            <a:ext cx="2834700" cy="612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200"/>
              <a:buFont typeface="Calibri"/>
              <a:buNone/>
            </a:pPr>
            <a:r>
              <a:rPr b="1" lang="en-US" sz="1300">
                <a:solidFill>
                  <a:srgbClr val="1E2761"/>
                </a:solidFill>
                <a:latin typeface="Calibri"/>
                <a:ea typeface="Calibri"/>
                <a:cs typeface="Calibri"/>
                <a:sym typeface="Calibri"/>
              </a:rPr>
              <a:t>LLM 비결정성</a:t>
            </a:r>
            <a:endParaRPr sz="1300">
              <a:solidFill>
                <a:schemeClr val="dk1"/>
              </a:solidFill>
              <a:latin typeface="Calibri"/>
              <a:ea typeface="Calibri"/>
              <a:cs typeface="Calibri"/>
              <a:sym typeface="Calibri"/>
            </a:endParaRPr>
          </a:p>
        </p:txBody>
      </p:sp>
      <p:sp>
        <p:nvSpPr>
          <p:cNvPr id="350" name="Google Shape;350;p7"/>
          <p:cNvSpPr/>
          <p:nvPr/>
        </p:nvSpPr>
        <p:spPr>
          <a:xfrm>
            <a:off x="4114800" y="4361705"/>
            <a:ext cx="7406700" cy="612600"/>
          </a:xfrm>
          <a:prstGeom prst="rect">
            <a:avLst/>
          </a:prstGeom>
          <a:noFill/>
          <a:ln>
            <a:noFill/>
          </a:ln>
        </p:spPr>
        <p:txBody>
          <a:bodyPr anchorCtr="0" anchor="ctr" bIns="45700" lIns="91425" spcFirstLastPara="1" rIns="91425" wrap="square" tIns="45700">
            <a:noAutofit/>
          </a:bodyPr>
          <a:lstStyle/>
          <a:p>
            <a:pPr indent="457200" lvl="0" marL="2286000" marR="0" rtl="0" algn="ctr">
              <a:spcBef>
                <a:spcPts val="0"/>
              </a:spcBef>
              <a:spcAft>
                <a:spcPts val="0"/>
              </a:spcAft>
              <a:buClr>
                <a:srgbClr val="1F2430"/>
              </a:buClr>
              <a:buSzPts val="1050"/>
              <a:buFont typeface="Calibri"/>
              <a:buNone/>
            </a:pPr>
            <a:r>
              <a:rPr lang="en-US" sz="1200">
                <a:solidFill>
                  <a:srgbClr val="1F2430"/>
                </a:solidFill>
                <a:latin typeface="Calibri"/>
                <a:ea typeface="Calibri"/>
                <a:cs typeface="Calibri"/>
                <a:sym typeface="Calibri"/>
              </a:rPr>
              <a:t>직전 슬라이드에서 ‘유저 입력’, ‘세부사항 확인’은 LLM 기반으로 작동 </a:t>
            </a:r>
            <a:endParaRPr sz="1200">
              <a:solidFill>
                <a:schemeClr val="dk1"/>
              </a:solidFill>
              <a:latin typeface="Calibri"/>
              <a:ea typeface="Calibri"/>
              <a:cs typeface="Calibri"/>
              <a:sym typeface="Calibri"/>
            </a:endParaRPr>
          </a:p>
        </p:txBody>
      </p:sp>
      <p:sp>
        <p:nvSpPr>
          <p:cNvPr id="351" name="Google Shape;351;p7"/>
          <p:cNvSpPr/>
          <p:nvPr/>
        </p:nvSpPr>
        <p:spPr>
          <a:xfrm>
            <a:off x="11277295" y="647395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072"/>
              </a:buClr>
              <a:buSzPts val="900"/>
              <a:buFont typeface="Calibri"/>
              <a:buNone/>
            </a:pPr>
            <a:r>
              <a:rPr lang="en-US" sz="900">
                <a:solidFill>
                  <a:srgbClr val="5A6072"/>
                </a:solidFill>
                <a:latin typeface="Calibri"/>
                <a:ea typeface="Calibri"/>
                <a:cs typeface="Calibri"/>
                <a:sym typeface="Calibri"/>
              </a:rPr>
              <a:t>9</a:t>
            </a:r>
            <a:endParaRPr sz="900">
              <a:solidFill>
                <a:schemeClr val="dk1"/>
              </a:solidFill>
              <a:latin typeface="Calibri"/>
              <a:ea typeface="Calibri"/>
              <a:cs typeface="Calibri"/>
              <a:sym typeface="Calibri"/>
            </a:endParaRPr>
          </a:p>
        </p:txBody>
      </p:sp>
      <p:sp>
        <p:nvSpPr>
          <p:cNvPr id="352" name="Google Shape;352;p7"/>
          <p:cNvSpPr/>
          <p:nvPr/>
        </p:nvSpPr>
        <p:spPr>
          <a:xfrm>
            <a:off x="457200" y="6473952"/>
            <a:ext cx="8686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072"/>
              </a:buClr>
              <a:buSzPts val="900"/>
              <a:buFont typeface="Calibri"/>
              <a:buNone/>
            </a:pPr>
            <a:r>
              <a:rPr lang="en-US" sz="900">
                <a:solidFill>
                  <a:srgbClr val="5A6072"/>
                </a:solidFill>
                <a:latin typeface="Calibri"/>
                <a:ea typeface="Calibri"/>
                <a:cs typeface="Calibri"/>
                <a:sym typeface="Calibri"/>
              </a:rPr>
              <a:t>LG CNS AI캠퍼스 · Knowledge Graph 과정 mini project 1 - LG 직무 추천 AI Agent</a:t>
            </a:r>
            <a:endParaRPr sz="900">
              <a:solidFill>
                <a:schemeClr val="dk1"/>
              </a:solidFill>
              <a:latin typeface="Calibri"/>
              <a:ea typeface="Calibri"/>
              <a:cs typeface="Calibri"/>
              <a:sym typeface="Calibri"/>
            </a:endParaRPr>
          </a:p>
        </p:txBody>
      </p:sp>
      <p:sp>
        <p:nvSpPr>
          <p:cNvPr id="353" name="Google Shape;353;p7"/>
          <p:cNvSpPr/>
          <p:nvPr/>
        </p:nvSpPr>
        <p:spPr>
          <a:xfrm>
            <a:off x="457200" y="1207008"/>
            <a:ext cx="103326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072"/>
              </a:buClr>
              <a:buSzPts val="1300"/>
              <a:buFont typeface="Calibri"/>
              <a:buNone/>
            </a:pPr>
            <a:r>
              <a:rPr lang="en-US" sz="1300">
                <a:solidFill>
                  <a:srgbClr val="5A6072"/>
                </a:solidFill>
                <a:latin typeface="Calibri"/>
                <a:ea typeface="Calibri"/>
                <a:cs typeface="Calibri"/>
                <a:sym typeface="Calibri"/>
              </a:rPr>
              <a:t>우리 Agent의 미완성 지점</a:t>
            </a:r>
            <a:endParaRPr sz="13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C"/>
        </a:solidFill>
      </p:bgPr>
    </p:bg>
    <p:spTree>
      <p:nvGrpSpPr>
        <p:cNvPr id="358" name="Shape 358"/>
        <p:cNvGrpSpPr/>
        <p:nvPr/>
      </p:nvGrpSpPr>
      <p:grpSpPr>
        <a:xfrm>
          <a:off x="0" y="0"/>
          <a:ext cx="0" cy="0"/>
          <a:chOff x="0" y="0"/>
          <a:chExt cx="0" cy="0"/>
        </a:xfrm>
      </p:grpSpPr>
      <p:sp>
        <p:nvSpPr>
          <p:cNvPr id="359" name="Google Shape;359;p8"/>
          <p:cNvSpPr/>
          <p:nvPr/>
        </p:nvSpPr>
        <p:spPr>
          <a:xfrm>
            <a:off x="457200" y="384048"/>
            <a:ext cx="914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574A"/>
              </a:buClr>
              <a:buSzPts val="2000"/>
              <a:buFont typeface="Calibri"/>
              <a:buNone/>
            </a:pPr>
            <a:r>
              <a:rPr b="1" lang="en-US" sz="2000">
                <a:solidFill>
                  <a:srgbClr val="E8574A"/>
                </a:solidFill>
                <a:latin typeface="Calibri"/>
                <a:ea typeface="Calibri"/>
                <a:cs typeface="Calibri"/>
                <a:sym typeface="Calibri"/>
              </a:rPr>
              <a:t>09</a:t>
            </a:r>
            <a:endParaRPr sz="2000">
              <a:solidFill>
                <a:schemeClr val="dk1"/>
              </a:solidFill>
              <a:latin typeface="Calibri"/>
              <a:ea typeface="Calibri"/>
              <a:cs typeface="Calibri"/>
              <a:sym typeface="Calibri"/>
            </a:endParaRPr>
          </a:p>
        </p:txBody>
      </p:sp>
      <p:sp>
        <p:nvSpPr>
          <p:cNvPr id="360" name="Google Shape;360;p8"/>
          <p:cNvSpPr/>
          <p:nvPr/>
        </p:nvSpPr>
        <p:spPr>
          <a:xfrm>
            <a:off x="457200" y="713232"/>
            <a:ext cx="100584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600"/>
              <a:buFont typeface="Calibri"/>
              <a:buNone/>
            </a:pPr>
            <a:r>
              <a:rPr b="1" lang="en-US" sz="2600">
                <a:solidFill>
                  <a:srgbClr val="1E2761"/>
                </a:solidFill>
                <a:latin typeface="Calibri"/>
                <a:ea typeface="Calibri"/>
                <a:cs typeface="Calibri"/>
                <a:sym typeface="Calibri"/>
              </a:rPr>
              <a:t>개선 방향 및 향후 과제</a:t>
            </a:r>
            <a:endParaRPr sz="2600">
              <a:solidFill>
                <a:schemeClr val="dk1"/>
              </a:solidFill>
              <a:latin typeface="Calibri"/>
              <a:ea typeface="Calibri"/>
              <a:cs typeface="Calibri"/>
              <a:sym typeface="Calibri"/>
            </a:endParaRPr>
          </a:p>
        </p:txBody>
      </p:sp>
      <p:sp>
        <p:nvSpPr>
          <p:cNvPr id="361" name="Google Shape;361;p8"/>
          <p:cNvSpPr/>
          <p:nvPr/>
        </p:nvSpPr>
        <p:spPr>
          <a:xfrm>
            <a:off x="457200" y="1207008"/>
            <a:ext cx="103327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072"/>
              </a:buClr>
              <a:buSzPts val="1300"/>
              <a:buFont typeface="Calibri"/>
              <a:buNone/>
            </a:pPr>
            <a:r>
              <a:rPr lang="en-US" sz="1300">
                <a:solidFill>
                  <a:srgbClr val="5A6072"/>
                </a:solidFill>
                <a:latin typeface="Calibri"/>
                <a:ea typeface="Calibri"/>
                <a:cs typeface="Calibri"/>
                <a:sym typeface="Calibri"/>
              </a:rPr>
              <a:t>한계를 과제로</a:t>
            </a:r>
            <a:endParaRPr sz="1300">
              <a:solidFill>
                <a:schemeClr val="dk1"/>
              </a:solidFill>
              <a:latin typeface="Calibri"/>
              <a:ea typeface="Calibri"/>
              <a:cs typeface="Calibri"/>
              <a:sym typeface="Calibri"/>
            </a:endParaRPr>
          </a:p>
        </p:txBody>
      </p:sp>
      <p:sp>
        <p:nvSpPr>
          <p:cNvPr id="362" name="Google Shape;362;p8"/>
          <p:cNvSpPr/>
          <p:nvPr/>
        </p:nvSpPr>
        <p:spPr>
          <a:xfrm rot="-1690715">
            <a:off x="11397243" y="562356"/>
            <a:ext cx="290457" cy="18288"/>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8"/>
          <p:cNvSpPr/>
          <p:nvPr/>
        </p:nvSpPr>
        <p:spPr>
          <a:xfrm rot="1690715">
            <a:off x="11397243" y="699516"/>
            <a:ext cx="290457" cy="18288"/>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8"/>
          <p:cNvSpPr/>
          <p:nvPr/>
        </p:nvSpPr>
        <p:spPr>
          <a:xfrm>
            <a:off x="11359591" y="585216"/>
            <a:ext cx="109728" cy="109728"/>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8"/>
          <p:cNvSpPr/>
          <p:nvPr/>
        </p:nvSpPr>
        <p:spPr>
          <a:xfrm>
            <a:off x="11615623" y="448056"/>
            <a:ext cx="109728" cy="109728"/>
          </a:xfrm>
          <a:prstGeom prst="ellipse">
            <a:avLst/>
          </a:prstGeom>
          <a:solidFill>
            <a:srgbClr val="E857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8"/>
          <p:cNvSpPr/>
          <p:nvPr/>
        </p:nvSpPr>
        <p:spPr>
          <a:xfrm>
            <a:off x="11615623" y="722376"/>
            <a:ext cx="109728" cy="109728"/>
          </a:xfrm>
          <a:prstGeom prst="ellipse">
            <a:avLst/>
          </a:prstGeom>
          <a:solidFill>
            <a:srgbClr val="2F9E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8"/>
          <p:cNvSpPr/>
          <p:nvPr/>
        </p:nvSpPr>
        <p:spPr>
          <a:xfrm>
            <a:off x="457200" y="1691650"/>
            <a:ext cx="5303400" cy="365700"/>
          </a:xfrm>
          <a:prstGeom prst="roundRect">
            <a:avLst>
              <a:gd fmla="val 10000"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8"/>
          <p:cNvSpPr/>
          <p:nvPr/>
        </p:nvSpPr>
        <p:spPr>
          <a:xfrm>
            <a:off x="640075" y="1691650"/>
            <a:ext cx="51024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200"/>
              <a:buFont typeface="Calibri"/>
              <a:buNone/>
            </a:pPr>
            <a:r>
              <a:rPr b="1" lang="en-US" sz="1200">
                <a:solidFill>
                  <a:srgbClr val="CADCFC"/>
                </a:solidFill>
                <a:latin typeface="Calibri"/>
                <a:ea typeface="Calibri"/>
                <a:cs typeface="Calibri"/>
                <a:sym typeface="Calibri"/>
              </a:rPr>
              <a:t>한계</a:t>
            </a:r>
            <a:endParaRPr sz="1200">
              <a:solidFill>
                <a:schemeClr val="dk1"/>
              </a:solidFill>
              <a:latin typeface="Calibri"/>
              <a:ea typeface="Calibri"/>
              <a:cs typeface="Calibri"/>
              <a:sym typeface="Calibri"/>
            </a:endParaRPr>
          </a:p>
        </p:txBody>
      </p:sp>
      <p:sp>
        <p:nvSpPr>
          <p:cNvPr id="369" name="Google Shape;369;p8"/>
          <p:cNvSpPr/>
          <p:nvPr/>
        </p:nvSpPr>
        <p:spPr>
          <a:xfrm>
            <a:off x="6035040" y="1691640"/>
            <a:ext cx="5669280" cy="365760"/>
          </a:xfrm>
          <a:prstGeom prst="roundRect">
            <a:avLst>
              <a:gd fmla="val 10000"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8"/>
          <p:cNvSpPr/>
          <p:nvPr/>
        </p:nvSpPr>
        <p:spPr>
          <a:xfrm>
            <a:off x="6217920" y="1691640"/>
            <a:ext cx="53949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200"/>
              <a:buFont typeface="Calibri"/>
              <a:buNone/>
            </a:pPr>
            <a:r>
              <a:rPr b="1" lang="en-US" sz="1200">
                <a:solidFill>
                  <a:srgbClr val="CADCFC"/>
                </a:solidFill>
                <a:latin typeface="Calibri"/>
                <a:ea typeface="Calibri"/>
                <a:cs typeface="Calibri"/>
                <a:sym typeface="Calibri"/>
              </a:rPr>
              <a:t>확장 / Action Item</a:t>
            </a:r>
            <a:endParaRPr sz="1200">
              <a:solidFill>
                <a:schemeClr val="dk1"/>
              </a:solidFill>
              <a:latin typeface="Calibri"/>
              <a:ea typeface="Calibri"/>
              <a:cs typeface="Calibri"/>
              <a:sym typeface="Calibri"/>
            </a:endParaRPr>
          </a:p>
        </p:txBody>
      </p:sp>
      <p:sp>
        <p:nvSpPr>
          <p:cNvPr id="371" name="Google Shape;371;p8"/>
          <p:cNvSpPr/>
          <p:nvPr/>
        </p:nvSpPr>
        <p:spPr>
          <a:xfrm>
            <a:off x="457200" y="2057409"/>
            <a:ext cx="5303400" cy="713100"/>
          </a:xfrm>
          <a:prstGeom prst="roundRect">
            <a:avLst>
              <a:gd fmla="val 6410" name="adj"/>
            </a:avLst>
          </a:prstGeom>
          <a:solidFill>
            <a:srgbClr val="FFFFFF"/>
          </a:solidFill>
          <a:ln cap="flat" cmpd="sng" w="12700">
            <a:solidFill>
              <a:srgbClr val="E2E6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8"/>
          <p:cNvSpPr/>
          <p:nvPr/>
        </p:nvSpPr>
        <p:spPr>
          <a:xfrm>
            <a:off x="457200" y="2057400"/>
            <a:ext cx="64008" cy="713232"/>
          </a:xfrm>
          <a:prstGeom prst="rect">
            <a:avLst/>
          </a:prstGeom>
          <a:solidFill>
            <a:srgbClr val="E857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8"/>
          <p:cNvSpPr/>
          <p:nvPr/>
        </p:nvSpPr>
        <p:spPr>
          <a:xfrm>
            <a:off x="658298" y="2057409"/>
            <a:ext cx="5102400" cy="713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430"/>
              </a:buClr>
              <a:buSzPts val="1050"/>
              <a:buFont typeface="Calibri"/>
              <a:buNone/>
            </a:pPr>
            <a:r>
              <a:rPr b="1" lang="en-US" sz="1250">
                <a:solidFill>
                  <a:srgbClr val="1F2430"/>
                </a:solidFill>
                <a:latin typeface="Calibri"/>
                <a:ea typeface="Calibri"/>
                <a:cs typeface="Calibri"/>
                <a:sym typeface="Calibri"/>
              </a:rPr>
              <a:t>채용 공고 유실</a:t>
            </a:r>
            <a:r>
              <a:rPr b="1" lang="en-US" sz="1250">
                <a:solidFill>
                  <a:schemeClr val="dk1"/>
                </a:solidFill>
                <a:latin typeface="Calibri"/>
                <a:ea typeface="Calibri"/>
                <a:cs typeface="Calibri"/>
                <a:sym typeface="Calibri"/>
              </a:rPr>
              <a:t> </a:t>
            </a:r>
            <a:r>
              <a:rPr b="1" lang="en-US" sz="1250">
                <a:solidFill>
                  <a:srgbClr val="1F2430"/>
                </a:solidFill>
                <a:latin typeface="Calibri"/>
                <a:ea typeface="Calibri"/>
                <a:cs typeface="Calibri"/>
                <a:sym typeface="Calibri"/>
              </a:rPr>
              <a:t>(공고 마감 시 데이터 소실)</a:t>
            </a:r>
            <a:endParaRPr b="1" sz="1250">
              <a:solidFill>
                <a:schemeClr val="dk1"/>
              </a:solidFill>
              <a:latin typeface="Calibri"/>
              <a:ea typeface="Calibri"/>
              <a:cs typeface="Calibri"/>
              <a:sym typeface="Calibri"/>
            </a:endParaRPr>
          </a:p>
        </p:txBody>
      </p:sp>
      <p:sp>
        <p:nvSpPr>
          <p:cNvPr id="374" name="Google Shape;374;p8"/>
          <p:cNvSpPr/>
          <p:nvPr/>
        </p:nvSpPr>
        <p:spPr>
          <a:xfrm>
            <a:off x="5812969" y="2313432"/>
            <a:ext cx="164700" cy="201300"/>
          </a:xfrm>
          <a:prstGeom prst="chevron">
            <a:avLst>
              <a:gd fmla="val 50000" name="adj"/>
            </a:avLst>
          </a:prstGeom>
          <a:solidFill>
            <a:srgbClr val="B7C0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8"/>
          <p:cNvSpPr/>
          <p:nvPr/>
        </p:nvSpPr>
        <p:spPr>
          <a:xfrm>
            <a:off x="6035040" y="2057400"/>
            <a:ext cx="5669280" cy="713232"/>
          </a:xfrm>
          <a:prstGeom prst="roundRect">
            <a:avLst>
              <a:gd fmla="val 6410" name="adj"/>
            </a:avLst>
          </a:prstGeom>
          <a:solidFill>
            <a:srgbClr val="F1F4FB"/>
          </a:solidFill>
          <a:ln cap="flat" cmpd="sng" w="12700">
            <a:solidFill>
              <a:srgbClr val="E2E6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8"/>
          <p:cNvSpPr/>
          <p:nvPr/>
        </p:nvSpPr>
        <p:spPr>
          <a:xfrm>
            <a:off x="6236208" y="2057400"/>
            <a:ext cx="5303520" cy="7132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430"/>
              </a:buClr>
              <a:buSzPts val="1050"/>
              <a:buFont typeface="Calibri"/>
              <a:buNone/>
            </a:pPr>
            <a:r>
              <a:rPr lang="en-US" sz="1200">
                <a:solidFill>
                  <a:srgbClr val="1F2430"/>
                </a:solidFill>
                <a:latin typeface="Calibri"/>
                <a:ea typeface="Calibri"/>
                <a:cs typeface="Calibri"/>
                <a:sym typeface="Calibri"/>
              </a:rPr>
              <a:t>정기 크롤링 자동화 + 아카이브 시스템 구축 — 마감 공고도 스냅샷으로 영구 보존</a:t>
            </a:r>
            <a:endParaRPr sz="1200">
              <a:solidFill>
                <a:schemeClr val="dk1"/>
              </a:solidFill>
              <a:latin typeface="Calibri"/>
              <a:ea typeface="Calibri"/>
              <a:cs typeface="Calibri"/>
              <a:sym typeface="Calibri"/>
            </a:endParaRPr>
          </a:p>
        </p:txBody>
      </p:sp>
      <p:sp>
        <p:nvSpPr>
          <p:cNvPr id="377" name="Google Shape;377;p8"/>
          <p:cNvSpPr/>
          <p:nvPr/>
        </p:nvSpPr>
        <p:spPr>
          <a:xfrm>
            <a:off x="457200" y="2862079"/>
            <a:ext cx="5303400" cy="713100"/>
          </a:xfrm>
          <a:prstGeom prst="roundRect">
            <a:avLst>
              <a:gd fmla="val 6410" name="adj"/>
            </a:avLst>
          </a:prstGeom>
          <a:solidFill>
            <a:srgbClr val="FFFFFF"/>
          </a:solidFill>
          <a:ln cap="flat" cmpd="sng" w="12700">
            <a:solidFill>
              <a:srgbClr val="E2E6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8"/>
          <p:cNvSpPr/>
          <p:nvPr/>
        </p:nvSpPr>
        <p:spPr>
          <a:xfrm>
            <a:off x="457200" y="2862072"/>
            <a:ext cx="64008" cy="713232"/>
          </a:xfrm>
          <a:prstGeom prst="rect">
            <a:avLst/>
          </a:prstGeom>
          <a:solidFill>
            <a:srgbClr val="E857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8"/>
          <p:cNvSpPr/>
          <p:nvPr/>
        </p:nvSpPr>
        <p:spPr>
          <a:xfrm>
            <a:off x="658298" y="2862079"/>
            <a:ext cx="5102400" cy="713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430"/>
              </a:buClr>
              <a:buSzPts val="1050"/>
              <a:buFont typeface="Calibri"/>
              <a:buNone/>
            </a:pPr>
            <a:r>
              <a:rPr b="1" lang="en-US" sz="1300">
                <a:solidFill>
                  <a:srgbClr val="1F2430"/>
                </a:solidFill>
                <a:latin typeface="Calibri"/>
                <a:ea typeface="Calibri"/>
                <a:cs typeface="Calibri"/>
                <a:sym typeface="Calibri"/>
              </a:rPr>
              <a:t>채용공고만으로는</a:t>
            </a:r>
            <a:r>
              <a:rPr b="1" lang="en-US" sz="1300">
                <a:solidFill>
                  <a:schemeClr val="dk1"/>
                </a:solidFill>
                <a:latin typeface="Calibri"/>
                <a:ea typeface="Calibri"/>
                <a:cs typeface="Calibri"/>
                <a:sym typeface="Calibri"/>
              </a:rPr>
              <a:t> </a:t>
            </a:r>
            <a:r>
              <a:rPr b="1" lang="en-US" sz="1300">
                <a:solidFill>
                  <a:srgbClr val="1F2430"/>
                </a:solidFill>
                <a:latin typeface="Calibri"/>
                <a:ea typeface="Calibri"/>
                <a:cs typeface="Calibri"/>
                <a:sym typeface="Calibri"/>
              </a:rPr>
              <a:t>LG 전체 직무 커버 불가</a:t>
            </a:r>
            <a:endParaRPr b="1" sz="1300">
              <a:solidFill>
                <a:schemeClr val="dk1"/>
              </a:solidFill>
              <a:latin typeface="Calibri"/>
              <a:ea typeface="Calibri"/>
              <a:cs typeface="Calibri"/>
              <a:sym typeface="Calibri"/>
            </a:endParaRPr>
          </a:p>
        </p:txBody>
      </p:sp>
      <p:sp>
        <p:nvSpPr>
          <p:cNvPr id="380" name="Google Shape;380;p8"/>
          <p:cNvSpPr/>
          <p:nvPr/>
        </p:nvSpPr>
        <p:spPr>
          <a:xfrm>
            <a:off x="5812969" y="3118104"/>
            <a:ext cx="164700" cy="201300"/>
          </a:xfrm>
          <a:prstGeom prst="chevron">
            <a:avLst>
              <a:gd fmla="val 50000" name="adj"/>
            </a:avLst>
          </a:prstGeom>
          <a:solidFill>
            <a:srgbClr val="B7C0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8"/>
          <p:cNvSpPr/>
          <p:nvPr/>
        </p:nvSpPr>
        <p:spPr>
          <a:xfrm>
            <a:off x="6035040" y="2862072"/>
            <a:ext cx="5669280" cy="713232"/>
          </a:xfrm>
          <a:prstGeom prst="roundRect">
            <a:avLst>
              <a:gd fmla="val 6410" name="adj"/>
            </a:avLst>
          </a:prstGeom>
          <a:solidFill>
            <a:srgbClr val="F1F4FB"/>
          </a:solidFill>
          <a:ln cap="flat" cmpd="sng" w="12700">
            <a:solidFill>
              <a:srgbClr val="E2E6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8"/>
          <p:cNvSpPr/>
          <p:nvPr/>
        </p:nvSpPr>
        <p:spPr>
          <a:xfrm>
            <a:off x="6236208" y="2862072"/>
            <a:ext cx="5303520" cy="7132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430"/>
              </a:buClr>
              <a:buSzPts val="1050"/>
              <a:buFont typeface="Calibri"/>
              <a:buNone/>
            </a:pPr>
            <a:r>
              <a:rPr lang="en-US" sz="1200">
                <a:solidFill>
                  <a:srgbClr val="1F2430"/>
                </a:solidFill>
                <a:latin typeface="Calibri"/>
                <a:ea typeface="Calibri"/>
                <a:cs typeface="Calibri"/>
                <a:sym typeface="Calibri"/>
              </a:rPr>
              <a:t>LG 측에 채용공고 외 자료 제공 요청 — 공고 없는 직무 그래프에 반영</a:t>
            </a:r>
            <a:endParaRPr sz="1200">
              <a:solidFill>
                <a:schemeClr val="dk1"/>
              </a:solidFill>
              <a:latin typeface="Calibri"/>
              <a:ea typeface="Calibri"/>
              <a:cs typeface="Calibri"/>
              <a:sym typeface="Calibri"/>
            </a:endParaRPr>
          </a:p>
        </p:txBody>
      </p:sp>
      <p:sp>
        <p:nvSpPr>
          <p:cNvPr id="383" name="Google Shape;383;p8"/>
          <p:cNvSpPr/>
          <p:nvPr/>
        </p:nvSpPr>
        <p:spPr>
          <a:xfrm>
            <a:off x="457200" y="3666749"/>
            <a:ext cx="5303400" cy="713100"/>
          </a:xfrm>
          <a:prstGeom prst="roundRect">
            <a:avLst>
              <a:gd fmla="val 6410" name="adj"/>
            </a:avLst>
          </a:prstGeom>
          <a:solidFill>
            <a:srgbClr val="FFFFFF"/>
          </a:solidFill>
          <a:ln cap="flat" cmpd="sng" w="12700">
            <a:solidFill>
              <a:srgbClr val="E2E6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8"/>
          <p:cNvSpPr/>
          <p:nvPr/>
        </p:nvSpPr>
        <p:spPr>
          <a:xfrm>
            <a:off x="457200" y="3666744"/>
            <a:ext cx="64008" cy="713232"/>
          </a:xfrm>
          <a:prstGeom prst="rect">
            <a:avLst/>
          </a:prstGeom>
          <a:solidFill>
            <a:srgbClr val="3B5B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8"/>
          <p:cNvSpPr/>
          <p:nvPr/>
        </p:nvSpPr>
        <p:spPr>
          <a:xfrm>
            <a:off x="658298" y="3666749"/>
            <a:ext cx="5102400" cy="713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430"/>
              </a:buClr>
              <a:buSzPts val="1050"/>
              <a:buFont typeface="Calibri"/>
              <a:buNone/>
            </a:pPr>
            <a:r>
              <a:rPr b="1" lang="en-US" sz="1300">
                <a:solidFill>
                  <a:srgbClr val="1F2430"/>
                </a:solidFill>
                <a:latin typeface="Calibri"/>
                <a:ea typeface="Calibri"/>
                <a:cs typeface="Calibri"/>
                <a:sym typeface="Calibri"/>
              </a:rPr>
              <a:t>서울대 1개교 한정</a:t>
            </a:r>
            <a:endParaRPr b="1" sz="1300">
              <a:solidFill>
                <a:schemeClr val="dk1"/>
              </a:solidFill>
              <a:latin typeface="Calibri"/>
              <a:ea typeface="Calibri"/>
              <a:cs typeface="Calibri"/>
              <a:sym typeface="Calibri"/>
            </a:endParaRPr>
          </a:p>
        </p:txBody>
      </p:sp>
      <p:sp>
        <p:nvSpPr>
          <p:cNvPr id="386" name="Google Shape;386;p8"/>
          <p:cNvSpPr/>
          <p:nvPr/>
        </p:nvSpPr>
        <p:spPr>
          <a:xfrm>
            <a:off x="5812969" y="3922776"/>
            <a:ext cx="164700" cy="201300"/>
          </a:xfrm>
          <a:prstGeom prst="chevron">
            <a:avLst>
              <a:gd fmla="val 50000" name="adj"/>
            </a:avLst>
          </a:prstGeom>
          <a:solidFill>
            <a:srgbClr val="B7C0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8"/>
          <p:cNvSpPr/>
          <p:nvPr/>
        </p:nvSpPr>
        <p:spPr>
          <a:xfrm>
            <a:off x="6035040" y="3666744"/>
            <a:ext cx="5669280" cy="713232"/>
          </a:xfrm>
          <a:prstGeom prst="roundRect">
            <a:avLst>
              <a:gd fmla="val 6410" name="adj"/>
            </a:avLst>
          </a:prstGeom>
          <a:solidFill>
            <a:srgbClr val="F1F4FB"/>
          </a:solidFill>
          <a:ln cap="flat" cmpd="sng" w="12700">
            <a:solidFill>
              <a:srgbClr val="E2E6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8"/>
          <p:cNvSpPr/>
          <p:nvPr/>
        </p:nvSpPr>
        <p:spPr>
          <a:xfrm>
            <a:off x="6236208" y="3666744"/>
            <a:ext cx="5303520" cy="7132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430"/>
              </a:buClr>
              <a:buSzPts val="1050"/>
              <a:buFont typeface="Calibri"/>
              <a:buNone/>
            </a:pPr>
            <a:r>
              <a:rPr lang="en-US" sz="1200">
                <a:solidFill>
                  <a:srgbClr val="1F2430"/>
                </a:solidFill>
                <a:latin typeface="Calibri"/>
                <a:ea typeface="Calibri"/>
                <a:cs typeface="Calibri"/>
                <a:sym typeface="Calibri"/>
              </a:rPr>
              <a:t>타 대학 교육과정 데이터 확보 및 확장 — 대학 간 비교 축 추가</a:t>
            </a:r>
            <a:endParaRPr sz="1200">
              <a:solidFill>
                <a:schemeClr val="dk1"/>
              </a:solidFill>
              <a:latin typeface="Calibri"/>
              <a:ea typeface="Calibri"/>
              <a:cs typeface="Calibri"/>
              <a:sym typeface="Calibri"/>
            </a:endParaRPr>
          </a:p>
        </p:txBody>
      </p:sp>
      <p:sp>
        <p:nvSpPr>
          <p:cNvPr id="389" name="Google Shape;389;p8"/>
          <p:cNvSpPr/>
          <p:nvPr/>
        </p:nvSpPr>
        <p:spPr>
          <a:xfrm>
            <a:off x="457200" y="4471420"/>
            <a:ext cx="5303400" cy="713100"/>
          </a:xfrm>
          <a:prstGeom prst="roundRect">
            <a:avLst>
              <a:gd fmla="val 6410" name="adj"/>
            </a:avLst>
          </a:prstGeom>
          <a:solidFill>
            <a:srgbClr val="FFFFFF"/>
          </a:solidFill>
          <a:ln cap="flat" cmpd="sng" w="12700">
            <a:solidFill>
              <a:srgbClr val="E2E6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8"/>
          <p:cNvSpPr/>
          <p:nvPr/>
        </p:nvSpPr>
        <p:spPr>
          <a:xfrm>
            <a:off x="457200" y="4471416"/>
            <a:ext cx="64008" cy="713232"/>
          </a:xfrm>
          <a:prstGeom prst="rect">
            <a:avLst/>
          </a:prstGeom>
          <a:solidFill>
            <a:srgbClr val="2F9E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8"/>
          <p:cNvSpPr/>
          <p:nvPr/>
        </p:nvSpPr>
        <p:spPr>
          <a:xfrm>
            <a:off x="658298" y="4471420"/>
            <a:ext cx="5102400" cy="713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F2430"/>
              </a:buClr>
              <a:buSzPts val="1050"/>
              <a:buFont typeface="Calibri"/>
              <a:buNone/>
            </a:pPr>
            <a:r>
              <a:rPr b="1" lang="en-US" sz="1300">
                <a:solidFill>
                  <a:srgbClr val="1F2430"/>
                </a:solidFill>
                <a:latin typeface="Calibri"/>
                <a:ea typeface="Calibri"/>
                <a:cs typeface="Calibri"/>
                <a:sym typeface="Calibri"/>
              </a:rPr>
              <a:t>LLM 비결정성</a:t>
            </a:r>
            <a:endParaRPr b="1" sz="1300">
              <a:solidFill>
                <a:schemeClr val="dk1"/>
              </a:solidFill>
              <a:latin typeface="Calibri"/>
              <a:ea typeface="Calibri"/>
              <a:cs typeface="Calibri"/>
              <a:sym typeface="Calibri"/>
            </a:endParaRPr>
          </a:p>
        </p:txBody>
      </p:sp>
      <p:sp>
        <p:nvSpPr>
          <p:cNvPr id="392" name="Google Shape;392;p8"/>
          <p:cNvSpPr/>
          <p:nvPr/>
        </p:nvSpPr>
        <p:spPr>
          <a:xfrm>
            <a:off x="5812969" y="4727448"/>
            <a:ext cx="164700" cy="201300"/>
          </a:xfrm>
          <a:prstGeom prst="chevron">
            <a:avLst>
              <a:gd fmla="val 50000" name="adj"/>
            </a:avLst>
          </a:prstGeom>
          <a:solidFill>
            <a:srgbClr val="B7C0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8"/>
          <p:cNvSpPr/>
          <p:nvPr/>
        </p:nvSpPr>
        <p:spPr>
          <a:xfrm>
            <a:off x="6035040" y="4471416"/>
            <a:ext cx="5669280" cy="713232"/>
          </a:xfrm>
          <a:prstGeom prst="roundRect">
            <a:avLst>
              <a:gd fmla="val 6410" name="adj"/>
            </a:avLst>
          </a:prstGeom>
          <a:solidFill>
            <a:srgbClr val="F1F4FB"/>
          </a:solidFill>
          <a:ln cap="flat" cmpd="sng" w="12700">
            <a:solidFill>
              <a:srgbClr val="E2E6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8"/>
          <p:cNvSpPr/>
          <p:nvPr/>
        </p:nvSpPr>
        <p:spPr>
          <a:xfrm>
            <a:off x="6236208" y="4471416"/>
            <a:ext cx="5303520" cy="71323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F2430"/>
              </a:buClr>
              <a:buSzPts val="1050"/>
              <a:buFont typeface="Calibri"/>
              <a:buNone/>
            </a:pPr>
            <a:r>
              <a:rPr lang="en-US" sz="1200">
                <a:solidFill>
                  <a:srgbClr val="1F2430"/>
                </a:solidFill>
                <a:latin typeface="Calibri"/>
                <a:ea typeface="Calibri"/>
                <a:cs typeface="Calibri"/>
                <a:sym typeface="Calibri"/>
              </a:rPr>
              <a:t>Seed값 도입, Self-Consistency(다수결 투표) 방식 도입 등으로 비결정성 완화</a:t>
            </a:r>
            <a:endParaRPr sz="1200">
              <a:solidFill>
                <a:srgbClr val="1F2430"/>
              </a:solidFill>
              <a:latin typeface="Calibri"/>
              <a:ea typeface="Calibri"/>
              <a:cs typeface="Calibri"/>
              <a:sym typeface="Calibri"/>
            </a:endParaRPr>
          </a:p>
        </p:txBody>
      </p:sp>
      <p:sp>
        <p:nvSpPr>
          <p:cNvPr id="395" name="Google Shape;395;p8"/>
          <p:cNvSpPr/>
          <p:nvPr/>
        </p:nvSpPr>
        <p:spPr>
          <a:xfrm>
            <a:off x="11268145" y="6473952"/>
            <a:ext cx="4572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072"/>
              </a:buClr>
              <a:buSzPts val="900"/>
              <a:buFont typeface="Calibri"/>
              <a:buNone/>
            </a:pPr>
            <a:r>
              <a:rPr lang="en-US" sz="900">
                <a:solidFill>
                  <a:srgbClr val="5A6072"/>
                </a:solidFill>
                <a:latin typeface="Calibri"/>
                <a:ea typeface="Calibri"/>
                <a:cs typeface="Calibri"/>
                <a:sym typeface="Calibri"/>
              </a:rPr>
              <a:t>10</a:t>
            </a:r>
            <a:endParaRPr sz="900">
              <a:solidFill>
                <a:schemeClr val="dk1"/>
              </a:solidFill>
              <a:latin typeface="Calibri"/>
              <a:ea typeface="Calibri"/>
              <a:cs typeface="Calibri"/>
              <a:sym typeface="Calibri"/>
            </a:endParaRPr>
          </a:p>
        </p:txBody>
      </p:sp>
      <p:sp>
        <p:nvSpPr>
          <p:cNvPr id="396" name="Google Shape;396;p8"/>
          <p:cNvSpPr/>
          <p:nvPr/>
        </p:nvSpPr>
        <p:spPr>
          <a:xfrm>
            <a:off x="457200" y="6473952"/>
            <a:ext cx="8686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072"/>
              </a:buClr>
              <a:buSzPts val="900"/>
              <a:buFont typeface="Calibri"/>
              <a:buNone/>
            </a:pPr>
            <a:r>
              <a:rPr lang="en-US" sz="900">
                <a:solidFill>
                  <a:srgbClr val="5A6072"/>
                </a:solidFill>
                <a:latin typeface="Calibri"/>
                <a:ea typeface="Calibri"/>
                <a:cs typeface="Calibri"/>
                <a:sym typeface="Calibri"/>
              </a:rPr>
              <a:t>LG CNS AI캠퍼스 · Knowledge Graph 과정 mini project 1 - LG 직무 추천 AI Agent</a:t>
            </a:r>
            <a:endParaRPr sz="9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B45"/>
        </a:solidFill>
      </p:bgPr>
    </p:bg>
    <p:spTree>
      <p:nvGrpSpPr>
        <p:cNvPr id="401" name="Shape 401"/>
        <p:cNvGrpSpPr/>
        <p:nvPr/>
      </p:nvGrpSpPr>
      <p:grpSpPr>
        <a:xfrm>
          <a:off x="0" y="0"/>
          <a:ext cx="0" cy="0"/>
          <a:chOff x="0" y="0"/>
          <a:chExt cx="0" cy="0"/>
        </a:xfrm>
      </p:grpSpPr>
      <p:sp>
        <p:nvSpPr>
          <p:cNvPr id="402" name="Google Shape;402;g409f53afb48_5_8"/>
          <p:cNvSpPr/>
          <p:nvPr/>
        </p:nvSpPr>
        <p:spPr>
          <a:xfrm>
            <a:off x="25" y="2893050"/>
            <a:ext cx="12192000" cy="1005900"/>
          </a:xfrm>
          <a:prstGeom prst="rect">
            <a:avLst/>
          </a:prstGeom>
          <a:noFill/>
          <a:ln>
            <a:noFill/>
          </a:ln>
        </p:spPr>
        <p:txBody>
          <a:bodyPr anchorCtr="0" anchor="ctr" bIns="45700" lIns="91425" spcFirstLastPara="1" rIns="91425" wrap="square" tIns="45700">
            <a:noAutofit/>
          </a:bodyPr>
          <a:lstStyle/>
          <a:p>
            <a:pPr indent="0" lvl="0" marL="0" rtl="0" algn="ctr">
              <a:lnSpc>
                <a:spcPct val="125000"/>
              </a:lnSpc>
              <a:spcBef>
                <a:spcPts val="0"/>
              </a:spcBef>
              <a:spcAft>
                <a:spcPts val="0"/>
              </a:spcAft>
              <a:buClr>
                <a:schemeClr val="dk1"/>
              </a:buClr>
              <a:buSzPts val="1100"/>
              <a:buFont typeface="Arial"/>
              <a:buNone/>
            </a:pPr>
            <a:r>
              <a:t/>
            </a:r>
            <a:endParaRPr b="1" sz="4200">
              <a:solidFill>
                <a:srgbClr val="FFFFFF"/>
              </a:solidFill>
              <a:latin typeface="Malgun Gothic"/>
              <a:ea typeface="Malgun Gothic"/>
              <a:cs typeface="Malgun Gothic"/>
              <a:sym typeface="Malgun Gothic"/>
            </a:endParaRPr>
          </a:p>
          <a:p>
            <a:pPr indent="0" lvl="0" marL="0" rtl="0" algn="ctr">
              <a:lnSpc>
                <a:spcPct val="125000"/>
              </a:lnSpc>
              <a:spcBef>
                <a:spcPts val="0"/>
              </a:spcBef>
              <a:spcAft>
                <a:spcPts val="0"/>
              </a:spcAft>
              <a:buClr>
                <a:schemeClr val="dk1"/>
              </a:buClr>
              <a:buSzPts val="1100"/>
              <a:buFont typeface="Arial"/>
              <a:buNone/>
            </a:pPr>
            <a:r>
              <a:rPr b="1" lang="en-US" sz="4200">
                <a:solidFill>
                  <a:srgbClr val="FFFFFF"/>
                </a:solidFill>
                <a:latin typeface="Malgun Gothic"/>
                <a:ea typeface="Malgun Gothic"/>
                <a:cs typeface="Malgun Gothic"/>
                <a:sym typeface="Malgun Gothic"/>
              </a:rPr>
              <a:t>THANK YOU</a:t>
            </a:r>
            <a:endParaRPr b="1" sz="4200">
              <a:solidFill>
                <a:srgbClr val="FFFFFF"/>
              </a:solidFill>
              <a:latin typeface="Malgun Gothic"/>
              <a:ea typeface="Malgun Gothic"/>
              <a:cs typeface="Malgun Gothic"/>
              <a:sym typeface="Malgun Gothic"/>
            </a:endParaRPr>
          </a:p>
          <a:p>
            <a:pPr indent="0" lvl="0" marL="0" marR="0" rtl="0" algn="ctr">
              <a:spcBef>
                <a:spcPts val="0"/>
              </a:spcBef>
              <a:spcAft>
                <a:spcPts val="0"/>
              </a:spcAft>
              <a:buClr>
                <a:srgbClr val="FFFFFF"/>
              </a:buClr>
              <a:buSzPts val="4600"/>
              <a:buFont typeface="Calibri"/>
              <a:buNone/>
            </a:pPr>
            <a:r>
              <a:t/>
            </a:r>
            <a:endParaRPr b="1" sz="4600">
              <a:solidFill>
                <a:srgbClr val="FFFFFF"/>
              </a:solidFill>
              <a:latin typeface="Calibri"/>
              <a:ea typeface="Calibri"/>
              <a:cs typeface="Calibri"/>
              <a:sym typeface="Calibri"/>
            </a:endParaRPr>
          </a:p>
        </p:txBody>
      </p:sp>
      <p:sp>
        <p:nvSpPr>
          <p:cNvPr id="403" name="Google Shape;403;g409f53afb48_5_8"/>
          <p:cNvSpPr/>
          <p:nvPr/>
        </p:nvSpPr>
        <p:spPr>
          <a:xfrm>
            <a:off x="640080" y="6126480"/>
            <a:ext cx="91440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p:txBody>
      </p:sp>
      <p:sp>
        <p:nvSpPr>
          <p:cNvPr id="404" name="Google Shape;404;g409f53afb48_5_8"/>
          <p:cNvSpPr/>
          <p:nvPr/>
        </p:nvSpPr>
        <p:spPr>
          <a:xfrm rot="-1690457">
            <a:off x="11117713" y="671713"/>
            <a:ext cx="377418" cy="23753"/>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g409f53afb48_5_8"/>
          <p:cNvSpPr/>
          <p:nvPr/>
        </p:nvSpPr>
        <p:spPr>
          <a:xfrm rot="1690457">
            <a:off x="11117839" y="849913"/>
            <a:ext cx="377418" cy="23753"/>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g409f53afb48_5_8"/>
          <p:cNvSpPr/>
          <p:nvPr/>
        </p:nvSpPr>
        <p:spPr>
          <a:xfrm>
            <a:off x="11068812" y="701345"/>
            <a:ext cx="142500" cy="14250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g409f53afb48_5_8"/>
          <p:cNvSpPr/>
          <p:nvPr/>
        </p:nvSpPr>
        <p:spPr>
          <a:xfrm>
            <a:off x="11401654" y="523037"/>
            <a:ext cx="142500" cy="142500"/>
          </a:xfrm>
          <a:prstGeom prst="ellipse">
            <a:avLst/>
          </a:prstGeom>
          <a:solidFill>
            <a:srgbClr val="E857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g409f53afb48_5_8"/>
          <p:cNvSpPr/>
          <p:nvPr/>
        </p:nvSpPr>
        <p:spPr>
          <a:xfrm>
            <a:off x="11401654" y="879653"/>
            <a:ext cx="142500" cy="142500"/>
          </a:xfrm>
          <a:prstGeom prst="ellipse">
            <a:avLst/>
          </a:prstGeom>
          <a:solidFill>
            <a:srgbClr val="2F9E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2026-09-17T07:20:20Z</dcterms:created>
  <dc:creator>PptxGenJS</dc:creator>
</cp:coreProperties>
</file>