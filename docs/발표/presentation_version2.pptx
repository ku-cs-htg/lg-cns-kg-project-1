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7FC"/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539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프로젝트 설명서(2026-09-16/17 기준)의 전체 흐름을 요약. 입력 규모: 서울대 105개 전공·3,829과목, LG 9개 계열사·172개 직무. 추천 판정은 graph_store.py의 Python 조회 함수가 수행하고 LLM은 질문·태깅·설명에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690715">
            <a:off x="11117759" y="671627"/>
            <a:ext cx="377594" cy="2377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 rot="1690715">
            <a:off x="11117759" y="849935"/>
            <a:ext cx="377594" cy="2377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1068812" y="701345"/>
            <a:ext cx="142646" cy="14264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401654" y="523037"/>
            <a:ext cx="142646" cy="142646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6" name="Shape 4"/>
          <p:cNvSpPr/>
          <p:nvPr/>
        </p:nvSpPr>
        <p:spPr>
          <a:xfrm>
            <a:off x="11401654" y="879653"/>
            <a:ext cx="142646" cy="142646"/>
          </a:xfrm>
          <a:prstGeom prst="ellipse">
            <a:avLst/>
          </a:prstGeom>
          <a:solidFill>
            <a:srgbClr val="2F9E6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 CNS AI캠퍼스 · Knowledge Graph </a:t>
            </a:r>
            <a:r>
              <a:rPr lang="en-US" sz="1300" dirty="0" err="1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과정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1792" y="23317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 경로 추천</a:t>
            </a:r>
            <a:endParaRPr lang="en-US" sz="4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전공 ↔ 역량 ↔ LG </a:t>
            </a:r>
            <a:r>
              <a:rPr lang="en-US" sz="1800" dirty="0" err="1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계열사</a:t>
            </a: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직무</a:t>
            </a: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Graph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2011680" cy="0"/>
          </a:xfrm>
          <a:prstGeom prst="line">
            <a:avLst/>
          </a:prstGeom>
          <a:noFill/>
          <a:ln w="25400">
            <a:solidFill>
              <a:srgbClr val="E857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60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dirty="0" err="1">
                <a:solidFill>
                  <a:srgbClr val="9AA6D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유수환</a:t>
            </a:r>
            <a:r>
              <a:rPr lang="en-US" altLang="ko-KR" sz="1300" dirty="0">
                <a:solidFill>
                  <a:srgbClr val="9AA6D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ko-KR" altLang="en-US" sz="1300" dirty="0">
                <a:solidFill>
                  <a:srgbClr val="9AA6D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정지원</a:t>
            </a:r>
            <a:r>
              <a:rPr lang="en-US" altLang="ko-KR" sz="1300" dirty="0">
                <a:solidFill>
                  <a:srgbClr val="9AA6D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ko-KR" altLang="en-US" sz="1300" dirty="0">
                <a:solidFill>
                  <a:srgbClr val="9AA6D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정재우</a:t>
            </a:r>
            <a:r>
              <a:rPr lang="en-US" altLang="ko-KR" sz="1300" dirty="0">
                <a:solidFill>
                  <a:srgbClr val="9AA6D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ko-KR" altLang="en-US" sz="1300" dirty="0">
                <a:solidFill>
                  <a:srgbClr val="9AA6D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황태규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7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누구를</a:t>
            </a: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위해 만들었나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타깃 학생이 실제로 품는 질문을 그대로 따라가는 스토리라인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 rot="-1690715">
            <a:off x="11397243" y="562356"/>
            <a:ext cx="290457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 rot="1690715">
            <a:off x="11397243" y="699516"/>
            <a:ext cx="290457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59591" y="58521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615623" y="448056"/>
            <a:ext cx="109728" cy="109728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9" name="Shape 7"/>
          <p:cNvSpPr/>
          <p:nvPr/>
        </p:nvSpPr>
        <p:spPr>
          <a:xfrm>
            <a:off x="11615623" y="722376"/>
            <a:ext cx="109728" cy="109728"/>
          </a:xfrm>
          <a:prstGeom prst="ellipse">
            <a:avLst/>
          </a:prstGeom>
          <a:solidFill>
            <a:srgbClr val="2F9E63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91640"/>
            <a:ext cx="7680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68873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진로를 탐색하는 고등학생 </a:t>
            </a:r>
            <a:r>
              <a:rPr lang="en-US" altLang="ko-KR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</a:t>
            </a:r>
            <a:r>
              <a:rPr lang="ko-KR" alt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좋아하는 것은 있지만</a:t>
            </a:r>
            <a:r>
              <a:rPr lang="en-US" altLang="ko-KR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그것이 전공</a:t>
            </a:r>
            <a:r>
              <a:rPr lang="en-US" altLang="ko-KR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</a:t>
            </a:r>
            <a:r>
              <a:rPr lang="ko-KR" alt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직업으로 어떻게 이어지는지 근거를 가지고 </a:t>
            </a:r>
            <a:r>
              <a:rPr lang="ko-KR" altLang="en-US" sz="1250" dirty="0" err="1">
                <a:solidFill>
                  <a:srgbClr val="1F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설명받아</a:t>
            </a:r>
            <a:r>
              <a:rPr lang="ko-KR" alt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본 적이 없으나</a:t>
            </a:r>
            <a:r>
              <a:rPr lang="en-US" altLang="ko-KR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LG</a:t>
            </a:r>
            <a:r>
              <a:rPr lang="ko-KR" alt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계열사를 가고 싶어하는 학생</a:t>
            </a:r>
            <a:r>
              <a:rPr lang="en-US" sz="12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타깃의 궁금증 — 4단계 스토리라인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245059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4041648"/>
            <a:ext cx="457200" cy="457200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" y="4617720"/>
            <a:ext cx="20482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내가 좋아하는 게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뭘까?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5532120"/>
            <a:ext cx="2048256" cy="0"/>
          </a:xfrm>
          <a:prstGeom prst="line">
            <a:avLst/>
          </a:prstGeom>
          <a:noFill/>
          <a:ln w="12700">
            <a:solidFill>
              <a:srgbClr val="E2E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562356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57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관심·경험 말하기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926080" y="4928616"/>
            <a:ext cx="146304" cy="201168"/>
          </a:xfrm>
          <a:prstGeom prst="chevron">
            <a:avLst/>
          </a:prstGeom>
          <a:solidFill>
            <a:srgbClr val="B7C0DD"/>
          </a:solidFill>
          <a:ln/>
        </p:spPr>
      </p:sp>
      <p:sp>
        <p:nvSpPr>
          <p:cNvPr id="24" name="Shape 22"/>
          <p:cNvSpPr/>
          <p:nvPr/>
        </p:nvSpPr>
        <p:spPr>
          <a:xfrm>
            <a:off x="3072384" y="3840480"/>
            <a:ext cx="245059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73552" y="4041648"/>
            <a:ext cx="457200" cy="45720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6" name="Text 24"/>
          <p:cNvSpPr/>
          <p:nvPr/>
        </p:nvSpPr>
        <p:spPr>
          <a:xfrm>
            <a:off x="3273552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73552" y="4617720"/>
            <a:ext cx="20482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그럼 어떤 전공이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나한테 맞을까?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73552" y="5532120"/>
            <a:ext cx="2048256" cy="0"/>
          </a:xfrm>
          <a:prstGeom prst="line">
            <a:avLst/>
          </a:prstGeom>
          <a:noFill/>
          <a:ln w="12700">
            <a:solidFill>
              <a:srgbClr val="E2E6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3552" y="562356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B5BD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전공 1위 + 근거 과목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541264" y="4928616"/>
            <a:ext cx="146304" cy="201168"/>
          </a:xfrm>
          <a:prstGeom prst="chevron">
            <a:avLst/>
          </a:prstGeom>
          <a:solidFill>
            <a:srgbClr val="B7C0DD"/>
          </a:solidFill>
          <a:ln/>
        </p:spPr>
      </p:sp>
      <p:sp>
        <p:nvSpPr>
          <p:cNvPr id="31" name="Shape 29"/>
          <p:cNvSpPr/>
          <p:nvPr/>
        </p:nvSpPr>
        <p:spPr>
          <a:xfrm>
            <a:off x="5687568" y="3840480"/>
            <a:ext cx="245059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88736" y="4041648"/>
            <a:ext cx="457200" cy="457200"/>
          </a:xfrm>
          <a:prstGeom prst="ellipse">
            <a:avLst/>
          </a:prstGeom>
          <a:solidFill>
            <a:srgbClr val="2F9E63"/>
          </a:solidFill>
          <a:ln/>
        </p:spPr>
      </p:sp>
      <p:sp>
        <p:nvSpPr>
          <p:cNvPr id="33" name="Text 31"/>
          <p:cNvSpPr/>
          <p:nvPr/>
        </p:nvSpPr>
        <p:spPr>
          <a:xfrm>
            <a:off x="5888736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88736" y="4617720"/>
            <a:ext cx="20482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그 전공 나오면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무슨 일을 할까?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888736" y="5532120"/>
            <a:ext cx="2048256" cy="0"/>
          </a:xfrm>
          <a:prstGeom prst="line">
            <a:avLst/>
          </a:prstGeom>
          <a:noFill/>
          <a:ln w="12700">
            <a:solidFill>
              <a:srgbClr val="E2E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88736" y="562356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F9E6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 계열사 직무 매칭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156448" y="4928616"/>
            <a:ext cx="146304" cy="201168"/>
          </a:xfrm>
          <a:prstGeom prst="chevron">
            <a:avLst/>
          </a:prstGeom>
          <a:solidFill>
            <a:srgbClr val="B7C0DD"/>
          </a:solidFill>
          <a:ln/>
        </p:spPr>
      </p:sp>
      <p:sp>
        <p:nvSpPr>
          <p:cNvPr id="38" name="Shape 36"/>
          <p:cNvSpPr/>
          <p:nvPr/>
        </p:nvSpPr>
        <p:spPr>
          <a:xfrm>
            <a:off x="8302752" y="3840480"/>
            <a:ext cx="245059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03920" y="4041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041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Q4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503920" y="4617720"/>
            <a:ext cx="20482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지금 뭐가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부족한지 알까?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503920" y="5532120"/>
            <a:ext cx="2048256" cy="0"/>
          </a:xfrm>
          <a:prstGeom prst="line">
            <a:avLst/>
          </a:prstGeom>
          <a:noFill/>
          <a:ln w="12700">
            <a:solidFill>
              <a:srgbClr val="E2E6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0" y="562356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충족/부족 역량 갭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 CNS AI</a:t>
            </a:r>
            <a:r>
              <a:rPr lang="ko-KR" alt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캠퍼스 </a:t>
            </a:r>
            <a:r>
              <a:rPr lang="en-US" altLang="ko-KR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Graph </a:t>
            </a:r>
            <a:r>
              <a:rPr lang="ko-KR" alt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과정</a:t>
            </a:r>
            <a:r>
              <a:rPr lang="en-US" altLang="ko-KR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project -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경로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추천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>
            <a:extLst>
              <a:ext uri="{FF2B5EF4-FFF2-40B4-BE49-F238E27FC236}">
                <a16:creationId xmlns:a16="http://schemas.microsoft.com/office/drawing/2014/main" id="{265BB42C-64D2-4050-8CDE-BC6B3309C31D}"/>
              </a:ext>
            </a:extLst>
          </p:cNvPr>
          <p:cNvSpPr>
            <a:spLocks noGrp="1"/>
          </p:cNvSpPr>
          <p:nvPr/>
        </p:nvSpPr>
        <p:spPr>
          <a:xfrm>
            <a:off x="457200" y="383858"/>
            <a:ext cx="9144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02" b="1">
                <a:solidFill>
                  <a:srgbClr val="E8574A"/>
                </a:solidFill>
                <a:latin typeface="Cambria"/>
                <a:ea typeface="Cambria"/>
                <a:cs typeface="Cambria"/>
              </a:defRPr>
            </a:pPr>
            <a:r>
              <a:rPr sz="2002" b="1">
                <a:solidFill>
                  <a:srgbClr val="E8574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2F99ED4-FBFB-4E4B-BD44-BBB6A58939E8}"/>
              </a:ext>
            </a:extLst>
          </p:cNvPr>
          <p:cNvSpPr>
            <a:spLocks noGrp="1"/>
          </p:cNvSpPr>
          <p:nvPr/>
        </p:nvSpPr>
        <p:spPr>
          <a:xfrm>
            <a:off x="457200" y="713423"/>
            <a:ext cx="10058400" cy="502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03" b="1">
                <a:solidFill>
                  <a:srgbClr val="1E2761"/>
                </a:solidFill>
                <a:latin typeface="Cambria"/>
                <a:ea typeface="Cambria"/>
                <a:cs typeface="Cambria"/>
              </a:defRPr>
            </a:pPr>
            <a:r>
              <a:rPr sz="2603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Overall Architecture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9D96A3-23FF-4707-B82F-3FEB65335296}"/>
              </a:ext>
            </a:extLst>
          </p:cNvPr>
          <p:cNvSpPr>
            <a:spLocks noGrp="1"/>
          </p:cNvSpPr>
          <p:nvPr/>
        </p:nvSpPr>
        <p:spPr>
          <a:xfrm>
            <a:off x="457200" y="1206818"/>
            <a:ext cx="103327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98" b="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pPr>
            <a:r>
              <a:rPr sz="1298" b="0">
                <a:solidFill>
                  <a:srgbClr val="5A6072"/>
                </a:solidFill>
                <a:latin typeface="Calibri"/>
                <a:ea typeface="Calibri"/>
                <a:cs typeface="Calibri"/>
              </a:rPr>
              <a:t>대화형 입력은 LLM으로 구조화하고, 추천 판정은 graph.json과 Python 조회 함수가 수행한다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8D7CE8A-E7D7-4A9B-AA96-BADB7AEFB0D5}"/>
              </a:ext>
            </a:extLst>
          </p:cNvPr>
          <p:cNvSpPr>
            <a:spLocks noGrp="1"/>
          </p:cNvSpPr>
          <p:nvPr/>
        </p:nvSpPr>
        <p:spPr>
          <a:xfrm>
            <a:off x="11359515" y="584835"/>
            <a:ext cx="110490" cy="11049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12A740A-C0DD-4400-BB28-E28A18212473}"/>
              </a:ext>
            </a:extLst>
          </p:cNvPr>
          <p:cNvSpPr>
            <a:spLocks noGrp="1"/>
          </p:cNvSpPr>
          <p:nvPr/>
        </p:nvSpPr>
        <p:spPr>
          <a:xfrm>
            <a:off x="11615738" y="447675"/>
            <a:ext cx="110490" cy="110490"/>
          </a:xfrm>
          <a:prstGeom prst="ellipse">
            <a:avLst/>
          </a:prstGeom>
          <a:solidFill>
            <a:srgbClr val="E8574A"/>
          </a:solidFill>
          <a:ln w="0">
            <a:noFill/>
          </a:ln>
        </p:spPr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478CF81-1F84-4BB0-AF08-73C483B74464}"/>
              </a:ext>
            </a:extLst>
          </p:cNvPr>
          <p:cNvSpPr>
            <a:spLocks noGrp="1"/>
          </p:cNvSpPr>
          <p:nvPr/>
        </p:nvSpPr>
        <p:spPr>
          <a:xfrm>
            <a:off x="11615738" y="721995"/>
            <a:ext cx="110490" cy="110490"/>
          </a:xfrm>
          <a:prstGeom prst="ellipse">
            <a:avLst/>
          </a:prstGeom>
          <a:solidFill>
            <a:srgbClr val="2FA36B"/>
          </a:solidFill>
          <a:ln w="0">
            <a:noFill/>
          </a:ln>
        </p:spPr>
      </p:sp>
      <p:cxnSp>
        <p:nvCxnSpPr>
          <p:cNvPr id="58" name="직선 화살표 연결선 57"/>
          <p:cNvCxnSpPr>
            <a:stCxn id="4" idx="6"/>
            <a:endCxn id="5" idx="2"/>
          </p:cNvCxnSpPr>
          <p:nvPr/>
        </p:nvCxnSpPr>
        <p:spPr>
          <a:xfrm flipV="1">
            <a:off x="11470005" y="502920"/>
            <a:ext cx="145733" cy="137160"/>
          </a:xfrm>
          <a:prstGeom prst="straightConnector1">
            <a:avLst/>
          </a:prstGeom>
          <a:ln w="19050">
            <a:solidFill>
              <a:srgbClr val="1E2761"/>
            </a:solidFill>
            <a:prstDash val="solid"/>
          </a:ln>
        </p:spPr>
      </p:cxnSp>
      <p:cxnSp>
        <p:nvCxnSpPr>
          <p:cNvPr id="59" name="직선 화살표 연결선 58"/>
          <p:cNvCxnSpPr>
            <a:stCxn id="4" idx="6"/>
            <a:endCxn id="6" idx="2"/>
          </p:cNvCxnSpPr>
          <p:nvPr/>
        </p:nvCxnSpPr>
        <p:spPr>
          <a:xfrm>
            <a:off x="11470005" y="640080"/>
            <a:ext cx="145733" cy="137160"/>
          </a:xfrm>
          <a:prstGeom prst="straightConnector1">
            <a:avLst/>
          </a:prstGeom>
          <a:ln w="19050">
            <a:solidFill>
              <a:srgbClr val="1E2761"/>
            </a:solidFill>
            <a:prstDash val="solid"/>
          </a:ln>
        </p:spPr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52E3CA7-2D65-412E-B937-06FD67E0CFCC}"/>
              </a:ext>
            </a:extLst>
          </p:cNvPr>
          <p:cNvSpPr>
            <a:spLocks noGrp="1"/>
          </p:cNvSpPr>
          <p:nvPr/>
        </p:nvSpPr>
        <p:spPr>
          <a:xfrm>
            <a:off x="457200" y="1685925"/>
            <a:ext cx="11277600" cy="1000125"/>
          </a:xfrm>
          <a:prstGeom prst="roundRect">
            <a:avLst>
              <a:gd name="adj" fmla="val 7619"/>
            </a:avLst>
          </a:prstGeom>
          <a:solidFill>
            <a:srgbClr val="EEF3FA"/>
          </a:solidFill>
          <a:ln w="11430">
            <a:solidFill>
              <a:srgbClr val="D7E1F0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EA7FE16-5D71-468B-BDF3-60302BEBD6DA}"/>
              </a:ext>
            </a:extLst>
          </p:cNvPr>
          <p:cNvSpPr>
            <a:spLocks noGrp="1"/>
          </p:cNvSpPr>
          <p:nvPr/>
        </p:nvSpPr>
        <p:spPr>
          <a:xfrm>
            <a:off x="552450" y="1895475"/>
            <a:ext cx="876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863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USER</a:t>
            </a:r>
          </a:p>
          <a:p>
            <a:pPr algn="ctr">
              <a:defRPr sz="863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EXPERIENCE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1EBF79-F31F-4BEB-A8DD-1BE67A686269}"/>
              </a:ext>
            </a:extLst>
          </p:cNvPr>
          <p:cNvSpPr>
            <a:spLocks noGrp="1"/>
          </p:cNvSpPr>
          <p:nvPr/>
        </p:nvSpPr>
        <p:spPr>
          <a:xfrm>
            <a:off x="1504950" y="175260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23" lnSpcReduction="10000"/>
          </a:bodyPr>
          <a:lstStyle/>
          <a:p>
            <a:pPr algn="l">
              <a:defRPr sz="938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실시간 서비스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7198D43-DD3B-4958-A619-C4D09CD55078}"/>
              </a:ext>
            </a:extLst>
          </p:cNvPr>
          <p:cNvSpPr>
            <a:spLocks noGrp="1"/>
          </p:cNvSpPr>
          <p:nvPr/>
        </p:nvSpPr>
        <p:spPr>
          <a:xfrm>
            <a:off x="1600200" y="2047875"/>
            <a:ext cx="476250" cy="47625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학생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B841B73-A526-4E39-9FB7-EB85A09ADA8B}"/>
              </a:ext>
            </a:extLst>
          </p:cNvPr>
          <p:cNvSpPr>
            <a:spLocks noGrp="1"/>
          </p:cNvSpPr>
          <p:nvPr/>
        </p:nvSpPr>
        <p:spPr>
          <a:xfrm>
            <a:off x="2476500" y="2009775"/>
            <a:ext cx="1524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335">
            <a:solidFill>
              <a:srgbClr val="1E2761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Web Frontend</a:t>
            </a:r>
          </a:p>
          <a:p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대화형 화면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E7CF4A5-DCB7-41DF-928C-7B264003220A}"/>
              </a:ext>
            </a:extLst>
          </p:cNvPr>
          <p:cNvSpPr>
            <a:spLocks noGrp="1"/>
          </p:cNvSpPr>
          <p:nvPr/>
        </p:nvSpPr>
        <p:spPr>
          <a:xfrm>
            <a:off x="4429125" y="2009775"/>
            <a:ext cx="2000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3335">
            <a:solidFill>
              <a:srgbClr val="3D5BDC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3D5BDC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3D5BDC"/>
                </a:solidFill>
                <a:latin typeface="Calibri"/>
                <a:ea typeface="Calibri"/>
                <a:cs typeface="Calibri"/>
              </a:rPr>
              <a:t>Flask API + SSE</a:t>
            </a:r>
          </a:p>
          <a:p>
            <a:pPr algn="ctr">
              <a:defRPr sz="1013" b="1">
                <a:solidFill>
                  <a:srgbClr val="3D5BDC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3D5BDC"/>
                </a:solidFill>
                <a:latin typeface="Calibri"/>
                <a:ea typeface="Calibri"/>
                <a:cs typeface="Calibri"/>
              </a:rPr>
              <a:t>/api/start · answer · explain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2F244A6-D1F5-4D8E-A31D-09AE4C85480D}"/>
              </a:ext>
            </a:extLst>
          </p:cNvPr>
          <p:cNvSpPr>
            <a:spLocks noGrp="1"/>
          </p:cNvSpPr>
          <p:nvPr/>
        </p:nvSpPr>
        <p:spPr>
          <a:xfrm>
            <a:off x="9458325" y="1952625"/>
            <a:ext cx="2047875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17145">
            <a:solidFill>
              <a:srgbClr val="6D63D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추천 카드 + 설명 문단</a:t>
            </a:r>
          </a:p>
          <a:p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전공 · 근거 과목 · LG 직무</a:t>
            </a:r>
          </a:p>
        </p:txBody>
      </p:sp>
      <p:cxnSp>
        <p:nvCxnSpPr>
          <p:cNvPr id="67" name="직선 화살표 연결선 66"/>
          <p:cNvCxnSpPr>
            <a:stCxn id="12" idx="6"/>
            <a:endCxn id="13" idx="1"/>
          </p:cNvCxnSpPr>
          <p:nvPr/>
        </p:nvCxnSpPr>
        <p:spPr>
          <a:xfrm>
            <a:off x="2076450" y="2286000"/>
            <a:ext cx="400050" cy="0"/>
          </a:xfrm>
          <a:prstGeom prst="straightConnector1">
            <a:avLst/>
          </a:prstGeom>
          <a:ln w="17145">
            <a:solidFill>
              <a:srgbClr val="1E2761"/>
            </a:solidFill>
            <a:prstDash val="solid"/>
            <a:tailEnd type="triangle" w="sm" len="sm"/>
          </a:ln>
        </p:spPr>
      </p:cxnSp>
      <p:cxnSp>
        <p:nvCxnSpPr>
          <p:cNvPr id="68" name="직선 화살표 연결선 67"/>
          <p:cNvCxnSpPr>
            <a:stCxn id="13" idx="3"/>
            <a:endCxn id="14" idx="1"/>
          </p:cNvCxnSpPr>
          <p:nvPr/>
        </p:nvCxnSpPr>
        <p:spPr>
          <a:xfrm>
            <a:off x="4000500" y="2286000"/>
            <a:ext cx="428625" cy="0"/>
          </a:xfrm>
          <a:prstGeom prst="straightConnector1">
            <a:avLst/>
          </a:prstGeom>
          <a:ln w="17145">
            <a:solidFill>
              <a:srgbClr val="1E2761"/>
            </a:solidFill>
            <a:prstDash val="solid"/>
            <a:tailEnd type="triangle" w="sm" len="sm"/>
          </a:ln>
        </p:spPr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AE69F2C-B60C-4850-A9DC-318CB37E5F44}"/>
              </a:ext>
            </a:extLst>
          </p:cNvPr>
          <p:cNvSpPr>
            <a:spLocks noGrp="1"/>
          </p:cNvSpPr>
          <p:nvPr/>
        </p:nvSpPr>
        <p:spPr>
          <a:xfrm>
            <a:off x="457200" y="2800350"/>
            <a:ext cx="11277600" cy="1476375"/>
          </a:xfrm>
          <a:prstGeom prst="roundRect">
            <a:avLst>
              <a:gd name="adj" fmla="val 5161"/>
            </a:avLst>
          </a:prstGeom>
          <a:solidFill>
            <a:srgbClr val="EDF7F1"/>
          </a:solidFill>
          <a:ln w="11430">
            <a:solidFill>
              <a:srgbClr val="CEE7D8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F0A288E-E19F-4126-81F3-A9D4F4B6E58D}"/>
              </a:ext>
            </a:extLst>
          </p:cNvPr>
          <p:cNvSpPr>
            <a:spLocks noGrp="1"/>
          </p:cNvSpPr>
          <p:nvPr/>
        </p:nvSpPr>
        <p:spPr>
          <a:xfrm>
            <a:off x="552450" y="3009900"/>
            <a:ext cx="876300" cy="1057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863" b="1">
                <a:solidFill>
                  <a:srgbClr val="23794F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23794F"/>
                </a:solidFill>
                <a:latin typeface="Calibri"/>
                <a:ea typeface="Calibri"/>
                <a:cs typeface="Calibri"/>
              </a:rPr>
              <a:t>AGENT &amp;</a:t>
            </a:r>
          </a:p>
          <a:p>
            <a:pPr algn="ctr">
              <a:defRPr sz="863" b="1">
                <a:solidFill>
                  <a:srgbClr val="23794F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23794F"/>
                </a:solidFill>
                <a:latin typeface="Calibri"/>
                <a:ea typeface="Calibri"/>
                <a:cs typeface="Calibri"/>
              </a:rPr>
              <a:t>DECISION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22CAF1-0AE8-4759-AEC3-17C22A939FC2}"/>
              </a:ext>
            </a:extLst>
          </p:cNvPr>
          <p:cNvSpPr>
            <a:spLocks noGrp="1"/>
          </p:cNvSpPr>
          <p:nvPr/>
        </p:nvSpPr>
        <p:spPr>
          <a:xfrm>
            <a:off x="1504950" y="2867025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23" lnSpcReduction="10000"/>
          </a:bodyPr>
          <a:lstStyle/>
          <a:p>
            <a:pPr algn="l">
              <a:defRPr sz="938" b="1">
                <a:solidFill>
                  <a:srgbClr val="23794F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23794F"/>
                </a:solidFill>
                <a:latin typeface="Calibri"/>
                <a:ea typeface="Calibri"/>
                <a:cs typeface="Calibri"/>
              </a:rPr>
              <a:t>ONLINE · 학생 1명당 LLM 2~6회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D1C64AA-E36A-4BF1-A630-801A8060D0D5}"/>
              </a:ext>
            </a:extLst>
          </p:cNvPr>
          <p:cNvSpPr>
            <a:spLocks noGrp="1"/>
          </p:cNvSpPr>
          <p:nvPr/>
        </p:nvSpPr>
        <p:spPr>
          <a:xfrm>
            <a:off x="1504950" y="3209925"/>
            <a:ext cx="18097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2FA36B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23794F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3794F"/>
                </a:solidFill>
                <a:latin typeface="Calibri"/>
                <a:ea typeface="Calibri"/>
                <a:cs typeface="Calibri"/>
              </a:rPr>
              <a:t>7영역 적응형 인터뷰</a:t>
            </a:r>
          </a:p>
          <a:p>
            <a:pPr algn="ctr">
              <a:defRPr sz="1013" b="1">
                <a:solidFill>
                  <a:srgbClr val="23794F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3794F"/>
                </a:solidFill>
                <a:latin typeface="Calibri"/>
                <a:ea typeface="Calibri"/>
                <a:cs typeface="Calibri"/>
              </a:rPr>
              <a:t>question_agent · interview.py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03F2C2C-CCAA-46F9-A170-68184EB7BA4D}"/>
              </a:ext>
            </a:extLst>
          </p:cNvPr>
          <p:cNvSpPr>
            <a:spLocks noGrp="1"/>
          </p:cNvSpPr>
          <p:nvPr/>
        </p:nvSpPr>
        <p:spPr>
          <a:xfrm>
            <a:off x="3600450" y="3209925"/>
            <a:ext cx="147637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8AB89E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2E3345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E3345"/>
                </a:solidFill>
                <a:latin typeface="Calibri"/>
                <a:ea typeface="Calibri"/>
                <a:cs typeface="Calibri"/>
              </a:rPr>
              <a:t>사용자 프로필</a:t>
            </a:r>
          </a:p>
          <a:p>
            <a:pPr algn="ctr">
              <a:defRPr sz="1013" b="1">
                <a:solidFill>
                  <a:srgbClr val="2E3345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E3345"/>
                </a:solidFill>
                <a:latin typeface="Calibri"/>
                <a:ea typeface="Calibri"/>
                <a:cs typeface="Calibri"/>
              </a:rPr>
              <a:t>관심 · 강점 · 성향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1A3CC17-8EA2-4FC2-B476-3BD340C0D93C}"/>
              </a:ext>
            </a:extLst>
          </p:cNvPr>
          <p:cNvSpPr>
            <a:spLocks noGrp="1"/>
          </p:cNvSpPr>
          <p:nvPr/>
        </p:nvSpPr>
        <p:spPr>
          <a:xfrm>
            <a:off x="5362575" y="3152775"/>
            <a:ext cx="1666875" cy="800100"/>
          </a:xfrm>
          <a:prstGeom prst="roundRect">
            <a:avLst>
              <a:gd name="adj" fmla="val 9524"/>
            </a:avLst>
          </a:prstGeom>
          <a:solidFill>
            <a:srgbClr val="F7F1FF"/>
          </a:solidFill>
          <a:ln w="17145">
            <a:solidFill>
              <a:srgbClr val="6D63D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574CB6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574CB6"/>
                </a:solidFill>
                <a:latin typeface="Calibri"/>
                <a:ea typeface="Calibri"/>
                <a:cs typeface="Calibri"/>
              </a:rPr>
              <a:t>LLM 태깅</a:t>
            </a:r>
          </a:p>
          <a:p>
            <a:pPr algn="ctr">
              <a:defRPr sz="1013" b="1">
                <a:solidFill>
                  <a:srgbClr val="574CB6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574CB6"/>
                </a:solidFill>
                <a:latin typeface="Calibri"/>
                <a:ea typeface="Calibri"/>
                <a:cs typeface="Calibri"/>
              </a:rPr>
              <a:t>gpt-4o-mini</a:t>
            </a:r>
          </a:p>
          <a:p>
            <a:pPr algn="ctr">
              <a:defRPr sz="1013" b="1">
                <a:solidFill>
                  <a:srgbClr val="574CB6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574CB6"/>
                </a:solidFill>
                <a:latin typeface="Calibri"/>
                <a:ea typeface="Calibri"/>
                <a:cs typeface="Calibri"/>
              </a:rPr>
              <a:t>LangChain + Pydantic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7B4F5EF-61EC-419E-912D-9007296EA9EC}"/>
              </a:ext>
            </a:extLst>
          </p:cNvPr>
          <p:cNvSpPr>
            <a:spLocks noGrp="1"/>
          </p:cNvSpPr>
          <p:nvPr/>
        </p:nvSpPr>
        <p:spPr>
          <a:xfrm>
            <a:off x="7315200" y="3152775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7145">
            <a:solidFill>
              <a:srgbClr val="1E2761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그래프 조회 · 점수 계산</a:t>
            </a:r>
          </a:p>
          <a:p>
            <a:pPr algn="ctr">
              <a:defRPr sz="1013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graph_store.py</a:t>
            </a:r>
          </a:p>
          <a:p>
            <a:pPr algn="ctr">
              <a:defRPr sz="1013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Python dict / set · LLM 0회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E4B0C55-26C7-47C2-BD6A-EF2A544E8630}"/>
              </a:ext>
            </a:extLst>
          </p:cNvPr>
          <p:cNvSpPr>
            <a:spLocks noGrp="1"/>
          </p:cNvSpPr>
          <p:nvPr/>
        </p:nvSpPr>
        <p:spPr>
          <a:xfrm>
            <a:off x="9410700" y="3209925"/>
            <a:ext cx="18097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2FA36B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23794F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3794F"/>
                </a:solidFill>
                <a:latin typeface="Calibri"/>
                <a:ea typeface="Calibri"/>
                <a:cs typeface="Calibri"/>
              </a:rPr>
              <a:t>결과 렌더링 · 설명</a:t>
            </a:r>
          </a:p>
          <a:p>
            <a:pPr algn="ctr">
              <a:defRPr sz="1013" b="1">
                <a:solidFill>
                  <a:srgbClr val="23794F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3794F"/>
                </a:solidFill>
                <a:latin typeface="Calibri"/>
                <a:ea typeface="Calibri"/>
                <a:cs typeface="Calibri"/>
              </a:rPr>
              <a:t>app.py render / explain</a:t>
            </a:r>
          </a:p>
        </p:txBody>
      </p:sp>
      <p:cxnSp>
        <p:nvCxnSpPr>
          <p:cNvPr id="77" name="직선 화살표 연결선 76"/>
          <p:cNvCxnSpPr>
            <a:stCxn id="21" idx="3"/>
            <a:endCxn id="22" idx="1"/>
          </p:cNvCxnSpPr>
          <p:nvPr/>
        </p:nvCxnSpPr>
        <p:spPr>
          <a:xfrm>
            <a:off x="3314700" y="3552825"/>
            <a:ext cx="285750" cy="0"/>
          </a:xfrm>
          <a:prstGeom prst="straightConnector1">
            <a:avLst/>
          </a:prstGeom>
          <a:ln w="17145">
            <a:solidFill>
              <a:srgbClr val="1E2761"/>
            </a:solidFill>
            <a:prstDash val="solid"/>
            <a:tailEnd type="triangle" w="sm" len="sm"/>
          </a:ln>
        </p:spPr>
      </p:cxnSp>
      <p:cxnSp>
        <p:nvCxnSpPr>
          <p:cNvPr id="78" name="직선 화살표 연결선 77"/>
          <p:cNvCxnSpPr>
            <a:stCxn id="22" idx="3"/>
            <a:endCxn id="23" idx="1"/>
          </p:cNvCxnSpPr>
          <p:nvPr/>
        </p:nvCxnSpPr>
        <p:spPr>
          <a:xfrm>
            <a:off x="5076825" y="3552825"/>
            <a:ext cx="285750" cy="0"/>
          </a:xfrm>
          <a:prstGeom prst="straightConnector1">
            <a:avLst/>
          </a:prstGeom>
          <a:ln w="17145">
            <a:solidFill>
              <a:srgbClr val="1E2761"/>
            </a:solidFill>
            <a:prstDash val="solid"/>
            <a:tailEnd type="triangle" w="sm" len="sm"/>
          </a:ln>
        </p:spPr>
      </p:cxnSp>
      <p:cxnSp>
        <p:nvCxnSpPr>
          <p:cNvPr id="79" name="직선 화살표 연결선 78"/>
          <p:cNvCxnSpPr>
            <a:stCxn id="23" idx="3"/>
            <a:endCxn id="24" idx="1"/>
          </p:cNvCxnSpPr>
          <p:nvPr/>
        </p:nvCxnSpPr>
        <p:spPr>
          <a:xfrm>
            <a:off x="7029450" y="3552825"/>
            <a:ext cx="285750" cy="0"/>
          </a:xfrm>
          <a:prstGeom prst="straightConnector1">
            <a:avLst/>
          </a:prstGeom>
          <a:ln w="17145">
            <a:solidFill>
              <a:srgbClr val="1E2761"/>
            </a:solidFill>
            <a:prstDash val="solid"/>
            <a:tailEnd type="triangle" w="sm" len="sm"/>
          </a:ln>
        </p:spPr>
      </p:cxnSp>
      <p:cxnSp>
        <p:nvCxnSpPr>
          <p:cNvPr id="80" name="직선 화살표 연결선 79"/>
          <p:cNvCxnSpPr>
            <a:stCxn id="24" idx="3"/>
            <a:endCxn id="25" idx="1"/>
          </p:cNvCxnSpPr>
          <p:nvPr/>
        </p:nvCxnSpPr>
        <p:spPr>
          <a:xfrm>
            <a:off x="9124950" y="3552825"/>
            <a:ext cx="285750" cy="0"/>
          </a:xfrm>
          <a:prstGeom prst="straightConnector1">
            <a:avLst/>
          </a:prstGeom>
          <a:ln w="17145">
            <a:solidFill>
              <a:srgbClr val="1E2761"/>
            </a:solidFill>
            <a:prstDash val="solid"/>
            <a:tailEnd type="triangle" w="sm" len="sm"/>
          </a:ln>
        </p:spPr>
      </p:cxnSp>
      <p:cxnSp>
        <p:nvCxnSpPr>
          <p:cNvPr id="81" name="직선 화살표 연결선 80"/>
          <p:cNvCxnSpPr>
            <a:stCxn id="14" idx="2"/>
            <a:endCxn id="23" idx="0"/>
          </p:cNvCxnSpPr>
          <p:nvPr/>
        </p:nvCxnSpPr>
        <p:spPr>
          <a:xfrm>
            <a:off x="5429250" y="2562225"/>
            <a:ext cx="766763" cy="590550"/>
          </a:xfrm>
          <a:prstGeom prst="straightConnector1">
            <a:avLst/>
          </a:prstGeom>
          <a:ln w="17145">
            <a:solidFill>
              <a:srgbClr val="3D5BDC"/>
            </a:solidFill>
            <a:prstDash val="solid"/>
            <a:tailEnd type="triangle" w="sm" len="sm"/>
          </a:ln>
        </p:spPr>
      </p:cxnSp>
      <p:cxnSp>
        <p:nvCxnSpPr>
          <p:cNvPr id="82" name="연결선: 꺾임 81"/>
          <p:cNvCxnSpPr>
            <a:stCxn id="25" idx="0"/>
            <a:endCxn id="15" idx="2"/>
          </p:cNvCxnSpPr>
          <p:nvPr/>
        </p:nvCxnSpPr>
        <p:spPr>
          <a:xfrm flipV="1">
            <a:off x="10315575" y="2609850"/>
            <a:ext cx="166688" cy="600075"/>
          </a:xfrm>
          <a:prstGeom prst="bentConnector4">
            <a:avLst>
              <a:gd name="adj1" fmla="val 0"/>
              <a:gd name="adj2" fmla="val 50000"/>
            </a:avLst>
          </a:prstGeom>
          <a:ln w="17145">
            <a:solidFill>
              <a:srgbClr val="6D63D8"/>
            </a:solidFill>
            <a:prstDash val="solid"/>
            <a:tailEnd type="triangle" w="sm" len="sm"/>
          </a:ln>
        </p:spPr>
      </p:cxn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C7D56DF-BCEF-4DD1-BA12-983F50B21585}"/>
              </a:ext>
            </a:extLst>
          </p:cNvPr>
          <p:cNvSpPr>
            <a:spLocks noGrp="1"/>
          </p:cNvSpPr>
          <p:nvPr/>
        </p:nvSpPr>
        <p:spPr>
          <a:xfrm>
            <a:off x="457200" y="4391025"/>
            <a:ext cx="11277600" cy="1609725"/>
          </a:xfrm>
          <a:prstGeom prst="roundRect">
            <a:avLst>
              <a:gd name="adj" fmla="val 4734"/>
            </a:avLst>
          </a:prstGeom>
          <a:solidFill>
            <a:srgbClr val="F0F2FA"/>
          </a:solidFill>
          <a:ln w="11430">
            <a:solidFill>
              <a:srgbClr val="D8DDF0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B388B40-2755-432C-97A3-08250C67B4A3}"/>
              </a:ext>
            </a:extLst>
          </p:cNvPr>
          <p:cNvSpPr>
            <a:spLocks noGrp="1"/>
          </p:cNvSpPr>
          <p:nvPr/>
        </p:nvSpPr>
        <p:spPr>
          <a:xfrm>
            <a:off x="552450" y="4600575"/>
            <a:ext cx="876300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863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DATA &amp;</a:t>
            </a:r>
          </a:p>
          <a:p>
            <a:pPr algn="ctr">
              <a:defRPr sz="863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KNOWLEDGE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0892DB0-8782-4854-ABE3-87CADEC0B68D}"/>
              </a:ext>
            </a:extLst>
          </p:cNvPr>
          <p:cNvSpPr>
            <a:spLocks noGrp="1"/>
          </p:cNvSpPr>
          <p:nvPr/>
        </p:nvSpPr>
        <p:spPr>
          <a:xfrm>
            <a:off x="1504950" y="445770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23" lnSpcReduction="10000"/>
          </a:bodyPr>
          <a:lstStyle/>
          <a:p>
            <a:pPr algn="l">
              <a:defRPr sz="938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OFFLINE · 데이터 변경 시 배치, LLM 원출력 캐시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0408C8C-AB9F-4606-B5C9-1D9EF5D97778}"/>
              </a:ext>
            </a:extLst>
          </p:cNvPr>
          <p:cNvSpPr>
            <a:spLocks noGrp="1"/>
          </p:cNvSpPr>
          <p:nvPr/>
        </p:nvSpPr>
        <p:spPr>
          <a:xfrm>
            <a:off x="1504950" y="4772025"/>
            <a:ext cx="1714500" cy="466725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3335">
            <a:solidFill>
              <a:srgbClr val="E8574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2E334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E3345"/>
                </a:solidFill>
                <a:latin typeface="Calibri"/>
                <a:ea typeface="Calibri"/>
                <a:cs typeface="Calibri"/>
              </a:rPr>
              <a:t>서울대 교육과정</a:t>
            </a:r>
          </a:p>
          <a:p>
            <a:pPr algn="ctr">
              <a:defRPr sz="975" b="1">
                <a:solidFill>
                  <a:srgbClr val="2E334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E3345"/>
                </a:solidFill>
                <a:latin typeface="Calibri"/>
                <a:ea typeface="Calibri"/>
                <a:cs typeface="Calibri"/>
              </a:rPr>
              <a:t>105개 전공 · 3,829과목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BFAA445-420C-42FF-A3A7-4811858C3448}"/>
              </a:ext>
            </a:extLst>
          </p:cNvPr>
          <p:cNvSpPr>
            <a:spLocks noGrp="1"/>
          </p:cNvSpPr>
          <p:nvPr/>
        </p:nvSpPr>
        <p:spPr>
          <a:xfrm>
            <a:off x="1504950" y="5353050"/>
            <a:ext cx="1714500" cy="466725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3335">
            <a:solidFill>
              <a:srgbClr val="E8574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2E334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E3345"/>
                </a:solidFill>
                <a:latin typeface="Calibri"/>
                <a:ea typeface="Calibri"/>
                <a:cs typeface="Calibri"/>
              </a:rPr>
              <a:t>LG Careers 공고</a:t>
            </a:r>
          </a:p>
          <a:p>
            <a:pPr algn="ctr">
              <a:defRPr sz="975" b="1">
                <a:solidFill>
                  <a:srgbClr val="2E3345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E3345"/>
                </a:solidFill>
                <a:latin typeface="Calibri"/>
                <a:ea typeface="Calibri"/>
                <a:cs typeface="Calibri"/>
              </a:rPr>
              <a:t>9개 계열사 · 172개 직무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AC5BA0B-AEA8-44EE-880C-A896D2E22DE5}"/>
              </a:ext>
            </a:extLst>
          </p:cNvPr>
          <p:cNvSpPr>
            <a:spLocks noGrp="1"/>
          </p:cNvSpPr>
          <p:nvPr/>
        </p:nvSpPr>
        <p:spPr>
          <a:xfrm>
            <a:off x="3695700" y="4943475"/>
            <a:ext cx="1809750" cy="723900"/>
          </a:xfrm>
          <a:prstGeom prst="roundRect">
            <a:avLst>
              <a:gd name="adj" fmla="val 10526"/>
            </a:avLst>
          </a:prstGeom>
          <a:solidFill>
            <a:srgbClr val="F7F1FF"/>
          </a:solidFill>
          <a:ln w="17145">
            <a:solidFill>
              <a:srgbClr val="6D63D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574CB6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574CB6"/>
                </a:solidFill>
                <a:latin typeface="Calibri"/>
                <a:ea typeface="Calibri"/>
                <a:cs typeface="Calibri"/>
              </a:rPr>
              <a:t>배치 추출 + 캐시</a:t>
            </a:r>
          </a:p>
          <a:p>
            <a:pPr algn="ctr">
              <a:defRPr sz="1013" b="1">
                <a:solidFill>
                  <a:srgbClr val="574CB6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574CB6"/>
                </a:solidFill>
                <a:latin typeface="Calibri"/>
                <a:ea typeface="Calibri"/>
                <a:cs typeface="Calibri"/>
              </a:rPr>
              <a:t>LLM structured output</a:t>
            </a:r>
          </a:p>
          <a:p>
            <a:pPr algn="ctr">
              <a:defRPr sz="1013" b="1">
                <a:solidFill>
                  <a:srgbClr val="574CB6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574CB6"/>
                </a:solidFill>
                <a:latin typeface="Calibri"/>
                <a:ea typeface="Calibri"/>
                <a:cs typeface="Calibri"/>
              </a:rPr>
              <a:t>raw → extracted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617EB63-06BD-47C2-81B8-D32AE36B07EE}"/>
              </a:ext>
            </a:extLst>
          </p:cNvPr>
          <p:cNvSpPr>
            <a:spLocks noGrp="1"/>
          </p:cNvSpPr>
          <p:nvPr/>
        </p:nvSpPr>
        <p:spPr>
          <a:xfrm>
            <a:off x="5981700" y="4943475"/>
            <a:ext cx="1809750" cy="723900"/>
          </a:xfrm>
          <a:prstGeom prst="roundRect">
            <a:avLst>
              <a:gd name="adj" fmla="val 10526"/>
            </a:avLst>
          </a:prstGeom>
          <a:solidFill>
            <a:srgbClr val="FFF8EF"/>
          </a:solidFill>
          <a:ln w="17145">
            <a:solidFill>
              <a:srgbClr val="E59A3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9A651E"/>
                </a:solidFill>
                <a:latin typeface="Calibri"/>
                <a:ea typeface="Calibri"/>
                <a:cs typeface="Calibri"/>
              </a:defRPr>
            </a:pPr>
            <a:r>
              <a:rPr sz="1013" b="1" dirty="0" err="1">
                <a:solidFill>
                  <a:srgbClr val="9A651E"/>
                </a:solidFill>
                <a:latin typeface="Calibri"/>
                <a:ea typeface="Calibri"/>
                <a:cs typeface="Calibri"/>
              </a:rPr>
              <a:t>통제</a:t>
            </a:r>
            <a:r>
              <a:rPr sz="1013" b="1" dirty="0">
                <a:solidFill>
                  <a:srgbClr val="9A651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13" b="1" dirty="0" err="1">
                <a:solidFill>
                  <a:srgbClr val="9A651E"/>
                </a:solidFill>
                <a:latin typeface="Calibri"/>
                <a:ea typeface="Calibri"/>
                <a:cs typeface="Calibri"/>
              </a:rPr>
              <a:t>어휘</a:t>
            </a:r>
            <a:r>
              <a:rPr sz="1013" b="1" dirty="0">
                <a:solidFill>
                  <a:srgbClr val="9A651E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013" b="1" dirty="0" err="1">
                <a:solidFill>
                  <a:srgbClr val="9A651E"/>
                </a:solidFill>
                <a:latin typeface="Calibri"/>
                <a:ea typeface="Calibri"/>
                <a:cs typeface="Calibri"/>
              </a:rPr>
              <a:t>온톨로지</a:t>
            </a:r>
            <a:endParaRPr sz="1013" b="1" dirty="0">
              <a:solidFill>
                <a:srgbClr val="9A651E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013" b="1">
                <a:solidFill>
                  <a:srgbClr val="9A651E"/>
                </a:solidFill>
                <a:latin typeface="Calibri"/>
                <a:ea typeface="Calibri"/>
                <a:cs typeface="Calibri"/>
              </a:defRPr>
            </a:pPr>
            <a:r>
              <a:rPr sz="1013" b="1" dirty="0">
                <a:solidFill>
                  <a:srgbClr val="9A651E"/>
                </a:solidFill>
                <a:latin typeface="Calibri"/>
                <a:ea typeface="Calibri"/>
                <a:cs typeface="Calibri"/>
              </a:rPr>
              <a:t>vocab.py</a:t>
            </a:r>
          </a:p>
          <a:p>
            <a:pPr algn="ctr">
              <a:defRPr sz="1013" b="1">
                <a:solidFill>
                  <a:srgbClr val="9A651E"/>
                </a:solidFill>
                <a:latin typeface="Calibri"/>
                <a:ea typeface="Calibri"/>
                <a:cs typeface="Calibri"/>
              </a:defRPr>
            </a:pPr>
            <a:r>
              <a:rPr sz="1013" b="1" dirty="0">
                <a:solidFill>
                  <a:srgbClr val="9A651E"/>
                </a:solidFill>
                <a:latin typeface="Calibri"/>
                <a:ea typeface="Calibri"/>
                <a:cs typeface="Calibri"/>
              </a:rPr>
              <a:t>CANON 139 · IS_A 102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F8F4503-0D17-4CF8-B1B3-492C951B1A32}"/>
              </a:ext>
            </a:extLst>
          </p:cNvPr>
          <p:cNvSpPr>
            <a:spLocks noGrp="1"/>
          </p:cNvSpPr>
          <p:nvPr/>
        </p:nvSpPr>
        <p:spPr>
          <a:xfrm>
            <a:off x="8267700" y="4886325"/>
            <a:ext cx="2190750" cy="838200"/>
          </a:xfrm>
          <a:prstGeom prst="roundRect">
            <a:avLst>
              <a:gd name="adj" fmla="val 9091"/>
            </a:avLst>
          </a:prstGeom>
          <a:solidFill>
            <a:srgbClr val="EAF6EF"/>
          </a:solidFill>
          <a:ln w="19050">
            <a:solidFill>
              <a:srgbClr val="2FA36B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23794F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3794F"/>
                </a:solidFill>
                <a:latin typeface="Calibri"/>
                <a:ea typeface="Calibri"/>
                <a:cs typeface="Calibri"/>
              </a:rPr>
              <a:t>graph.json 지식그래프</a:t>
            </a:r>
          </a:p>
          <a:p>
            <a:pPr algn="ctr">
              <a:defRPr sz="1013" b="1">
                <a:solidFill>
                  <a:srgbClr val="23794F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3794F"/>
                </a:solidFill>
                <a:latin typeface="Calibri"/>
                <a:ea typeface="Calibri"/>
                <a:cs typeface="Calibri"/>
              </a:rPr>
              <a:t>Major — Skill — Job</a:t>
            </a:r>
          </a:p>
          <a:p>
            <a:pPr algn="ctr">
              <a:defRPr sz="1013" b="1">
                <a:solidFill>
                  <a:srgbClr val="23794F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3794F"/>
                </a:solidFill>
                <a:latin typeface="Calibri"/>
                <a:ea typeface="Calibri"/>
                <a:cs typeface="Calibri"/>
              </a:rPr>
              <a:t>DEVELOPS · REQUIRES · IS_A</a:t>
            </a:r>
          </a:p>
        </p:txBody>
      </p:sp>
      <p:cxnSp>
        <p:nvCxnSpPr>
          <p:cNvPr id="91" name="연결선: 꺾임 90"/>
          <p:cNvCxnSpPr>
            <a:stCxn id="35" idx="3"/>
            <a:endCxn id="37" idx="1"/>
          </p:cNvCxnSpPr>
          <p:nvPr/>
        </p:nvCxnSpPr>
        <p:spPr>
          <a:xfrm>
            <a:off x="3219450" y="5005388"/>
            <a:ext cx="476250" cy="300038"/>
          </a:xfrm>
          <a:prstGeom prst="bentConnector3">
            <a:avLst>
              <a:gd name="adj1" fmla="val 50000"/>
            </a:avLst>
          </a:prstGeom>
          <a:ln w="17145">
            <a:solidFill>
              <a:srgbClr val="1E2761"/>
            </a:solidFill>
            <a:prstDash val="solid"/>
            <a:tailEnd type="triangle" w="sm" len="sm"/>
          </a:ln>
        </p:spPr>
      </p:cxnSp>
      <p:cxnSp>
        <p:nvCxnSpPr>
          <p:cNvPr id="92" name="연결선: 꺾임 91"/>
          <p:cNvCxnSpPr>
            <a:stCxn id="36" idx="3"/>
            <a:endCxn id="37" idx="1"/>
          </p:cNvCxnSpPr>
          <p:nvPr/>
        </p:nvCxnSpPr>
        <p:spPr>
          <a:xfrm flipV="1">
            <a:off x="3219450" y="5305425"/>
            <a:ext cx="476250" cy="280988"/>
          </a:xfrm>
          <a:prstGeom prst="bentConnector3">
            <a:avLst>
              <a:gd name="adj1" fmla="val 50000"/>
            </a:avLst>
          </a:prstGeom>
          <a:ln w="17145">
            <a:solidFill>
              <a:srgbClr val="1E2761"/>
            </a:solidFill>
            <a:prstDash val="solid"/>
            <a:tailEnd type="triangle" w="sm" len="sm"/>
          </a:ln>
        </p:spPr>
      </p:cxnSp>
      <p:cxnSp>
        <p:nvCxnSpPr>
          <p:cNvPr id="93" name="직선 화살표 연결선 92"/>
          <p:cNvCxnSpPr>
            <a:stCxn id="37" idx="3"/>
            <a:endCxn id="38" idx="1"/>
          </p:cNvCxnSpPr>
          <p:nvPr/>
        </p:nvCxnSpPr>
        <p:spPr>
          <a:xfrm>
            <a:off x="5505450" y="5305425"/>
            <a:ext cx="476250" cy="0"/>
          </a:xfrm>
          <a:prstGeom prst="straightConnector1">
            <a:avLst/>
          </a:prstGeom>
          <a:ln w="17145">
            <a:solidFill>
              <a:srgbClr val="1E2761"/>
            </a:solidFill>
            <a:prstDash val="solid"/>
            <a:tailEnd type="triangle" w="sm" len="sm"/>
          </a:ln>
        </p:spPr>
      </p:cxnSp>
      <p:cxnSp>
        <p:nvCxnSpPr>
          <p:cNvPr id="94" name="직선 화살표 연결선 93"/>
          <p:cNvCxnSpPr>
            <a:stCxn id="38" idx="3"/>
            <a:endCxn id="39" idx="1"/>
          </p:cNvCxnSpPr>
          <p:nvPr/>
        </p:nvCxnSpPr>
        <p:spPr>
          <a:xfrm>
            <a:off x="7791450" y="5305425"/>
            <a:ext cx="476250" cy="0"/>
          </a:xfrm>
          <a:prstGeom prst="straightConnector1">
            <a:avLst/>
          </a:prstGeom>
          <a:ln w="17145">
            <a:solidFill>
              <a:srgbClr val="1E2761"/>
            </a:solidFill>
            <a:prstDash val="solid"/>
            <a:tailEnd type="triangle" w="sm" len="sm"/>
          </a:ln>
        </p:spPr>
      </p:cxnSp>
      <p:cxnSp>
        <p:nvCxnSpPr>
          <p:cNvPr id="95" name="연결선: 꺾임 94"/>
          <p:cNvCxnSpPr>
            <a:stCxn id="39" idx="0"/>
            <a:endCxn id="24" idx="2"/>
          </p:cNvCxnSpPr>
          <p:nvPr/>
        </p:nvCxnSpPr>
        <p:spPr>
          <a:xfrm flipH="1" flipV="1">
            <a:off x="8220075" y="3952875"/>
            <a:ext cx="1143000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FA36B"/>
            </a:solidFill>
            <a:prstDash val="dash"/>
            <a:tailEnd type="triangle" w="sm" len="sm"/>
          </a:ln>
        </p:spPr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CF2A1A4-C395-4B8D-8E3B-42104038181E}"/>
              </a:ext>
            </a:extLst>
          </p:cNvPr>
          <p:cNvSpPr>
            <a:spLocks noGrp="1"/>
          </p:cNvSpPr>
          <p:nvPr/>
        </p:nvSpPr>
        <p:spPr>
          <a:xfrm>
            <a:off x="1504950" y="6067425"/>
            <a:ext cx="9715500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9C9D8DC-4811-4C1A-B966-6B4E5526C2DE}"/>
              </a:ext>
            </a:extLst>
          </p:cNvPr>
          <p:cNvSpPr>
            <a:spLocks noGrp="1"/>
          </p:cNvSpPr>
          <p:nvPr/>
        </p:nvSpPr>
        <p:spPr>
          <a:xfrm>
            <a:off x="1695450" y="6076950"/>
            <a:ext cx="71437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38" b="1">
                <a:solidFill>
                  <a:srgbClr val="6D63D8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6D63D8"/>
                </a:solidFill>
                <a:latin typeface="Calibri"/>
                <a:ea typeface="Calibri"/>
                <a:cs typeface="Calibri"/>
              </a:rPr>
              <a:t>LLM 사용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3A37DFC-C4A6-4442-89CB-5D33DC120BAC}"/>
              </a:ext>
            </a:extLst>
          </p:cNvPr>
          <p:cNvSpPr>
            <a:spLocks noGrp="1"/>
          </p:cNvSpPr>
          <p:nvPr/>
        </p:nvSpPr>
        <p:spPr>
          <a:xfrm>
            <a:off x="2419350" y="6076950"/>
            <a:ext cx="261937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38" b="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5A6072"/>
                </a:solidFill>
                <a:latin typeface="Calibri"/>
                <a:ea typeface="Calibri"/>
                <a:cs typeface="Calibri"/>
              </a:rPr>
              <a:t>질문 생성 · 태그 추출 · 설명 문단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E89B490-8A11-4868-8A54-242567F11B74}"/>
              </a:ext>
            </a:extLst>
          </p:cNvPr>
          <p:cNvSpPr>
            <a:spLocks noGrp="1"/>
          </p:cNvSpPr>
          <p:nvPr/>
        </p:nvSpPr>
        <p:spPr>
          <a:xfrm>
            <a:off x="5524500" y="6076950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38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결정 로직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44851AA-D35A-4440-9275-3A430F86EA4D}"/>
              </a:ext>
            </a:extLst>
          </p:cNvPr>
          <p:cNvSpPr>
            <a:spLocks noGrp="1"/>
          </p:cNvSpPr>
          <p:nvPr/>
        </p:nvSpPr>
        <p:spPr>
          <a:xfrm>
            <a:off x="6286500" y="6076950"/>
            <a:ext cx="31432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38" b="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5A6072"/>
                </a:solidFill>
                <a:latin typeface="Calibri"/>
                <a:ea typeface="Calibri"/>
                <a:cs typeface="Calibri"/>
              </a:rPr>
              <a:t>전공 순위 · 직무 매칭 · 과목 선택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6FFD088-D110-4029-943E-0699AA771EF0}"/>
              </a:ext>
            </a:extLst>
          </p:cNvPr>
          <p:cNvSpPr>
            <a:spLocks noGrp="1"/>
          </p:cNvSpPr>
          <p:nvPr/>
        </p:nvSpPr>
        <p:spPr>
          <a:xfrm>
            <a:off x="457200" y="6474143"/>
            <a:ext cx="8686800" cy="27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803" b="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pPr>
            <a:r>
              <a:rPr sz="803" b="0">
                <a:solidFill>
                  <a:srgbClr val="5A6072"/>
                </a:solidFill>
                <a:latin typeface="Calibri"/>
                <a:ea typeface="Calibri"/>
                <a:cs typeface="Calibri"/>
              </a:rPr>
              <a:t>역량 경로 추천 — 전공 ↔ 역량 ↔ LG 계열사 신입 직무 지식그래프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04B63FF-83A6-4906-88AB-89712AB05C7A}"/>
              </a:ext>
            </a:extLst>
          </p:cNvPr>
          <p:cNvSpPr>
            <a:spLocks noGrp="1"/>
          </p:cNvSpPr>
          <p:nvPr/>
        </p:nvSpPr>
        <p:spPr>
          <a:xfrm>
            <a:off x="11277600" y="6474143"/>
            <a:ext cx="457200" cy="27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803" b="0">
                <a:solidFill>
                  <a:srgbClr val="5A6072"/>
                </a:solidFill>
                <a:latin typeface="Calibri"/>
                <a:ea typeface="Calibri"/>
                <a:cs typeface="Calibri"/>
              </a:defRPr>
            </a:pPr>
            <a:r>
              <a:rPr sz="803" b="0">
                <a:solidFill>
                  <a:srgbClr val="5A6072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34235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7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서비스 구조 — 오프라인 지도 만들기, 온라인 지도 읽기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지식그래프를 한 번 만들고, 학생이 올 때마다 그래프만 읽는다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 rot="-1690715">
            <a:off x="11397243" y="562356"/>
            <a:ext cx="290457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 rot="1690715">
            <a:off x="11397243" y="699516"/>
            <a:ext cx="290457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59591" y="58521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615623" y="448056"/>
            <a:ext cx="109728" cy="109728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9" name="Shape 7"/>
          <p:cNvSpPr/>
          <p:nvPr/>
        </p:nvSpPr>
        <p:spPr>
          <a:xfrm>
            <a:off x="11615623" y="722376"/>
            <a:ext cx="109728" cy="109728"/>
          </a:xfrm>
          <a:prstGeom prst="ellipse">
            <a:avLst/>
          </a:prstGeom>
          <a:solidFill>
            <a:srgbClr val="2F9E63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3736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47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7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OFFLINE · 배치 (한 번, LLM 277회, 캐시)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" y="224028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BF2F1"/>
          </a:solidFill>
          <a:ln w="12700">
            <a:solidFill>
              <a:srgbClr val="E857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2402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서울대 교육과정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(105개 전공 · 3,829과목)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83280" y="224028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BF2F1"/>
          </a:solidFill>
          <a:ln w="12700">
            <a:solidFill>
              <a:srgbClr val="E857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2402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 채용 공고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(9개 계열사 · 172개 직무)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788152" y="2569464"/>
            <a:ext cx="201168" cy="219456"/>
          </a:xfrm>
          <a:prstGeom prst="chevron">
            <a:avLst/>
          </a:prstGeom>
          <a:solidFill>
            <a:srgbClr val="C9A6A1"/>
          </a:solidFill>
          <a:ln/>
        </p:spPr>
      </p:sp>
      <p:sp>
        <p:nvSpPr>
          <p:cNvPr id="17" name="Shape 15"/>
          <p:cNvSpPr/>
          <p:nvPr/>
        </p:nvSpPr>
        <p:spPr>
          <a:xfrm>
            <a:off x="5806440" y="224028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EDEBFA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224028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추출 + LangChain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structured output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247888" y="2569464"/>
            <a:ext cx="201168" cy="219456"/>
          </a:xfrm>
          <a:prstGeom prst="chevron">
            <a:avLst/>
          </a:prstGeom>
          <a:solidFill>
            <a:srgbClr val="B7AEE8"/>
          </a:solidFill>
          <a:ln/>
        </p:spPr>
      </p:sp>
      <p:sp>
        <p:nvSpPr>
          <p:cNvPr id="20" name="Shape 18"/>
          <p:cNvSpPr/>
          <p:nvPr/>
        </p:nvSpPr>
        <p:spPr>
          <a:xfrm>
            <a:off x="8549640" y="2240280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E8F3EC"/>
          </a:solidFill>
          <a:ln w="12700">
            <a:solidFill>
              <a:srgbClr val="2F9E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224028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통제 어휘(CANON) + IS_A 온톨로지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graph.json (지식그래프)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 rot="5400000">
            <a:off x="5989320" y="3611880"/>
            <a:ext cx="274320" cy="201168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88620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9959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· 실시간 (학생 1명당 LLM 2~6회)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77240" y="438912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2A3480"/>
          </a:solidFill>
          <a:ln w="12700">
            <a:solidFill>
              <a:srgbClr val="4E5B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389120"/>
            <a:ext cx="164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학생 입력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(대화 · 질문)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624328" y="4718304"/>
            <a:ext cx="146304" cy="219456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28" name="Shape 26"/>
          <p:cNvSpPr/>
          <p:nvPr/>
        </p:nvSpPr>
        <p:spPr>
          <a:xfrm>
            <a:off x="2788920" y="438912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2A3480"/>
          </a:solidFill>
          <a:ln w="12700">
            <a:solidFill>
              <a:srgbClr val="4E5B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0360" y="43891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태깅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(역량 태그 추출)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18888" y="4718304"/>
            <a:ext cx="146304" cy="219456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31" name="Shape 29"/>
          <p:cNvSpPr/>
          <p:nvPr/>
        </p:nvSpPr>
        <p:spPr>
          <a:xfrm>
            <a:off x="4983480" y="438912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2A3480"/>
          </a:solidFill>
          <a:ln w="12700">
            <a:solidFill>
              <a:srgbClr val="4E5B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43891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그래프 조회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(딕셔너리·집합연산, LLM 0회)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110728" y="4718304"/>
            <a:ext cx="146304" cy="219456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34" name="Shape 32"/>
          <p:cNvSpPr/>
          <p:nvPr/>
        </p:nvSpPr>
        <p:spPr>
          <a:xfrm>
            <a:off x="8275320" y="438912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2A3480"/>
          </a:solidFill>
          <a:ln w="12700">
            <a:solidFill>
              <a:srgbClr val="4E5B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43891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카드 + AI 설명 문단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42">
            <a:extLst>
              <a:ext uri="{FF2B5EF4-FFF2-40B4-BE49-F238E27FC236}">
                <a16:creationId xmlns:a16="http://schemas.microsoft.com/office/drawing/2014/main" id="{8E8F0181-CAC9-B1CA-C470-4DD9061743A0}"/>
              </a:ext>
            </a:extLst>
          </p:cNvPr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 CNS AI</a:t>
            </a:r>
            <a:r>
              <a:rPr lang="ko-KR" alt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캠퍼스 </a:t>
            </a:r>
            <a:r>
              <a:rPr lang="en-US" altLang="ko-KR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Graph </a:t>
            </a:r>
            <a:r>
              <a:rPr lang="ko-KR" alt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과정</a:t>
            </a:r>
            <a:r>
              <a:rPr lang="en-US" altLang="ko-KR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project -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경로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추천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7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&amp; Agent 워크플로우, 사용 기술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LLM은 두 곳에만 관여한다 — 판정은 항상 도구(코드)가 한다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 rot="-1690715">
            <a:off x="11397243" y="562356"/>
            <a:ext cx="290457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 rot="1690715">
            <a:off x="11397243" y="699516"/>
            <a:ext cx="290457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59591" y="58521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615623" y="448056"/>
            <a:ext cx="109728" cy="109728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9" name="Shape 7"/>
          <p:cNvSpPr/>
          <p:nvPr/>
        </p:nvSpPr>
        <p:spPr>
          <a:xfrm>
            <a:off x="11615623" y="722376"/>
            <a:ext cx="109728" cy="109728"/>
          </a:xfrm>
          <a:prstGeom prst="ellipse">
            <a:avLst/>
          </a:prstGeom>
          <a:solidFill>
            <a:srgbClr val="2F9E63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37360"/>
            <a:ext cx="3611880" cy="502920"/>
          </a:xfrm>
          <a:prstGeom prst="rect">
            <a:avLst/>
          </a:prstGeom>
          <a:solidFill>
            <a:srgbClr val="E857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373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/ Agent 워크플로우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8368" y="2478024"/>
            <a:ext cx="64008" cy="64008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242316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오프라인: 과목명·공고 텍스트 → 역량 태그 추출 (전공 105회 + 직무 172회)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8368" y="3346704"/>
            <a:ext cx="64008" cy="64008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29184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온라인: question_agent 가 7영역 적응형 질문 생성 → interview.py 가 대화 진행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4215384"/>
            <a:ext cx="64008" cy="64008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16052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온라인: 학생 문장 → 역량 태그 1회, 카드 → 설명 문단 1회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8368" y="5084064"/>
            <a:ext cx="64008" cy="64008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502920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판정(전공 순위·직무 매칭·과목 선택)은 LLM이 아니라 그래프 조회 함수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25196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51960" y="1737360"/>
            <a:ext cx="3611880" cy="50292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17373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모델 &amp; 도구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453128" y="2478024"/>
            <a:ext cx="64008" cy="64008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5" name="Text 23"/>
          <p:cNvSpPr/>
          <p:nvPr/>
        </p:nvSpPr>
        <p:spPr>
          <a:xfrm>
            <a:off x="4636008" y="242316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모델: OpenAI gpt-4o-mini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453128" y="3346704"/>
            <a:ext cx="64008" cy="64008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7" name="Text 25"/>
          <p:cNvSpPr/>
          <p:nvPr/>
        </p:nvSpPr>
        <p:spPr>
          <a:xfrm>
            <a:off x="4636008" y="329184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LangChain LCEL — prompt | llm.with_structured_output(Model)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453128" y="4215384"/>
            <a:ext cx="64008" cy="64008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9" name="Text 27"/>
          <p:cNvSpPr/>
          <p:nvPr/>
        </p:nvSpPr>
        <p:spPr>
          <a:xfrm>
            <a:off x="4636008" y="416052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Pydantic — 스키마 강제(구조화 출력), 환각 방지 1차 방어선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53128" y="5084064"/>
            <a:ext cx="64008" cy="64008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31" name="Text 29"/>
          <p:cNvSpPr/>
          <p:nvPr/>
        </p:nvSpPr>
        <p:spPr>
          <a:xfrm>
            <a:off x="4636008" y="502920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Flask 웹 서버 — /api/start·/api/answer·/api/explain(SSE)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046720" y="17373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46720" y="1737360"/>
            <a:ext cx="3611880" cy="502920"/>
          </a:xfrm>
          <a:prstGeom prst="rect">
            <a:avLst/>
          </a:prstGeom>
          <a:solidFill>
            <a:srgbClr val="2F9E63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0" y="17373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온톨로지 / 지식그래프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247888" y="2478024"/>
            <a:ext cx="64008" cy="64008"/>
          </a:xfrm>
          <a:prstGeom prst="ellipse">
            <a:avLst/>
          </a:prstGeom>
          <a:solidFill>
            <a:srgbClr val="2F9E63"/>
          </a:solidFill>
          <a:ln/>
        </p:spPr>
      </p:sp>
      <p:sp>
        <p:nvSpPr>
          <p:cNvPr id="36" name="Text 34"/>
          <p:cNvSpPr/>
          <p:nvPr/>
        </p:nvSpPr>
        <p:spPr>
          <a:xfrm>
            <a:off x="8430768" y="242316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Neo4j 없이 graph.json + Python 딕셔너리로 구현 (노드 3종·2홉이라 이걸로 충분)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247888" y="3346704"/>
            <a:ext cx="64008" cy="64008"/>
          </a:xfrm>
          <a:prstGeom prst="ellipse">
            <a:avLst/>
          </a:prstGeom>
          <a:solidFill>
            <a:srgbClr val="2F9E63"/>
          </a:solidFill>
          <a:ln/>
        </p:spPr>
      </p:sp>
      <p:sp>
        <p:nvSpPr>
          <p:cNvPr id="38" name="Text 36"/>
          <p:cNvSpPr/>
          <p:nvPr/>
        </p:nvSpPr>
        <p:spPr>
          <a:xfrm>
            <a:off x="8430768" y="329184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통제 어휘(CANON) 139개 — 표기가 달라도 같은 역량은 같은 이름으로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247888" y="4215384"/>
            <a:ext cx="64008" cy="64008"/>
          </a:xfrm>
          <a:prstGeom prst="ellipse">
            <a:avLst/>
          </a:prstGeom>
          <a:solidFill>
            <a:srgbClr val="2F9E63"/>
          </a:solidFill>
          <a:ln/>
        </p:spPr>
      </p:sp>
      <p:sp>
        <p:nvSpPr>
          <p:cNvPr id="40" name="Text 38"/>
          <p:cNvSpPr/>
          <p:nvPr/>
        </p:nvSpPr>
        <p:spPr>
          <a:xfrm>
            <a:off x="8430768" y="416052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IS_A 계층 102개, 한 단계만 · 추론은 위로만 (도구명 → 학문명)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247888" y="5084064"/>
            <a:ext cx="64008" cy="64008"/>
          </a:xfrm>
          <a:prstGeom prst="ellipse">
            <a:avLst/>
          </a:prstGeom>
          <a:solidFill>
            <a:srgbClr val="2F9E63"/>
          </a:solidFill>
          <a:ln/>
        </p:spPr>
      </p:sp>
      <p:sp>
        <p:nvSpPr>
          <p:cNvPr id="42" name="Text 40"/>
          <p:cNvSpPr/>
          <p:nvPr/>
        </p:nvSpPr>
        <p:spPr>
          <a:xfrm>
            <a:off x="8430768" y="5029200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관계 5종: DEVELOPS · REQUIRES/PREFERS · IS_A · SUGGESTS · MATCHES/WANTS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E2694146-85DD-7407-D6E7-CD4CF0EE2B6F}"/>
              </a:ext>
            </a:extLst>
          </p:cNvPr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 CNS AI</a:t>
            </a:r>
            <a:r>
              <a:rPr lang="ko-KR" alt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캠퍼스 </a:t>
            </a:r>
            <a:r>
              <a:rPr lang="en-US" altLang="ko-KR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Graph </a:t>
            </a:r>
            <a:r>
              <a:rPr lang="ko-KR" alt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과정</a:t>
            </a:r>
            <a:r>
              <a:rPr lang="en-US" altLang="ko-KR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project -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경로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추천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7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실제 구현 결과 — 학생에게 보이는 카드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입력: "데이터 분석이 재미있어요 / 통계 수업, 파이썬으로 데이터 정리"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 rot="-1690715">
            <a:off x="11397243" y="562356"/>
            <a:ext cx="290457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 rot="1690715">
            <a:off x="11397243" y="699516"/>
            <a:ext cx="290457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59591" y="58521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615623" y="448056"/>
            <a:ext cx="109728" cy="109728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9" name="Shape 7"/>
          <p:cNvSpPr/>
          <p:nvPr/>
        </p:nvSpPr>
        <p:spPr>
          <a:xfrm>
            <a:off x="11615623" y="722376"/>
            <a:ext cx="109728" cy="109728"/>
          </a:xfrm>
          <a:prstGeom prst="ellipse">
            <a:avLst/>
          </a:prstGeom>
          <a:solidFill>
            <a:srgbClr val="2F9E63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챗봇과 다른 점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995160" y="2240280"/>
            <a:ext cx="4754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95160" y="2240280"/>
            <a:ext cx="73152" cy="1051560"/>
          </a:xfrm>
          <a:prstGeom prst="rect">
            <a:avLst/>
          </a:prstGeom>
          <a:solidFill>
            <a:srgbClr val="E8574A"/>
          </a:solidFill>
          <a:ln/>
        </p:spPr>
      </p:sp>
      <p:sp>
        <p:nvSpPr>
          <p:cNvPr id="30" name="Text 28"/>
          <p:cNvSpPr/>
          <p:nvPr/>
        </p:nvSpPr>
        <p:spPr>
          <a:xfrm>
            <a:off x="7251192" y="2331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전수 순위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251192" y="26791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61개 전공 전부 비교 후 1위 — 떠오른 몇 개 중 고르지 않는다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995160" y="3474720"/>
            <a:ext cx="4754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95160" y="3474720"/>
            <a:ext cx="73152" cy="105156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4" name="Text 32"/>
          <p:cNvSpPr/>
          <p:nvPr/>
        </p:nvSpPr>
        <p:spPr>
          <a:xfrm>
            <a:off x="7251192" y="35661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실존하는 이름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251192" y="391363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카드의 모든 과목·직무명은 실제 데이터에 있는 것 (자동 확인)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995160" y="4709160"/>
            <a:ext cx="47548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95160" y="4709160"/>
            <a:ext cx="73152" cy="1051560"/>
          </a:xfrm>
          <a:prstGeom prst="rect">
            <a:avLst/>
          </a:prstGeom>
          <a:solidFill>
            <a:srgbClr val="2F9E63"/>
          </a:solidFill>
          <a:ln/>
        </p:spPr>
      </p:sp>
      <p:sp>
        <p:nvSpPr>
          <p:cNvPr id="38" name="Text 36"/>
          <p:cNvSpPr/>
          <p:nvPr/>
        </p:nvSpPr>
        <p:spPr>
          <a:xfrm>
            <a:off x="7251192" y="4800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재현성 · 정답지 통과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251192" y="51480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같은 이야기 → 같은 답. 평가셋 24/24 통과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2">
            <a:extLst>
              <a:ext uri="{FF2B5EF4-FFF2-40B4-BE49-F238E27FC236}">
                <a16:creationId xmlns:a16="http://schemas.microsoft.com/office/drawing/2014/main" id="{2BE055F6-4BC9-C19D-BC9A-AA6B94650786}"/>
              </a:ext>
            </a:extLst>
          </p:cNvPr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 CNS AI</a:t>
            </a:r>
            <a:r>
              <a:rPr lang="ko-KR" altLang="en-US" sz="900" dirty="0">
                <a:solidFill>
                  <a:srgbClr val="5A607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캠퍼스 </a:t>
            </a:r>
            <a:r>
              <a:rPr lang="en-US" altLang="ko-KR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Graph </a:t>
            </a:r>
            <a:r>
              <a:rPr lang="ko-KR" altLang="en-US" sz="900" dirty="0">
                <a:solidFill>
                  <a:srgbClr val="5A607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과정</a:t>
            </a:r>
            <a:r>
              <a:rPr lang="en-US" altLang="ko-KR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project -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경로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추천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Rounded Rectangle 12">
            <a:extLst>
              <a:ext uri="{FF2B5EF4-FFF2-40B4-BE49-F238E27FC236}">
                <a16:creationId xmlns:a16="http://schemas.microsoft.com/office/drawing/2014/main" id="{04ED0F45-3B9C-ABA6-26D8-C7D50F60CCC7}"/>
              </a:ext>
            </a:extLst>
          </p:cNvPr>
          <p:cNvSpPr/>
          <p:nvPr/>
        </p:nvSpPr>
        <p:spPr>
          <a:xfrm>
            <a:off x="548640" y="1645920"/>
            <a:ext cx="6181562" cy="4498848"/>
          </a:xfrm>
          <a:prstGeom prst="roundRect">
            <a:avLst>
              <a:gd name="adj" fmla="val 3000"/>
            </a:avLst>
          </a:prstGeom>
          <a:solidFill>
            <a:srgbClr val="F3F4F8"/>
          </a:solidFill>
          <a:ln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55DD16-68CB-D973-E28C-5A4F64BE7849}"/>
              </a:ext>
            </a:extLst>
          </p:cNvPr>
          <p:cNvSpPr txBox="1"/>
          <p:nvPr/>
        </p:nvSpPr>
        <p:spPr>
          <a:xfrm>
            <a:off x="731521" y="1870534"/>
            <a:ext cx="5868572" cy="4031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프로필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 Data Analysis · Statistics · Python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전공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  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통계학과</a:t>
            </a:r>
            <a:endParaRPr sz="1000" dirty="0">
              <a:solidFill>
                <a:srgbClr val="1F2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선택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이유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전체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61개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전공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중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보유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역량과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관련된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46개를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선정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그 중 1위가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통계학과</a:t>
            </a:r>
            <a:endParaRPr sz="1000" dirty="0">
              <a:solidFill>
                <a:srgbClr val="1F2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✓ Data Analysis (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과목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7개) · Statistics (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과목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14개)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○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아직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안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이어진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Python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연결도</a:t>
            </a:r>
            <a:endParaRPr sz="1000" dirty="0">
              <a:solidFill>
                <a:srgbClr val="1F2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█████░░░░░  46% 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통계학과</a:t>
            </a:r>
            <a:endParaRPr sz="1000" dirty="0">
              <a:solidFill>
                <a:srgbClr val="1F2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████░░░░░░  39% 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화학생물공학부</a:t>
            </a:r>
            <a:endParaRPr sz="1000" dirty="0">
              <a:solidFill>
                <a:srgbClr val="1F2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████░░░░░░  38% 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첨단융합학부</a:t>
            </a:r>
            <a:endParaRPr sz="1000" dirty="0">
              <a:solidFill>
                <a:srgbClr val="1F2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과목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  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통계학과에서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이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역량을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기르는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과목</a:t>
            </a:r>
            <a:endParaRPr sz="1000" dirty="0">
              <a:solidFill>
                <a:srgbClr val="1F2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기계학습과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계산금융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Machine Learning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향상</a:t>
            </a:r>
            <a:endParaRPr sz="1000" dirty="0">
              <a:solidFill>
                <a:srgbClr val="1F2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데이터마이닝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방법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및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실습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Data Analysis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향상</a:t>
            </a:r>
            <a:endParaRPr sz="1000" dirty="0">
              <a:solidFill>
                <a:srgbClr val="1F2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다변량자료분석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및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실습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Data Analysis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향상</a:t>
            </a:r>
            <a:endParaRPr sz="1000" dirty="0">
              <a:solidFill>
                <a:srgbClr val="1F2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직무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  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LG에너지솔루션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소재개발AX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신입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요구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2/2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충족</a:t>
            </a:r>
            <a:endParaRPr sz="1000" dirty="0">
              <a:solidFill>
                <a:srgbClr val="1F243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Data Analysis(O), Machine Learning(O)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다음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후보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1. LG CNS AI (AX) (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신입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—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요구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7/10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충족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…</a:t>
            </a:r>
          </a:p>
          <a:p>
            <a:pPr>
              <a:lnSpc>
                <a:spcPct val="105000"/>
              </a:lnSpc>
            </a:pP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──────────</a:t>
            </a:r>
          </a:p>
          <a:p>
            <a:pPr>
              <a:lnSpc>
                <a:spcPct val="105000"/>
              </a:lnSpc>
            </a:pP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출처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·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과목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서울대학교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교육과정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대학알리미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· 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공고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LG Careers (</a:t>
            </a:r>
            <a:r>
              <a:rPr sz="1000" dirty="0" err="1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스냅샷</a:t>
            </a:r>
            <a:r>
              <a:rPr sz="100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7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06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한계 — 중요한 순서로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발표에서 먼저 말하는 것이 질문받고 인정하는 것보다 낫다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 rot="-1690715">
            <a:off x="11397243" y="562356"/>
            <a:ext cx="290457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 rot="1690715">
            <a:off x="11397243" y="699516"/>
            <a:ext cx="290457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59591" y="58521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615623" y="448056"/>
            <a:ext cx="109728" cy="109728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9" name="Shape 7"/>
          <p:cNvSpPr/>
          <p:nvPr/>
        </p:nvSpPr>
        <p:spPr>
          <a:xfrm>
            <a:off x="11615623" y="722376"/>
            <a:ext cx="109728" cy="109728"/>
          </a:xfrm>
          <a:prstGeom prst="ellipse">
            <a:avLst/>
          </a:prstGeom>
          <a:solidFill>
            <a:srgbClr val="2F9E63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37360"/>
            <a:ext cx="1124712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933956"/>
            <a:ext cx="365760" cy="365760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339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8720" y="1810512"/>
            <a:ext cx="2834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채용 공고는 스냅샷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0" y="1810512"/>
            <a:ext cx="7406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공고가 내려가면(마감) 그 데이터가 통째로 사라진다. 지금은 날짜별 저장으로만 방어 — 자동화된 보존 체계는 없다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587752"/>
            <a:ext cx="1124712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84348"/>
            <a:ext cx="365760" cy="365760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843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88720" y="2660904"/>
            <a:ext cx="2834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채용공고만으로는 직무 커버 한계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0" y="2660904"/>
            <a:ext cx="7406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 신입 채용공고만으로는 계열사 전체 직무 영역을 실질적으로 다 담을 수 없다 (공고 없는 직무, 요구 역량 문장 없는 공고)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438144"/>
            <a:ext cx="1124712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634740"/>
            <a:ext cx="365760" cy="36576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347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88720" y="3511296"/>
            <a:ext cx="2834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서울대 1개교 한정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114800" y="3511296"/>
            <a:ext cx="7406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대학 간 비교 축이 없다 — "서울대 교육과정 기준" 추천이라는 전제가 붙는다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4288536"/>
            <a:ext cx="1124712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485132"/>
            <a:ext cx="365760" cy="36576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851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88720" y="4361688"/>
            <a:ext cx="2834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태도(soft skill) 데이터 절반뿐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114800" y="4361688"/>
            <a:ext cx="7406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108건 중 48건만 존재. 빈 값이 "요구 없음"인지 "추출 누락"인지 몰라 동점 처리에만 사용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5138928"/>
            <a:ext cx="1124712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5335524"/>
            <a:ext cx="365760" cy="365760"/>
          </a:xfrm>
          <a:prstGeom prst="ellipse">
            <a:avLst/>
          </a:prstGeom>
          <a:solidFill>
            <a:srgbClr val="2F9E63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3355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88720" y="5212080"/>
            <a:ext cx="2834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비결정성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114800" y="5212080"/>
            <a:ext cx="74066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 0에서도 입력 쪽(태그·성향) 판단이 실행마다 조금씩 흔들릴 수 있다 — 판정 자체엔 관여하지 않지만 감시가 필요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42">
            <a:extLst>
              <a:ext uri="{FF2B5EF4-FFF2-40B4-BE49-F238E27FC236}">
                <a16:creationId xmlns:a16="http://schemas.microsoft.com/office/drawing/2014/main" id="{103AB3BE-EEE5-486E-77CD-D0D6B7055416}"/>
              </a:ext>
            </a:extLst>
          </p:cNvPr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 CNS AI</a:t>
            </a:r>
            <a:r>
              <a:rPr lang="ko-KR" alt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캠퍼스 </a:t>
            </a:r>
            <a:r>
              <a:rPr lang="en-US" altLang="ko-KR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Graph </a:t>
            </a:r>
            <a:r>
              <a:rPr lang="ko-KR" alt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과정</a:t>
            </a:r>
            <a:r>
              <a:rPr lang="en-US" altLang="ko-KR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project -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경로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추천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74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07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어떻게 확장할까 — 한계에 연결한 액션 아이템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위 한계를 그대로 해결 과제로 뒤집는다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 rot="-1690715">
            <a:off x="11397243" y="562356"/>
            <a:ext cx="290457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 rot="1690715">
            <a:off x="11397243" y="699516"/>
            <a:ext cx="290457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359591" y="58521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1615623" y="448056"/>
            <a:ext cx="109728" cy="109728"/>
          </a:xfrm>
          <a:prstGeom prst="ellipse">
            <a:avLst/>
          </a:prstGeom>
          <a:solidFill>
            <a:srgbClr val="E8574A"/>
          </a:solidFill>
          <a:ln/>
        </p:spPr>
      </p:sp>
      <p:sp>
        <p:nvSpPr>
          <p:cNvPr id="9" name="Shape 7"/>
          <p:cNvSpPr/>
          <p:nvPr/>
        </p:nvSpPr>
        <p:spPr>
          <a:xfrm>
            <a:off x="11615623" y="722376"/>
            <a:ext cx="109728" cy="109728"/>
          </a:xfrm>
          <a:prstGeom prst="ellipse">
            <a:avLst/>
          </a:prstGeom>
          <a:solidFill>
            <a:srgbClr val="2F9E63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91640"/>
            <a:ext cx="5440680" cy="3657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한계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35040" y="1691640"/>
            <a:ext cx="5669280" cy="3657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확장 / Action Item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54406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57400"/>
            <a:ext cx="64008" cy="713232"/>
          </a:xfrm>
          <a:prstGeom prst="rect">
            <a:avLst/>
          </a:prstGeom>
          <a:solidFill>
            <a:srgbClr val="E8574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05740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채용 공고 유실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(공고 마감 시 데이터 소실)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888736" y="2313432"/>
            <a:ext cx="164592" cy="201168"/>
          </a:xfrm>
          <a:prstGeom prst="chevron">
            <a:avLst/>
          </a:prstGeom>
          <a:solidFill>
            <a:srgbClr val="B7C0DD"/>
          </a:solidFill>
          <a:ln/>
        </p:spPr>
      </p:sp>
      <p:sp>
        <p:nvSpPr>
          <p:cNvPr id="18" name="Shape 16"/>
          <p:cNvSpPr/>
          <p:nvPr/>
        </p:nvSpPr>
        <p:spPr>
          <a:xfrm>
            <a:off x="6035040" y="2057400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F1F4FB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2057400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정기 크롤링 자동화 + 아카이브 시스템 구축 — 마감 공고도 스냅샷으로 영구 보존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2862072"/>
            <a:ext cx="54406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62072"/>
            <a:ext cx="64008" cy="713232"/>
          </a:xfrm>
          <a:prstGeom prst="rect">
            <a:avLst/>
          </a:prstGeom>
          <a:solidFill>
            <a:srgbClr val="E8574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2862072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채용공고만으로는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 전체 직무 커버 불가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88736" y="3118104"/>
            <a:ext cx="164592" cy="201168"/>
          </a:xfrm>
          <a:prstGeom prst="chevron">
            <a:avLst/>
          </a:prstGeom>
          <a:solidFill>
            <a:srgbClr val="B7C0DD"/>
          </a:solidFill>
          <a:ln/>
        </p:spPr>
      </p:sp>
      <p:sp>
        <p:nvSpPr>
          <p:cNvPr id="24" name="Shape 22"/>
          <p:cNvSpPr/>
          <p:nvPr/>
        </p:nvSpPr>
        <p:spPr>
          <a:xfrm>
            <a:off x="6035040" y="2862072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F1F4FB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862072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 측에 채용공고 외 직무기술서·직무소개 자료 제공 요청 — 공고 없는 직무까지 그래프에 반영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3666744"/>
            <a:ext cx="54406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666744"/>
            <a:ext cx="64008" cy="713232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3666744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서울대 1개교 한정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888736" y="3922776"/>
            <a:ext cx="164592" cy="201168"/>
          </a:xfrm>
          <a:prstGeom prst="chevron">
            <a:avLst/>
          </a:prstGeom>
          <a:solidFill>
            <a:srgbClr val="B7C0DD"/>
          </a:solidFill>
          <a:ln/>
        </p:spPr>
      </p:sp>
      <p:sp>
        <p:nvSpPr>
          <p:cNvPr id="30" name="Shape 28"/>
          <p:cNvSpPr/>
          <p:nvPr/>
        </p:nvSpPr>
        <p:spPr>
          <a:xfrm>
            <a:off x="6035040" y="3666744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F1F4FB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3666744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타 대학 교육과정 데이터 확보 및 확장 — 대학 간 비교 축 추가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" y="4471416"/>
            <a:ext cx="54406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471416"/>
            <a:ext cx="64008" cy="713232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4471416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태도 데이터 절반뿐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888736" y="4727448"/>
            <a:ext cx="164592" cy="201168"/>
          </a:xfrm>
          <a:prstGeom prst="chevron">
            <a:avLst/>
          </a:prstGeom>
          <a:solidFill>
            <a:srgbClr val="B7C0DD"/>
          </a:solidFill>
          <a:ln/>
        </p:spPr>
      </p:sp>
      <p:sp>
        <p:nvSpPr>
          <p:cNvPr id="36" name="Shape 34"/>
          <p:cNvSpPr/>
          <p:nvPr/>
        </p:nvSpPr>
        <p:spPr>
          <a:xfrm>
            <a:off x="6035040" y="4471416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F1F4FB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4471416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추출 프롬프트 개선으로 커버리지 확보 후, 동점 처리를 넘어 정식 가산 요소로 승격 검토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7200" y="5276088"/>
            <a:ext cx="54406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5276088"/>
            <a:ext cx="64008" cy="713232"/>
          </a:xfrm>
          <a:prstGeom prst="rect">
            <a:avLst/>
          </a:prstGeom>
          <a:solidFill>
            <a:srgbClr val="2F9E63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" y="5276088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비결정성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888736" y="5532120"/>
            <a:ext cx="164592" cy="201168"/>
          </a:xfrm>
          <a:prstGeom prst="chevron">
            <a:avLst/>
          </a:prstGeom>
          <a:solidFill>
            <a:srgbClr val="B7C0DD"/>
          </a:solidFill>
          <a:ln/>
        </p:spPr>
      </p:sp>
      <p:sp>
        <p:nvSpPr>
          <p:cNvPr id="42" name="Shape 40"/>
          <p:cNvSpPr/>
          <p:nvPr/>
        </p:nvSpPr>
        <p:spPr>
          <a:xfrm>
            <a:off x="6035040" y="5276088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F1F4FB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5276088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43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평가셋 확대 + 정기 회귀 자동 감시로 흔들림을 지속 모니터링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EF530B40-BF71-AE8E-CE4E-700A764B10A3}"/>
              </a:ext>
            </a:extLst>
          </p:cNvPr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 CNS AI</a:t>
            </a:r>
            <a:r>
              <a:rPr lang="ko-KR" alt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캠퍼스 </a:t>
            </a:r>
            <a:r>
              <a:rPr lang="en-US" altLang="ko-KR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Graph </a:t>
            </a:r>
            <a:r>
              <a:rPr lang="ko-KR" alt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과정</a:t>
            </a:r>
            <a:r>
              <a:rPr lang="en-US" altLang="ko-KR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project -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역량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경로</a:t>
            </a:r>
            <a:r>
              <a:rPr lang="en-US" sz="900" dirty="0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solidFill>
                  <a:srgbClr val="5A607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추천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1327</Words>
  <Application>Microsoft Office PowerPoint</Application>
  <PresentationFormat>와이드스크린</PresentationFormat>
  <Paragraphs>204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3</cp:revision>
  <dcterms:created xsi:type="dcterms:W3CDTF">2026-09-17T07:20:20Z</dcterms:created>
  <dcterms:modified xsi:type="dcterms:W3CDTF">2026-09-17T08:01:12Z</dcterms:modified>
</cp:coreProperties>
</file>