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 흐름에서 빨간 배지 두 곳만 AI. 가운데 파란 두 칸은 graph.json 을 읽는 코드라 같은 태그면 항상 같은 답. AI 를 묶는 방법 셋(스키마·사전·temperature 0), 코드가 세는 것 셋(전공 순위·직무 충족/부족·다리 과목), 둘을 잇는 사전(이름 139 + 상하 102). 기술 이름은 맨 아래 한 줄 — 질문 오면 부록으로.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574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AI &amp; Agent 워크플로우, 사용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72"/>
                </a:solidFill>
                <a:latin typeface="Calibri"/>
              </a:rPr>
              <a:t>AI는 두 곳(말 → 태그, 카드 → 말)에만 — 판정 세 곳은 코드가 세고, 둘을 잇는 것이 사전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072"/>
                </a:solidFill>
                <a:latin typeface="Calibri"/>
              </a:rPr>
              <a:t>LG CNS AI캠퍼스 · Knowledge Graph 과정 project - LG 직무 추천 AI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00232" y="530352"/>
            <a:ext cx="219456" cy="0"/>
          </a:xfrm>
          <a:prstGeom prst="line">
            <a:avLst/>
          </a:prstGeom>
          <a:ln w="12700">
            <a:solidFill>
              <a:srgbClr val="1E276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5992" y="530352"/>
            <a:ext cx="219456" cy="0"/>
          </a:xfrm>
          <a:prstGeom prst="line">
            <a:avLst/>
          </a:prstGeom>
          <a:ln w="12700">
            <a:solidFill>
              <a:srgbClr val="2F9E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292840" y="603503"/>
            <a:ext cx="0" cy="146305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72215" y="47548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37976" y="475488"/>
            <a:ext cx="109728" cy="109728"/>
          </a:xfrm>
          <a:prstGeom prst="ellipse">
            <a:avLst/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03736" y="475488"/>
            <a:ext cx="109728" cy="109728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54435" y="784555"/>
            <a:ext cx="76809" cy="76809"/>
          </a:xfrm>
          <a:prstGeom prst="ellipse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2140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Calibri"/>
              </a:rPr>
              <a:t>학생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14015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자기소개 · 질문 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42032" y="2331720"/>
            <a:ext cx="192024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61488" y="173736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12140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Calibri"/>
              </a:rPr>
              <a:t>역량 태그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414015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말 → 사전에 있는 단어만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6724" y="184708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2331720"/>
            <a:ext cx="192023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65776" y="173736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212140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Calibri"/>
              </a:rPr>
              <a:t>전공 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414015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61개 전부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1012" y="184708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0608" y="2331720"/>
            <a:ext cx="192024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70064" y="173736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212140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Calibri"/>
              </a:rPr>
              <a:t>직무 · 과목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414015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충족/부족 세기 · 다리 과목 3개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5300" y="184708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54896" y="2331720"/>
            <a:ext cx="192024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74352" y="173736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12140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Calibri"/>
              </a:rPr>
              <a:t>카드 + 설명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414015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숫자는 카드, 말은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19588" y="1847088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65776" y="3017520"/>
            <a:ext cx="436168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65776" y="3017520"/>
            <a:ext cx="4361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F6FD6"/>
                </a:solidFill>
                <a:latin typeface="Calibri"/>
              </a:rPr>
              <a:t>graph.json 조회 — 딕셔너리 · 집합 연산 · LLM 0회 · 같은 태그면 항상 같은 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91840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" y="348386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34564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AI 2곳 — 어떻게 묶어 두나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840480"/>
            <a:ext cx="315468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형식은 스키마가 강제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Pydantic 으로 틀을 정함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사전에 없는 단어는 버림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지어낸 역량 차단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무작위성 끔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temperature 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937760"/>
            <a:ext cx="3154680" cy="749808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01091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A6072"/>
                </a:solidFill>
                <a:latin typeface="Calibri"/>
              </a:rPr>
              <a:t>예)  </a:t>
            </a:r>
            <a:r>
              <a:rPr sz="1000" b="0">
                <a:solidFill>
                  <a:srgbClr val="1F2430"/>
                </a:solidFill>
                <a:latin typeface="Calibri"/>
              </a:rPr>
              <a:t>"통계 수업이 재밌고 파이썬으로 데이터 정리"</a:t>
            </a:r>
          </a:p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→  </a:t>
            </a:r>
            <a:r>
              <a:rPr sz="1000" b="1">
                <a:solidFill>
                  <a:srgbClr val="E8574A"/>
                </a:solidFill>
                <a:latin typeface="Calibri"/>
              </a:rPr>
              <a:t>Statistics · Python · Data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8536" y="3291840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17136" y="348386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34564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코드 3곳 — 무엇을 세나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3840480"/>
            <a:ext cx="315468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전공 순위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61개 전부 비교해 순위 · %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직무 매칭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신입 75개, 요구 역량 충족/부족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과목 3개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전공과 직무를 잇는 다리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17136" y="4937760"/>
            <a:ext cx="3154680" cy="749808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6008" y="501091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A6072"/>
                </a:solidFill>
                <a:latin typeface="Calibri"/>
              </a:rPr>
              <a:t>예)  </a:t>
            </a:r>
            <a:r>
              <a:rPr sz="1000" b="1">
                <a:solidFill>
                  <a:srgbClr val="2F6FD6"/>
                </a:solidFill>
                <a:latin typeface="Calibri"/>
              </a:rPr>
              <a:t>통계학과 46% (61개 중 1위)</a:t>
            </a:r>
          </a:p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→  </a:t>
            </a:r>
            <a:r>
              <a:rPr sz="1000" b="0">
                <a:solidFill>
                  <a:srgbClr val="1F2430"/>
                </a:solidFill>
                <a:latin typeface="Calibri"/>
              </a:rPr>
              <a:t>소재개발AX 요구 역량 2/2 충족 · 다리 과목 3개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3291840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48472" y="348386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사전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45643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둘을 잇는 사전 — 그래프의 본체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3840480"/>
            <a:ext cx="315468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이름 139개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표기가 달라도 같은 역량은 한 이름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상하 관계 102개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"Oracle은 Database의 한 종류"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072"/>
                </a:solidFill>
                <a:latin typeface="Calibri"/>
              </a:rPr>
              <a:t>•  </a:t>
            </a:r>
            <a:r>
              <a:rPr sz="1050" b="1">
                <a:solidFill>
                  <a:srgbClr val="1F2430"/>
                </a:solidFill>
                <a:latin typeface="Calibri"/>
              </a:rPr>
              <a:t>한 단계, 위로만</a:t>
            </a:r>
            <a:r>
              <a:rPr sz="1050" b="0">
                <a:solidFill>
                  <a:srgbClr val="1F2430"/>
                </a:solidFill>
                <a:latin typeface="Calibri"/>
              </a:rPr>
              <a:t> — 도구 이름 → 학문 이름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714232" y="5257800"/>
            <a:ext cx="320040" cy="0"/>
          </a:xfrm>
          <a:prstGeom prst="line">
            <a:avLst/>
          </a:prstGeom>
          <a:ln w="12700">
            <a:solidFill>
              <a:srgbClr val="1E276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217152" y="5257800"/>
            <a:ext cx="320040" cy="0"/>
          </a:xfrm>
          <a:prstGeom prst="line">
            <a:avLst/>
          </a:prstGeom>
          <a:ln w="12700">
            <a:solidFill>
              <a:srgbClr val="2F9E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125712" y="5349240"/>
            <a:ext cx="0" cy="219456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549640" y="5184648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52560" y="5184648"/>
            <a:ext cx="146304" cy="146304"/>
          </a:xfrm>
          <a:prstGeom prst="ellipse">
            <a:avLst/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55480" y="5184648"/>
            <a:ext cx="146304" cy="14630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074505" y="5608929"/>
            <a:ext cx="102412" cy="102412"/>
          </a:xfrm>
          <a:prstGeom prst="ellipse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48472" y="536752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072"/>
                </a:solidFill>
                <a:latin typeface="Calibri"/>
              </a:rPr>
              <a:t>전공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1392" y="498348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072"/>
                </a:solidFill>
                <a:latin typeface="Calibri"/>
              </a:rPr>
              <a:t>역량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54312" y="536752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072"/>
                </a:solidFill>
                <a:latin typeface="Calibri"/>
              </a:rPr>
              <a:t>직무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556869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6072"/>
                </a:solidFill>
                <a:latin typeface="Calibri"/>
              </a:rPr>
              <a:t>하위 역량 (IS_A)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85832" y="516636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전공 61 · 역량 120 · 직무 108</a:t>
            </a:r>
          </a:p>
          <a:p>
            <a:pPr algn="l"/>
            <a:r>
              <a:rPr sz="950" b="0">
                <a:solidFill>
                  <a:srgbClr val="5A6072"/>
                </a:solidFill>
                <a:latin typeface="Calibri"/>
              </a:rPr>
              <a:t>graph.json — Python dict, Neo4j 없이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쓴 것  </a:t>
            </a:r>
            <a:r>
              <a:rPr sz="1050" b="0">
                <a:solidFill>
                  <a:srgbClr val="5A6072"/>
                </a:solidFill>
                <a:latin typeface="Calibri"/>
              </a:rPr>
              <a:t>OpenAI gpt-4o-mini · LangChain (프롬프트 | 모델 | 스키마) · Pydantic · Flask + SSE(설명 문단 흘려보내기) · graph.json + Python dict · 평가셋 24건 자동 채점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