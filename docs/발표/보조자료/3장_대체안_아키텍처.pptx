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위 띠: 지도 만들기. 과목 3,829개와 공고 172개에서 AI가 역량 이름을 뽑고(277회, 캐시), 사전으로 이름을 통일해 graph.json 하나로 만든다. 아래 띠: 학생이 올 때마다. AI는 맨 앞(말→태그)과 맨 뒤(카드→말) 두 곳뿐, 가운데 전공 순위·직무·과목은 graph_store.py 가 지도를 읽어서 센다. 파일 이름은 상자 아래 작은 글씨 — 질문 오면 그걸로 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8574A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Overall Architecture — 지도를 한 번 만들고, 매번 읽는다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072"/>
                </a:solidFill>
                <a:latin typeface="Calibri"/>
              </a:rPr>
              <a:t>위: 미리 한 번 만드는 지도(오프라인)  ·  아래: 학생이 올 때마다 도는 순서(온라인)  ·  빨간 배지 = AI, 파란 배지 = 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072"/>
                </a:solidFill>
                <a:latin typeface="Calibri"/>
              </a:rPr>
              <a:t>LG CNS AI캠퍼스 · Knowledge Graph 과정 project - LG 직무 추천 AI Agent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000232" y="530352"/>
            <a:ext cx="219456" cy="0"/>
          </a:xfrm>
          <a:prstGeom prst="line">
            <a:avLst/>
          </a:prstGeom>
          <a:ln w="12700">
            <a:solidFill>
              <a:srgbClr val="1E276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1365992" y="530352"/>
            <a:ext cx="219456" cy="0"/>
          </a:xfrm>
          <a:prstGeom prst="line">
            <a:avLst/>
          </a:prstGeom>
          <a:ln w="12700">
            <a:solidFill>
              <a:srgbClr val="2F9E6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292840" y="603503"/>
            <a:ext cx="0" cy="146305"/>
          </a:xfrm>
          <a:prstGeom prst="line">
            <a:avLst/>
          </a:prstGeom>
          <a:ln w="12700">
            <a:solidFill>
              <a:srgbClr val="9AA3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72215" y="475488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37976" y="475488"/>
            <a:ext cx="109728" cy="109728"/>
          </a:xfrm>
          <a:prstGeom prst="ellipse">
            <a:avLst/>
          </a:prstGeom>
          <a:solidFill>
            <a:srgbClr val="E85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03736" y="475488"/>
            <a:ext cx="109728" cy="109728"/>
          </a:xfrm>
          <a:prstGeom prst="ellipse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54435" y="784555"/>
            <a:ext cx="76809" cy="76809"/>
          </a:xfrm>
          <a:prstGeom prst="ellipse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1691640"/>
            <a:ext cx="11274552" cy="2011680"/>
          </a:xfrm>
          <a:prstGeom prst="roundRect">
            <a:avLst>
              <a:gd name="adj" fmla="val 3000"/>
            </a:avLst>
          </a:prstGeom>
          <a:solidFill>
            <a:srgbClr val="F9FAFD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① 지도 만들기 — 오프라인</a:t>
            </a:r>
            <a:r>
              <a:rPr sz="1000" b="0">
                <a:solidFill>
                  <a:srgbClr val="5A6072"/>
                </a:solidFill>
                <a:latin typeface="Calibri"/>
              </a:rPr>
              <a:t>   갱신할 때 한 번 · LLM 277회 · 결과는 파일로 캐시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084831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148839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</a:rPr>
              <a:t>서울대 교육과정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377439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A6072"/>
                </a:solidFill>
                <a:latin typeface="Calibri"/>
              </a:rPr>
              <a:t>105개 전공 · 3,829과목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560320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AA3B2"/>
                </a:solidFill>
                <a:latin typeface="Calibri"/>
              </a:rPr>
              <a:t>대학알리미 → subject_cleaned.csv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83464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898648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</a:rPr>
              <a:t>LG 채용 공고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12724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A6072"/>
                </a:solidFill>
                <a:latin typeface="Calibri"/>
              </a:rPr>
              <a:t>9개 계열사 · 172개 직무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3101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AA3B2"/>
                </a:solidFill>
                <a:latin typeface="Calibri"/>
              </a:rPr>
              <a:t>lg_careers.py → data/raw 스냅샷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24912" y="2423160"/>
            <a:ext cx="402336" cy="0"/>
          </a:xfrm>
          <a:prstGeom prst="line">
            <a:avLst/>
          </a:prstGeom>
          <a:ln w="19050">
            <a:solidFill>
              <a:srgbClr val="9AA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724912" y="3172968"/>
            <a:ext cx="402336" cy="0"/>
          </a:xfrm>
          <a:prstGeom prst="line">
            <a:avLst/>
          </a:prstGeom>
          <a:ln w="19050">
            <a:solidFill>
              <a:srgbClr val="9AA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154680" y="214884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2276856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역량 이름 뽑기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2551176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A6072"/>
                </a:solidFill>
                <a:latin typeface="Calibri"/>
              </a:rPr>
              <a:t>과목명·공고 문장 → 역량 태그 (캐시)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3090672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E8574A"/>
                </a:solidFill>
                <a:latin typeface="Calibri"/>
              </a:rPr>
              <a:t>build_graph_majors.py · transform_v2.py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20640" y="2240280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E85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96712" y="2761488"/>
            <a:ext cx="402336" cy="0"/>
          </a:xfrm>
          <a:prstGeom prst="line">
            <a:avLst/>
          </a:prstGeom>
          <a:ln w="19050">
            <a:solidFill>
              <a:srgbClr val="9AA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126480" y="214884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E6F5EC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2276856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사전으로 이름 통일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551176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A6072"/>
                </a:solidFill>
                <a:latin typeface="Calibri"/>
              </a:rPr>
              <a:t>이름 139개 · 상하 관계 102개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090672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2F9E63"/>
                </a:solidFill>
                <a:latin typeface="Calibri"/>
              </a:rPr>
              <a:t>vocab.py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2240280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사전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668512" y="2761488"/>
            <a:ext cx="402336" cy="0"/>
          </a:xfrm>
          <a:prstGeom prst="line">
            <a:avLst/>
          </a:prstGeom>
          <a:ln w="19050">
            <a:solidFill>
              <a:srgbClr val="9AA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098280" y="214884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E8EFFB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19" y="227685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지도 완성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19" y="255117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A6072"/>
                </a:solidFill>
                <a:latin typeface="Calibri"/>
              </a:rPr>
              <a:t>전공 61 — 역량 120 — 직무 108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19" y="3090672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2F6FD6"/>
                </a:solidFill>
                <a:latin typeface="Calibri"/>
              </a:rPr>
              <a:t>build_graph_jobs.py → data/graph.json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27080" y="2240280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코드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372600" y="3401568"/>
            <a:ext cx="0" cy="969264"/>
          </a:xfrm>
          <a:prstGeom prst="line">
            <a:avLst/>
          </a:prstGeom>
          <a:ln w="19050">
            <a:prstDash val="dash"/>
            <a:solidFill>
              <a:srgbClr val="2F6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464040" y="3730752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F6FD6"/>
                </a:solidFill>
                <a:latin typeface="Calibri"/>
              </a:rPr>
              <a:t>이 지도를 읽는다 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3931920"/>
            <a:ext cx="11274552" cy="2148840"/>
          </a:xfrm>
          <a:prstGeom prst="roundRect">
            <a:avLst>
              <a:gd name="adj" fmla="val 3000"/>
            </a:avLst>
          </a:prstGeom>
          <a:solidFill>
            <a:srgbClr val="F9FAFD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4041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Calibri"/>
              </a:rPr>
              <a:t>② 지도 읽기 — 온라인</a:t>
            </a:r>
            <a:r>
              <a:rPr sz="1000" b="0">
                <a:solidFill>
                  <a:srgbClr val="5A6072"/>
                </a:solidFill>
                <a:latin typeface="Calibri"/>
              </a:rPr>
              <a:t>   학생 1명당 LLM 2~6회 · 판정은 LLM 0회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4389120"/>
            <a:ext cx="20116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45171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학생 이야기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479145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A6072"/>
                </a:solidFill>
                <a:latin typeface="Calibri"/>
              </a:rPr>
              <a:t>웹 채팅 · 6영역 적응형 질문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33095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AA3B2"/>
                </a:solidFill>
                <a:latin typeface="Calibri"/>
              </a:rPr>
              <a:t>webapp.py · interview.py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53512" y="4389120"/>
            <a:ext cx="2011680" cy="123444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44952" y="45171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역량 태그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44952" y="479145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A6072"/>
                </a:solidFill>
                <a:latin typeface="Calibri"/>
              </a:rPr>
              <a:t>말 → 사전에 있는 단어만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44952" y="533095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E8574A"/>
                </a:solidFill>
                <a:latin typeface="Calibri"/>
              </a:rPr>
              <a:t>app.py + user_analysis/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16552" y="4480559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E85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221224" y="4389120"/>
            <a:ext cx="2011680" cy="1234440"/>
          </a:xfrm>
          <a:prstGeom prst="roundRect">
            <a:avLst>
              <a:gd name="adj" fmla="val 8000"/>
            </a:avLst>
          </a:prstGeom>
          <a:solidFill>
            <a:srgbClr val="E8EFFB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12664" y="45171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전공 순위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12664" y="479145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A6072"/>
                </a:solidFill>
                <a:latin typeface="Calibri"/>
              </a:rPr>
              <a:t>61개 전부 비교 → 1위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12664" y="533095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2F6FD6"/>
                </a:solidFill>
                <a:latin typeface="Calibri"/>
              </a:rPr>
              <a:t>graph_store.py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684264" y="4480559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코드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488936" y="4389120"/>
            <a:ext cx="2011680" cy="1234440"/>
          </a:xfrm>
          <a:prstGeom prst="roundRect">
            <a:avLst>
              <a:gd name="adj" fmla="val 8000"/>
            </a:avLst>
          </a:prstGeom>
          <a:solidFill>
            <a:srgbClr val="E8EFFB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80376" y="45171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직무 · 과목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80376" y="479145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A6072"/>
                </a:solidFill>
                <a:latin typeface="Calibri"/>
              </a:rPr>
              <a:t>충족/부족 세기 · 다리 과목 3개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80376" y="533095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2F6FD6"/>
                </a:solidFill>
                <a:latin typeface="Calibri"/>
              </a:rPr>
              <a:t>graph_store.py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951976" y="4480559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코드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756648" y="4389120"/>
            <a:ext cx="2011680" cy="123444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48088" y="45171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카드 + 설명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48088" y="479145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A6072"/>
                </a:solidFill>
                <a:latin typeface="Calibri"/>
              </a:rPr>
              <a:t>숫자는 카드 · 말은 AI (SSE)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48088" y="533095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E8574A"/>
                </a:solidFill>
                <a:latin typeface="Calibri"/>
              </a:rPr>
              <a:t>app.py render / explain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1219688" y="4480559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E85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724912" y="5006340"/>
            <a:ext cx="201168" cy="0"/>
          </a:xfrm>
          <a:prstGeom prst="line">
            <a:avLst/>
          </a:prstGeom>
          <a:ln w="19050">
            <a:solidFill>
              <a:srgbClr val="9AA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992624" y="5006340"/>
            <a:ext cx="201168" cy="0"/>
          </a:xfrm>
          <a:prstGeom prst="line">
            <a:avLst/>
          </a:prstGeom>
          <a:ln w="19050">
            <a:solidFill>
              <a:srgbClr val="9AA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260336" y="5006340"/>
            <a:ext cx="201168" cy="0"/>
          </a:xfrm>
          <a:prstGeom prst="line">
            <a:avLst/>
          </a:prstGeom>
          <a:ln w="19050">
            <a:solidFill>
              <a:srgbClr val="9AA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528048" y="5006340"/>
            <a:ext cx="201168" cy="0"/>
          </a:xfrm>
          <a:prstGeom prst="line">
            <a:avLst/>
          </a:prstGeom>
          <a:ln w="19050">
            <a:solidFill>
              <a:srgbClr val="9AA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959352" y="5641848"/>
            <a:ext cx="0" cy="182880"/>
          </a:xfrm>
          <a:prstGeom prst="line">
            <a:avLst/>
          </a:prstGeom>
          <a:ln w="12700">
            <a:solidFill>
              <a:srgbClr val="9AA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1691640" y="5824728"/>
            <a:ext cx="2267712" cy="0"/>
          </a:xfrm>
          <a:prstGeom prst="line">
            <a:avLst/>
          </a:prstGeom>
          <a:ln w="12700">
            <a:solidFill>
              <a:srgbClr val="9AA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691640" y="5641848"/>
            <a:ext cx="0" cy="182880"/>
          </a:xfrm>
          <a:prstGeom prst="line">
            <a:avLst/>
          </a:prstGeom>
          <a:ln w="12700">
            <a:solidFill>
              <a:srgbClr val="9AA3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185415" y="5852160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A6072"/>
                </a:solidFill>
                <a:latin typeface="Calibri"/>
              </a:rPr>
              <a:t>태그 실패 시 되묻기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그래프 = </a:t>
            </a:r>
            <a:r>
              <a:rPr sz="1000" b="0">
                <a:solidFill>
                  <a:srgbClr val="5A6072"/>
                </a:solidFill>
                <a:latin typeface="Calibri"/>
              </a:rPr>
              <a:t>graph.json 파일 하나 + Python dict (Neo4j 없이)  ·  </a:t>
            </a:r>
            <a:r>
              <a:rPr sz="1000" b="1">
                <a:solidFill>
                  <a:srgbClr val="1E2761"/>
                </a:solidFill>
                <a:latin typeface="Calibri"/>
              </a:rPr>
              <a:t>웹 = </a:t>
            </a:r>
            <a:r>
              <a:rPr sz="1000" b="0">
                <a:solidFill>
                  <a:srgbClr val="5A6072"/>
                </a:solidFill>
                <a:latin typeface="Calibri"/>
              </a:rPr>
              <a:t>Flask, /api/interview/answer · /api/explain (SSE)  ·  </a:t>
            </a:r>
            <a:r>
              <a:rPr sz="1000" b="1">
                <a:solidFill>
                  <a:srgbClr val="1E2761"/>
                </a:solidFill>
                <a:latin typeface="Calibri"/>
              </a:rPr>
              <a:t>검사 = </a:t>
            </a:r>
            <a:r>
              <a:rPr sz="1000" b="0">
                <a:solidFill>
                  <a:srgbClr val="5A6072"/>
                </a:solidFill>
                <a:latin typeface="Calibri"/>
              </a:rPr>
              <a:t>check.py, 평가셋 24건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