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E8574A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기계공학</c:v>
                </c:pt>
                <c:pt idx="1">
                  <c:v>전기공학</c:v>
                </c:pt>
                <c:pt idx="2">
                  <c:v>데이터 분석</c:v>
                </c:pt>
                <c:pt idx="3">
                  <c:v>Python</c:v>
                </c:pt>
                <c:pt idx="4">
                  <c:v>머신러닝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15</c:v>
                </c:pt>
                <c:pt idx="2">
                  <c:v>13</c:v>
                </c:pt>
                <c:pt idx="3">
                  <c:v>11</c:v>
                </c:pt>
                <c:pt idx="4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CE3"/>
            </a:solidFill>
          </a:ln>
        </c:spPr>
        <c:txPr>
          <a:bodyPr/>
          <a:lstStyle/>
          <a:p>
            <a:pPr>
              <a:defRPr sz="1100">
                <a:solidFill>
                  <a:srgbClr val="1F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3A4FA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전기·정보공학부</c:v>
                </c:pt>
                <c:pt idx="1">
                  <c:v>기계공학부</c:v>
                </c:pt>
                <c:pt idx="2">
                  <c:v>컴퓨터공학부</c:v>
                </c:pt>
                <c:pt idx="3">
                  <c:v>스마트시스템과학과</c:v>
                </c:pt>
                <c:pt idx="4">
                  <c:v>재료공학부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32</c:v>
                </c:pt>
                <c:pt idx="2">
                  <c:v>31</c:v>
                </c:pt>
                <c:pt idx="3">
                  <c:v>31</c:v>
                </c:pt>
                <c:pt idx="4">
                  <c:v>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CE3"/>
            </a:solidFill>
          </a:ln>
        </c:spPr>
        <c:txPr>
          <a:bodyPr/>
          <a:lstStyle/>
          <a:p>
            <a:pPr>
              <a:defRPr sz="1100">
                <a:solidFill>
                  <a:srgbClr val="1F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'웹 검색 LLM이면 되지 않나?'에 대한 답. 왼쪽 두 차트는 검색으로는 못 만드는 집계 — 교육과정과 채용공고를 같은 어휘로 이어 둔 그래프에서 LLM 없이 즉시 센 것. 아래: 61개 전공 중 58개가 LG 신입 직무와 이어짐 / 그래프 없이 자료를 매번 LLM에 넣으면 요청당 약 115k 토큰, 그래프를 읽으면 약 1.4k / 챗봇이 통계학과 과목이라고 든 9개 중 교육과정에 실제 있는 건 수리통계 1·2, 회귀분석 및 실습 2개뿐.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줄을 먼저 인정하고 넘어갈 것: 넓게 묻는 건 검색 LLM이 낫고, 좁은 질문을 근거 있게 답하는 게 우리 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574A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지식그래프라서 답할 수 있는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72"/>
                </a:solidFill>
                <a:latin typeface="Calibri"/>
              </a:rPr>
              <a:t>어느 웹페이지에도 없는 답 — 두 출처를 이어 둔 그래프를 세어서 즉시 (LLM 0회)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072"/>
                </a:solidFill>
                <a:latin typeface="Calibri"/>
              </a:rPr>
              <a:t>LG CNS AI캠퍼스 · Knowledge Graph 과정 project - LG 직무 추천 AI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00232" y="530352"/>
            <a:ext cx="219456" cy="0"/>
          </a:xfrm>
          <a:prstGeom prst="line">
            <a:avLst/>
          </a:prstGeom>
          <a:ln w="12700">
            <a:solidFill>
              <a:srgbClr val="1E276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5992" y="530352"/>
            <a:ext cx="219456" cy="0"/>
          </a:xfrm>
          <a:prstGeom prst="line">
            <a:avLst/>
          </a:prstGeom>
          <a:ln w="12700">
            <a:solidFill>
              <a:srgbClr val="2F9E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292840" y="603503"/>
            <a:ext cx="0" cy="146305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72215" y="47548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37976" y="475488"/>
            <a:ext cx="109728" cy="109728"/>
          </a:xfrm>
          <a:prstGeom prst="ellipse">
            <a:avLst/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03736" y="475488"/>
            <a:ext cx="109728" cy="109728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54435" y="784555"/>
            <a:ext cx="76809" cy="76809"/>
          </a:xfrm>
          <a:prstGeom prst="ellipse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55321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56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신입 직무 75개가 가장 많이 요구하는 역량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30552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요구 역량(REQUIRES) 기준 · 직무 수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2423160"/>
          <a:ext cx="525780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99632" y="1691640"/>
            <a:ext cx="553212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856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LG 신입 직무와 가장 많이 이어지는 전공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130552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전공이 기르는 역량이 요구 역량과 겹치는 신입 직무 수 (IS_A 포함)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291072" y="2423160"/>
          <a:ext cx="525780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5120640"/>
            <a:ext cx="3657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852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LG 신입 직무와 이어지는 전공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77840"/>
            <a:ext cx="201168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58</a:t>
            </a:r>
            <a:r>
              <a:rPr sz="1300" b="0">
                <a:solidFill>
                  <a:srgbClr val="5A6072"/>
                </a:solidFill>
                <a:latin typeface="Calibri"/>
              </a:rPr>
              <a:t> / 61 전공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6053327"/>
            <a:ext cx="3200400" cy="91440"/>
          </a:xfrm>
          <a:prstGeom prst="roundRect">
            <a:avLst>
              <a:gd name="adj" fmla="val 50000"/>
            </a:avLst>
          </a:prstGeom>
          <a:solidFill>
            <a:srgbClr val="DC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6053327"/>
            <a:ext cx="3043003" cy="91440"/>
          </a:xfrm>
          <a:prstGeom prst="roundRect">
            <a:avLst>
              <a:gd name="adj" fmla="val 50000"/>
            </a:avLst>
          </a:prstGeom>
          <a:solidFill>
            <a:srgbClr val="3A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72414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072"/>
                </a:solidFill>
                <a:latin typeface="Calibri"/>
              </a:rPr>
              <a:t>안 이어지는 전공 3개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65676" y="5120640"/>
            <a:ext cx="3657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4276" y="52852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질문 1건에 LLM이 읽는 양 (토큰)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4276" y="5632704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자료를 매번 넣기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74436" y="5678424"/>
            <a:ext cx="1554480" cy="146304"/>
          </a:xfrm>
          <a:prstGeom prst="roundRect">
            <a:avLst>
              <a:gd name="adj" fmla="val 30000"/>
            </a:avLst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2067" y="5632704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Calibri"/>
              </a:rPr>
              <a:t>115k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4276" y="594360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072"/>
                </a:solidFill>
                <a:latin typeface="Calibri"/>
              </a:rPr>
              <a:t>그래프 읽기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74436" y="5989320"/>
            <a:ext cx="36576" cy="146304"/>
          </a:xfrm>
          <a:prstGeom prst="roundRect">
            <a:avLst>
              <a:gd name="adj" fmla="val 30000"/>
            </a:avLst>
          </a:prstGeom>
          <a:solidFill>
            <a:srgbClr val="3A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84164" y="5943600"/>
            <a:ext cx="914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430"/>
                </a:solidFill>
                <a:latin typeface="Calibri"/>
              </a:rPr>
              <a:t>1.4k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5120640"/>
            <a:ext cx="3657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52852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챗봇이 든 '통계학과 과목' 9개 중 실재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5577840"/>
            <a:ext cx="128016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Calibri"/>
              </a:rPr>
              <a:t>2</a:t>
            </a:r>
            <a:r>
              <a:rPr sz="1300" b="0">
                <a:solidFill>
                  <a:srgbClr val="5A6072"/>
                </a:solidFill>
                <a:latin typeface="Calibri"/>
              </a:rPr>
              <a:t> / 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45752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01784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57816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13848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69880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725912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81944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237976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494008" y="5724144"/>
            <a:ext cx="2011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9AA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6016752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072"/>
                </a:solidFill>
                <a:latin typeface="Calibri"/>
              </a:rPr>
              <a:t>우리 카드의 과목·직무명은 전부 실재 (자동 확인)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574A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"웹 검색 되는 LLM이면 되지 않나?"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72"/>
                </a:solidFill>
                <a:latin typeface="Calibri"/>
              </a:rPr>
              <a:t>검색은 문서를 찾아 주고, 우리는 문서 두 뭉치를 미리 이어 둔 것 — 좁은 질문을 근거 있게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072"/>
                </a:solidFill>
                <a:latin typeface="Calibri"/>
              </a:rPr>
              <a:t>LG CNS AI캠퍼스 · Knowledge Graph 과정 project - LG 직무 추천 AI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00232" y="530352"/>
            <a:ext cx="219456" cy="0"/>
          </a:xfrm>
          <a:prstGeom prst="line">
            <a:avLst/>
          </a:prstGeom>
          <a:ln w="12700">
            <a:solidFill>
              <a:srgbClr val="1E276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1365992" y="530352"/>
            <a:ext cx="219456" cy="0"/>
          </a:xfrm>
          <a:prstGeom prst="line">
            <a:avLst/>
          </a:prstGeom>
          <a:ln w="12700">
            <a:solidFill>
              <a:srgbClr val="2F9E6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292840" y="603503"/>
            <a:ext cx="0" cy="146305"/>
          </a:xfrm>
          <a:prstGeom prst="line">
            <a:avLst/>
          </a:prstGeom>
          <a:ln w="12700">
            <a:solidFill>
              <a:srgbClr val="9AA3B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872215" y="475488"/>
            <a:ext cx="109728" cy="1097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37976" y="475488"/>
            <a:ext cx="109728" cy="109728"/>
          </a:xfrm>
          <a:prstGeom prst="ellipse">
            <a:avLst/>
          </a:prstGeom>
          <a:solidFill>
            <a:srgbClr val="E8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03736" y="475488"/>
            <a:ext cx="109728" cy="109728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54435" y="784555"/>
            <a:ext cx="76809" cy="76809"/>
          </a:xfrm>
          <a:prstGeom prst="ellipse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691640"/>
          <a:ext cx="11274552" cy="4389120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4206240"/>
                <a:gridCol w="551383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45720" marB="45720" anchor="ctr">
                    <a:solidFill>
                      <a:srgbClr val="1E2761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웹 검색 LLM</a:t>
                      </a:r>
                    </a:p>
                  </a:txBody>
                  <a:tcPr marL="109728" marR="109728" marT="45720" marB="45720" anchor="ctr">
                    <a:solidFill>
                      <a:srgbClr val="1E2761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지식그래프 (우리)</a:t>
                      </a:r>
                    </a:p>
                  </a:txBody>
                  <a:tcPr marL="109728" marR="109728" marT="45720" marB="45720" anchor="ctr">
                    <a:solidFill>
                      <a:srgbClr val="1E2761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비교 범위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떠오르는 전공 몇 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전공 61개 · 신입 직무 75개 전수 비교 → 순위 · %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두 출처 잇기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페이지 단위로 읽음 — 교육과정과 채용공고를 같은 말로 잇지 못함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사전 139개 + 상하 계층 102개로 미리 이어 둠 (공통 역량 8 → 30, 직무 연결 0 → 75)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근거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과목명을 지어냄 — 통계학과 과목 9개 중 실재 2개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카드의 모든 과목·직무 이름이 데이터에 있음 + 출처(대학알리미 · LG Careers)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재현성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실행마다 답이 다름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같은 역량 태그 → 항상 같은 답 (판정은 계산) · 평가셋 24/24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거꾸로 묻기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직무 → 전공은 새로 검색, 매번 다름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같은 그래프를 반대로 읽음 (--job)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질문 1건 비용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자료를 다 넣으면 ≈115k 토큰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≈1.4k 토큰 · LLM은 태그 1회 + 설명 1회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430"/>
                          </a:solidFill>
                          <a:latin typeface="Calibri"/>
                        </a:rPr>
                        <a:t>범위 (솔직히)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전국 대학 · 전 기업 — 넓은 질문은 이쪽이 낫다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430"/>
                          </a:solidFill>
                          <a:latin typeface="Calibri"/>
                        </a:rPr>
                        <a:t>서울대 1개교 · LG 신입 공고 스냅샷 — 좁지만 검증 가능</a:t>
                      </a:r>
                    </a:p>
                  </a:txBody>
                  <a:tcPr marL="109728" marR="109728" marT="45720" marB="45720" anchor="ctr">
                    <a:solidFill>
                      <a:srgbClr val="EEF1FB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6172200"/>
            <a:ext cx="11274552" cy="45720"/>
          </a:xfrm>
          <a:prstGeom prst="rect">
            <a:avLst/>
          </a:prstGeom>
          <a:solidFill>
            <a:srgbClr val="D9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236208"/>
            <a:ext cx="11247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6072"/>
                </a:solidFill>
                <a:latin typeface="Calibri"/>
              </a:rPr>
              <a:t>숫자 출처: data/graph.json 집계 · docs/20260916_발표_수치_4-5장.md(토큰 실측) · 7장 챗봇 캡처 대조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