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notesMaster" Target="notesMasters/notesMaster1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200">
                <a:solidFill>
                  <a:srgbClr val="E5E7EB"/>
                </a:solidFill>
                <a:latin typeface="Malgun Gothic"/>
              </a:rPr>
              <a:t>요청당 입력 토큰 (gpt-4o-mini 토크나이저 실측)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요청당 입력 토큰</c:v>
                </c:pt>
              </c:strCache>
            </c:strRef>
          </c:tx>
          <c:spPr>
            <a:solidFill>
              <a:srgbClr val="5EEAD4"/>
            </a:solidFill>
          </c:spPr>
          <c:dPt>
            <c:idx val="2"/>
            <c:spPr>
              <a:solidFill>
                <a:srgbClr val="34D399"/>
              </a:solidFill>
            </c:spPr>
          </c:dPt>
          <c:dPt>
            <c:idx val="1"/>
            <c:spPr>
              <a:solidFill>
                <a:srgbClr val="FB7185"/>
              </a:solidFill>
            </c:spPr>
          </c:dPt>
          <c:cat>
            <c:strRef>
              <c:f>Sheet1!$A$2:$A$4</c:f>
              <c:strCache>
                <c:ptCount val="3"/>
                <c:pt idx="0">
                  <c:v>A. 챗봇에 그냥 묻기</c:v>
                </c:pt>
                <c:pt idx="1">
                  <c:v>B. 데이터 통째로 넣고 묻기</c:v>
                </c:pt>
                <c:pt idx="2">
                  <c:v>C. 우리 (지도 읽기)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500</c:v>
                </c:pt>
                <c:pt idx="1">
                  <c:v>115000</c:v>
                </c:pt>
                <c:pt idx="2">
                  <c:v>1400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1100">
                  <a:solidFill>
                    <a:srgbClr val="E5E7EB"/>
                  </a:solidFill>
                  <a:latin typeface="Malgun Gothic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D1D5DB"/>
            </a:solidFill>
          </a:ln>
        </c:spPr>
        <c:txPr>
          <a:bodyPr/>
          <a:lstStyle/>
          <a:p>
            <a:pPr>
              <a:defRPr sz="1100">
                <a:solidFill>
                  <a:srgbClr val="E5E7EB"/>
                </a:solidFill>
                <a:latin typeface="Malgun Gothic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>
          <c:spPr>
            <a:ln>
              <a:solidFill>
                <a:srgbClr val="E5E7EB"/>
              </a:solidFill>
            </a:ln>
          </c:spPr>
        </c:majorGridlines>
        <c:numFmt formatCode="#,##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900">
                <a:solidFill>
                  <a:srgbClr val="94A3B8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[시행착오 ① — LLM은 시키면 채운다] 증상 → 원인 → 어떻게 알아챘나 → 바꾼 것 순서로 1분. 마지막에 배운 문장 한 줄을 그대로 읽는다: LLM에게 "없다"라고 말할 권리를 주지 않으면, 있는 것처럼 말한다.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[시행착오 ② — 글자가 같아야 이어진다] 증상 → 원인 → 어떻게 알아챘나 → 바꾼 것 순서로 1분. 마지막에 배운 문장 한 줄을 그대로 읽는다: 온톨로지는 거창한 게 아니라 "A는 B의 한 종류" 100줄이었다. 대신 방향(위로만)을 지키는 게 전부.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[시행착오 ④ — 프롬프트 한 단어] 증상 → 원인 → 어떻게 알아챘나 → 바꾼 것 순서로 1분. 마지막에 배운 문장 한 줄을 그대로 읽는다: 결정(약점을 쓰지 않는다)과 구현(그 단어를 지운다)은 다른 일이었다. 첫 진단은 틀렸고, diff가 맞았다.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[시행착오 ⑤ — 대화는 입력, 판정은 도구] 증상 → 원인 → 어떻게 알아챘나 → 바꾼 것 순서로 1분. 마지막에 배운 문장 한 줄을 그대로 읽는다: 더 많이 물으면 더 잘 아는 게 아니라, 더 많이 흔들렸다.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[시행착오 ⑥ — 넷이 한 파일을 고치면] 증상 → 원인 → 어떻게 알아챘나 → 바꾼 것 순서로 1분. 마지막에 배운 문장 한 줄을 그대로 읽는다: 역할을 나눠도 파일은 겹친다. 결정 기록(문서)과 회귀 숫자(리포트)가 없었으면 누가 맞는지 다투다 끝났을 것이다.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3" name="Connector 2"/>
          <p:cNvCxnSpPr/>
          <p:nvPr/>
        </p:nvCxnSpPr>
        <p:spPr>
          <a:xfrm flipV="1">
            <a:off x="9039758" y="1267358"/>
            <a:ext cx="1307592" cy="594360"/>
          </a:xfrm>
          <a:prstGeom prst="line">
            <a:avLst/>
          </a:prstGeom>
          <a:ln w="4953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0347350" y="1267358"/>
            <a:ext cx="1188720" cy="713232"/>
          </a:xfrm>
          <a:prstGeom prst="line">
            <a:avLst/>
          </a:prstGeom>
          <a:ln w="4953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Oval 4"/>
          <p:cNvSpPr/>
          <p:nvPr/>
        </p:nvSpPr>
        <p:spPr>
          <a:xfrm>
            <a:off x="8778240" y="1600200"/>
            <a:ext cx="523036" cy="523036"/>
          </a:xfrm>
          <a:prstGeom prst="ellipse">
            <a:avLst/>
          </a:prstGeom>
          <a:solidFill>
            <a:srgbClr val="5EEA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085832" y="1005840"/>
            <a:ext cx="523036" cy="523036"/>
          </a:xfrm>
          <a:prstGeom prst="ellipse">
            <a:avLst/>
          </a:prstGeom>
          <a:solidFill>
            <a:srgbClr val="FB7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274552" y="1719072"/>
            <a:ext cx="523036" cy="523036"/>
          </a:xfrm>
          <a:prstGeom prst="ellipse">
            <a:avLst/>
          </a:prstGeom>
          <a:solidFill>
            <a:srgbClr val="5EEA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371600"/>
            <a:ext cx="7863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94A3B8"/>
                </a:solidFill>
                <a:latin typeface="Malgun Gothic"/>
              </a:rPr>
              <a:t>LG CNS AI캠퍼스 · Knowledge Graph 과정 · 3주차 미니 프로젝트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920240"/>
            <a:ext cx="841248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400" b="1" i="0">
                <a:solidFill>
                  <a:srgbClr val="F8FAFC"/>
                </a:solidFill>
                <a:latin typeface="Malgun Gothic"/>
              </a:rPr>
              <a:t>역량 경로 추천</a:t>
            </a:r>
          </a:p>
          <a:p>
            <a:pPr algn="l">
              <a:lnSpc>
                <a:spcPct val="115000"/>
              </a:lnSpc>
            </a:pPr>
            <a:r>
              <a:rPr sz="2400" b="0" i="0">
                <a:solidFill>
                  <a:srgbClr val="F8FAFC"/>
                </a:solidFill>
                <a:latin typeface="Malgun Gothic"/>
              </a:rPr>
              <a:t>전공 ↔ 역량 ↔ LG 계열사 신입 직무 지식그래프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794760"/>
            <a:ext cx="8686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94A3B8"/>
                </a:solidFill>
                <a:latin typeface="Malgun Gothic"/>
              </a:rPr>
              <a:t>"좋아하는 것"에서 "첫 직장"까지 — </a:t>
            </a:r>
            <a:r>
              <a:rPr sz="1800" b="1" i="0">
                <a:solidFill>
                  <a:srgbClr val="FB7185"/>
                </a:solidFill>
                <a:latin typeface="Malgun Gothic"/>
              </a:rPr>
              <a:t>지어내지 않고 데이터로 잇기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5120640"/>
            <a:ext cx="8686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94A3B8"/>
                </a:solidFill>
                <a:latin typeface="Malgun Gothic"/>
              </a:rPr>
              <a:t>무엇을 만들었나보다 </a:t>
            </a:r>
            <a:r>
              <a:rPr sz="1400" b="1" i="0">
                <a:solidFill>
                  <a:srgbClr val="F8FAFC"/>
                </a:solidFill>
                <a:latin typeface="Malgun Gothic"/>
              </a:rPr>
              <a:t>무엇이 틀렸고 어떻게 알아챘나</a:t>
            </a:r>
            <a:r>
              <a:rPr sz="1400" b="0" i="0">
                <a:solidFill>
                  <a:srgbClr val="94A3B8"/>
                </a:solidFill>
                <a:latin typeface="Malgun Gothic"/>
              </a:rPr>
              <a:t>에 대한 발표입니다</a:t>
            </a:r>
          </a:p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94A3B8"/>
                </a:solidFill>
                <a:latin typeface="Malgun Gothic"/>
              </a:rPr>
              <a:t>팀 4명 · 2026-09-14 ~ 09-18 · 서울대 교육과정 × LG 채용 공고 · 발표 2026-09-18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8778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E5E7EB"/>
                </a:solidFill>
                <a:latin typeface="Malgun Gothic"/>
              </a:rPr>
              <a:t>이 발표의 구성 — 성과 두 장, 시행착오 여섯 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78992"/>
            <a:ext cx="9418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94A3B8"/>
                </a:solidFill>
                <a:latin typeface="Malgun Gothic"/>
              </a:rPr>
              <a:t>각 시행착오는 같은 틀로: 증상 → 원인 → 어떻게 알아챘나 → 바꾼 것 → 배운 문장 한 줄</a:t>
            </a:r>
          </a:p>
        </p:txBody>
      </p:sp>
      <p:cxnSp>
        <p:nvCxnSpPr>
          <p:cNvPr id="5" name="Connector 4"/>
          <p:cNvCxnSpPr/>
          <p:nvPr/>
        </p:nvCxnSpPr>
        <p:spPr>
          <a:xfrm flipV="1">
            <a:off x="10651845" y="593445"/>
            <a:ext cx="452628" cy="205740"/>
          </a:xfrm>
          <a:prstGeom prst="line">
            <a:avLst/>
          </a:prstGeom>
          <a:ln w="17145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1104473" y="593445"/>
            <a:ext cx="411480" cy="246888"/>
          </a:xfrm>
          <a:prstGeom prst="line">
            <a:avLst/>
          </a:prstGeom>
          <a:ln w="17145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10561320" y="708660"/>
            <a:ext cx="181051" cy="181051"/>
          </a:xfrm>
          <a:prstGeom prst="ellipse">
            <a:avLst/>
          </a:prstGeom>
          <a:solidFill>
            <a:srgbClr val="5EEA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013948" y="502920"/>
            <a:ext cx="181051" cy="181051"/>
          </a:xfrm>
          <a:prstGeom prst="ellipse">
            <a:avLst/>
          </a:prstGeom>
          <a:solidFill>
            <a:srgbClr val="FB7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425428" y="749808"/>
            <a:ext cx="181051" cy="181051"/>
          </a:xfrm>
          <a:prstGeom prst="ellipse">
            <a:avLst/>
          </a:prstGeom>
          <a:solidFill>
            <a:srgbClr val="5EEA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155680" y="644652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94A3B8"/>
                </a:solidFill>
                <a:latin typeface="Arial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94A3B8"/>
                </a:solidFill>
                <a:latin typeface="Malgun Gothic"/>
              </a:rPr>
              <a:t>역량 경로 추천 — 전공 ↔ 역량 ↔ LG 계열사 신입 직무 지식그래프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1828800"/>
            <a:ext cx="3520440" cy="155448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Oval 12"/>
          <p:cNvSpPr/>
          <p:nvPr/>
        </p:nvSpPr>
        <p:spPr>
          <a:xfrm>
            <a:off x="749808" y="1975104"/>
            <a:ext cx="384048" cy="384048"/>
          </a:xfrm>
          <a:prstGeom prst="ellipse">
            <a:avLst/>
          </a:prstGeom>
          <a:solidFill>
            <a:srgbClr val="5EEA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61872" y="2020824"/>
            <a:ext cx="2606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5EEAD4"/>
                </a:solidFill>
                <a:latin typeface="Malgun Gothic"/>
              </a:rPr>
              <a:t>LLM은 시키면 채운다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2496312"/>
            <a:ext cx="3063240" cy="7498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E5E7EB"/>
                </a:solidFill>
                <a:latin typeface="Malgun Gothic"/>
              </a:rPr>
              <a:t>첫 배치 102개 중 22개 · "없으면 없다"를 허용하지 않으면 지어낸다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97679" y="1828800"/>
            <a:ext cx="3520440" cy="155448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Oval 16"/>
          <p:cNvSpPr/>
          <p:nvPr/>
        </p:nvSpPr>
        <p:spPr>
          <a:xfrm>
            <a:off x="4498847" y="1975104"/>
            <a:ext cx="384048" cy="384048"/>
          </a:xfrm>
          <a:prstGeom prst="ellipse">
            <a:avLst/>
          </a:prstGeom>
          <a:solidFill>
            <a:srgbClr val="5EEA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10912" y="2020824"/>
            <a:ext cx="2606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5EEAD4"/>
                </a:solidFill>
                <a:latin typeface="Malgun Gothic"/>
              </a:rPr>
              <a:t>글자가 같아야 이어진다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26279" y="2496312"/>
            <a:ext cx="3063240" cy="7498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E5E7EB"/>
                </a:solidFill>
                <a:latin typeface="Malgun Gothic"/>
              </a:rPr>
              <a:t>공통 역량 8개에서 멈춤 → 통제 어휘 + IS_A 한 단계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46719" y="1828800"/>
            <a:ext cx="3520440" cy="155448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Oval 20"/>
          <p:cNvSpPr/>
          <p:nvPr/>
        </p:nvSpPr>
        <p:spPr>
          <a:xfrm>
            <a:off x="8247888" y="1975104"/>
            <a:ext cx="384048" cy="384048"/>
          </a:xfrm>
          <a:prstGeom prst="ellipse">
            <a:avLst/>
          </a:prstGeom>
          <a:solidFill>
            <a:srgbClr val="5EEA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59951" y="2020824"/>
            <a:ext cx="2606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5EEAD4"/>
                </a:solidFill>
                <a:latin typeface="Malgun Gothic"/>
              </a:rPr>
              <a:t>점수식은 정답지로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75319" y="2496312"/>
            <a:ext cx="3063240" cy="7498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E5E7EB"/>
                </a:solidFill>
                <a:latin typeface="Malgun Gothic"/>
              </a:rPr>
              <a:t>점수식 3번 교체 · 평가셋 24건 · 매칭 동결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3657600"/>
            <a:ext cx="3520440" cy="155448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Oval 24"/>
          <p:cNvSpPr/>
          <p:nvPr/>
        </p:nvSpPr>
        <p:spPr>
          <a:xfrm>
            <a:off x="749808" y="3803904"/>
            <a:ext cx="384048" cy="384048"/>
          </a:xfrm>
          <a:prstGeom prst="ellipse">
            <a:avLst/>
          </a:prstGeom>
          <a:solidFill>
            <a:srgbClr val="5EEA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61872" y="3849624"/>
            <a:ext cx="2606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5EEAD4"/>
                </a:solidFill>
                <a:latin typeface="Malgun Gothic"/>
              </a:rPr>
              <a:t>프롬프트 한 단어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4325112"/>
            <a:ext cx="3063240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E5E7EB"/>
                </a:solidFill>
                <a:latin typeface="Malgun Gothic"/>
              </a:rPr>
              <a:t>"명확하게" 한 단어와 라벨 하나로 결과가 흔들린 이야기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297679" y="3657600"/>
            <a:ext cx="3520440" cy="155448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Oval 28"/>
          <p:cNvSpPr/>
          <p:nvPr/>
        </p:nvSpPr>
        <p:spPr>
          <a:xfrm>
            <a:off x="4498847" y="3803904"/>
            <a:ext cx="384048" cy="384048"/>
          </a:xfrm>
          <a:prstGeom prst="ellipse">
            <a:avLst/>
          </a:prstGeom>
          <a:solidFill>
            <a:srgbClr val="5EEA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10912" y="3849624"/>
            <a:ext cx="2606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5EEAD4"/>
                </a:solidFill>
                <a:latin typeface="Malgun Gothic"/>
              </a:rPr>
              <a:t>대화는 입력, 판정은 도구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26279" y="4325112"/>
            <a:ext cx="3063240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E5E7EB"/>
                </a:solidFill>
                <a:latin typeface="Malgun Gothic"/>
              </a:rPr>
              <a:t>7영역 대화 20회 → 6회 · 더 물으면 더 흔들렸다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046719" y="3657600"/>
            <a:ext cx="3520440" cy="155448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Oval 32"/>
          <p:cNvSpPr/>
          <p:nvPr/>
        </p:nvSpPr>
        <p:spPr>
          <a:xfrm>
            <a:off x="8247888" y="3803904"/>
            <a:ext cx="384048" cy="384048"/>
          </a:xfrm>
          <a:prstGeom prst="ellipse">
            <a:avLst/>
          </a:prstGeom>
          <a:solidFill>
            <a:srgbClr val="5EEA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759951" y="3849624"/>
            <a:ext cx="2606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5EEAD4"/>
                </a:solidFill>
                <a:latin typeface="Malgun Gothic"/>
              </a:rPr>
              <a:t>넷이 한 파일을 고치면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75319" y="4325112"/>
            <a:ext cx="3063240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E5E7EB"/>
                </a:solidFill>
                <a:latin typeface="Malgun Gothic"/>
              </a:rPr>
              <a:t>동시 편집 충돌 3회 · 사라진 28줄 · 문서와 숫자가 구했다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" y="57150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94A3B8"/>
                </a:solidFill>
                <a:latin typeface="Malgun Gothic"/>
              </a:rPr>
              <a:t>앞뒤로: 무엇을 만들었나(30초 데모·재료) · 챗봇 대조 실험 · 한계 · 다른 팀에 묻고 싶은 것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2801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 i="0">
                <a:solidFill>
                  <a:srgbClr val="1E293B"/>
                </a:solidFill>
                <a:latin typeface="Arial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17320" y="502920"/>
            <a:ext cx="8778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E5E7EB"/>
                </a:solidFill>
                <a:latin typeface="Malgun Gothic"/>
              </a:rPr>
              <a:t>무엇을 만들었나 — 한 문장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078992"/>
            <a:ext cx="9418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94A3B8"/>
                </a:solidFill>
                <a:latin typeface="Malgun Gothic"/>
              </a:rPr>
              <a:t>고등학생이 "이런 걸 좋아하고 잘해요"라고 말하면, "이 전공에 가서 이 과목을 듣고 LG의 이 일을 할 수 있어요"라고 근거와 함께 답한다</a:t>
            </a:r>
          </a:p>
        </p:txBody>
      </p:sp>
      <p:cxnSp>
        <p:nvCxnSpPr>
          <p:cNvPr id="6" name="Connector 5"/>
          <p:cNvCxnSpPr/>
          <p:nvPr/>
        </p:nvCxnSpPr>
        <p:spPr>
          <a:xfrm flipV="1">
            <a:off x="10651845" y="593445"/>
            <a:ext cx="452628" cy="205740"/>
          </a:xfrm>
          <a:prstGeom prst="line">
            <a:avLst/>
          </a:prstGeom>
          <a:ln w="17145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1104473" y="593445"/>
            <a:ext cx="411480" cy="246888"/>
          </a:xfrm>
          <a:prstGeom prst="line">
            <a:avLst/>
          </a:prstGeom>
          <a:ln w="17145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Oval 7"/>
          <p:cNvSpPr/>
          <p:nvPr/>
        </p:nvSpPr>
        <p:spPr>
          <a:xfrm>
            <a:off x="10561320" y="708660"/>
            <a:ext cx="181051" cy="181051"/>
          </a:xfrm>
          <a:prstGeom prst="ellipse">
            <a:avLst/>
          </a:prstGeom>
          <a:solidFill>
            <a:srgbClr val="5EEA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013948" y="502920"/>
            <a:ext cx="181051" cy="181051"/>
          </a:xfrm>
          <a:prstGeom prst="ellipse">
            <a:avLst/>
          </a:prstGeom>
          <a:solidFill>
            <a:srgbClr val="FB7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425428" y="749808"/>
            <a:ext cx="181051" cy="181051"/>
          </a:xfrm>
          <a:prstGeom prst="ellipse">
            <a:avLst/>
          </a:prstGeom>
          <a:solidFill>
            <a:srgbClr val="5EEA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155680" y="644652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94A3B8"/>
                </a:solidFill>
                <a:latin typeface="Arial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94A3B8"/>
                </a:solidFill>
                <a:latin typeface="Malgun Gothic"/>
              </a:rPr>
              <a:t>역량 경로 추천 — 전공 ↔ 역량 ↔ LG 계열사 신입 직무 지식그래프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2011680"/>
            <a:ext cx="2011680" cy="146304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Oval 13"/>
          <p:cNvSpPr/>
          <p:nvPr/>
        </p:nvSpPr>
        <p:spPr>
          <a:xfrm>
            <a:off x="1371600" y="1810512"/>
            <a:ext cx="365760" cy="365760"/>
          </a:xfrm>
          <a:prstGeom prst="ellipse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2331720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E5E7EB"/>
                </a:solidFill>
                <a:latin typeface="Malgun Gothic"/>
              </a:rPr>
              <a:t>학생의 이야기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2743200"/>
            <a:ext cx="17373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94A3B8"/>
                </a:solidFill>
                <a:latin typeface="Malgun Gothic"/>
              </a:rPr>
              <a:t>자기소개 · 대화
또는 질문 3개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2587752" y="2743200"/>
            <a:ext cx="265176" cy="0"/>
          </a:xfrm>
          <a:prstGeom prst="line">
            <a:avLst/>
          </a:prstGeom>
          <a:ln w="2540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2880360" y="2011680"/>
            <a:ext cx="2011680" cy="146304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Oval 18"/>
          <p:cNvSpPr/>
          <p:nvPr/>
        </p:nvSpPr>
        <p:spPr>
          <a:xfrm>
            <a:off x="3703320" y="1810512"/>
            <a:ext cx="365760" cy="365760"/>
          </a:xfrm>
          <a:prstGeom prst="ellipse">
            <a:avLst/>
          </a:prstGeom>
          <a:solidFill>
            <a:srgbClr val="5EEA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017520" y="2331720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E5E7EB"/>
                </a:solidFill>
                <a:latin typeface="Malgun Gothic"/>
              </a:rPr>
              <a:t>역량 태그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17520" y="2743200"/>
            <a:ext cx="17373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94A3B8"/>
                </a:solidFill>
                <a:latin typeface="Malgun Gothic"/>
              </a:rPr>
              <a:t>사전에 있는 단어로만
예) 데이터 분석, 통계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4919472" y="2743200"/>
            <a:ext cx="265176" cy="0"/>
          </a:xfrm>
          <a:prstGeom prst="line">
            <a:avLst/>
          </a:prstGeom>
          <a:ln w="2540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5212080" y="2011680"/>
            <a:ext cx="2011680" cy="146304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Oval 23"/>
          <p:cNvSpPr/>
          <p:nvPr/>
        </p:nvSpPr>
        <p:spPr>
          <a:xfrm>
            <a:off x="6035040" y="1810512"/>
            <a:ext cx="365760" cy="365760"/>
          </a:xfrm>
          <a:prstGeom prst="ellipse">
            <a:avLst/>
          </a:prstGeom>
          <a:solidFill>
            <a:srgbClr val="5EEA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349240" y="2331720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E5E7EB"/>
                </a:solidFill>
                <a:latin typeface="Malgun Gothic"/>
              </a:rPr>
              <a:t>전공 1위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49240" y="2743200"/>
            <a:ext cx="17373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94A3B8"/>
                </a:solidFill>
                <a:latin typeface="Malgun Gothic"/>
              </a:rPr>
              <a:t>전공 61개 전부 비교
예) 통계학과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251192" y="2743200"/>
            <a:ext cx="265176" cy="0"/>
          </a:xfrm>
          <a:prstGeom prst="line">
            <a:avLst/>
          </a:prstGeom>
          <a:ln w="2540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7543800" y="2011680"/>
            <a:ext cx="2011680" cy="146304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Oval 28"/>
          <p:cNvSpPr/>
          <p:nvPr/>
        </p:nvSpPr>
        <p:spPr>
          <a:xfrm>
            <a:off x="8366760" y="1810512"/>
            <a:ext cx="365760" cy="365760"/>
          </a:xfrm>
          <a:prstGeom prst="ellipse">
            <a:avLst/>
          </a:prstGeom>
          <a:solidFill>
            <a:srgbClr val="5EEA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80960" y="2331720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E5E7EB"/>
                </a:solidFill>
                <a:latin typeface="Malgun Gothic"/>
              </a:rPr>
              <a:t>직무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680960" y="2743200"/>
            <a:ext cx="17373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94A3B8"/>
                </a:solidFill>
                <a:latin typeface="Malgun Gothic"/>
              </a:rPr>
              <a:t>전공이 기르는 역량으로
예) LGES 소재개발AX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9582911" y="2743200"/>
            <a:ext cx="265177" cy="0"/>
          </a:xfrm>
          <a:prstGeom prst="line">
            <a:avLst/>
          </a:prstGeom>
          <a:ln w="2540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9875520" y="2011680"/>
            <a:ext cx="2011680" cy="146304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Oval 33"/>
          <p:cNvSpPr/>
          <p:nvPr/>
        </p:nvSpPr>
        <p:spPr>
          <a:xfrm>
            <a:off x="10698480" y="1810512"/>
            <a:ext cx="365760" cy="365760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012680" y="2331720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E5E7EB"/>
                </a:solidFill>
                <a:latin typeface="Malgun Gothic"/>
              </a:rPr>
              <a:t>과목 3개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012680" y="2743200"/>
            <a:ext cx="17373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94A3B8"/>
                </a:solidFill>
                <a:latin typeface="Malgun Gothic"/>
              </a:rPr>
              <a:t>전공과 직무를 잇는 다리
예) 데이터마이닝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" y="38404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5EEAD4"/>
                </a:solidFill>
                <a:latin typeface="Malgun Gothic"/>
              </a:rPr>
              <a:t>지도(지식그래프) 위에서만 답을 찾는다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48640" y="4297680"/>
            <a:ext cx="5394960" cy="137160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Oval 38"/>
          <p:cNvSpPr/>
          <p:nvPr/>
        </p:nvSpPr>
        <p:spPr>
          <a:xfrm>
            <a:off x="749808" y="4443984"/>
            <a:ext cx="384048" cy="384048"/>
          </a:xfrm>
          <a:prstGeom prst="ellipse">
            <a:avLst/>
          </a:prstGeom>
          <a:solidFill>
            <a:srgbClr val="5EEA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=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261872" y="4489704"/>
            <a:ext cx="4480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5EEAD4"/>
                </a:solidFill>
                <a:latin typeface="Malgun Gothic"/>
              </a:rPr>
              <a:t>판정은 도구가 한다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77240" y="4965192"/>
            <a:ext cx="49377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E5E7EB"/>
                </a:solidFill>
                <a:latin typeface="Malgun Gothic"/>
              </a:rPr>
              <a:t>전공 순위·직무·과목은 사전 찾기와 집합 계산(겹치는 것 세기)으로만. 같은 이야기 → 같은 답. 카드의 과목·직무는 전부 데이터에 실제로 있는 것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217920" y="4297680"/>
            <a:ext cx="5394960" cy="137160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Oval 42"/>
          <p:cNvSpPr/>
          <p:nvPr/>
        </p:nvSpPr>
        <p:spPr>
          <a:xfrm>
            <a:off x="6419088" y="4443984"/>
            <a:ext cx="384048" cy="384048"/>
          </a:xfrm>
          <a:prstGeom prst="ellipse">
            <a:avLst/>
          </a:prstGeom>
          <a:solidFill>
            <a:srgbClr val="5EEA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AI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931152" y="4489704"/>
            <a:ext cx="4480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5EEAD4"/>
                </a:solidFill>
                <a:latin typeface="Malgun Gothic"/>
              </a:rPr>
              <a:t>LLM은 두 곳에만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46520" y="4965192"/>
            <a:ext cx="49377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E5E7EB"/>
                </a:solidFill>
                <a:latin typeface="Malgun Gothic"/>
              </a:rPr>
              <a:t>① 글에서 역량 이름 뽑기(지도 만들 때 277번, 학생 이야기에서 1번)  ② 카드를 친절한 문단으로 풀어 쓰기(1번). 판정에는 관여하지 않는다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2801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 i="0">
                <a:solidFill>
                  <a:srgbClr val="1E293B"/>
                </a:solidFill>
                <a:latin typeface="Arial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17320" y="502920"/>
            <a:ext cx="8778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E5E7EB"/>
                </a:solidFill>
                <a:latin typeface="Malgun Gothic"/>
              </a:rPr>
              <a:t>30초 데모 — 학생에게 보이는 카드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078992"/>
            <a:ext cx="9418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94A3B8"/>
                </a:solidFill>
                <a:latin typeface="Malgun Gothic"/>
              </a:rPr>
              <a:t>입력: "데이터 분석이 재미있어요 / 통계 수업, 파이썬으로 데이터 정리"  (시연 대본 세트 1, 실제 출력)</a:t>
            </a:r>
          </a:p>
        </p:txBody>
      </p:sp>
      <p:cxnSp>
        <p:nvCxnSpPr>
          <p:cNvPr id="6" name="Connector 5"/>
          <p:cNvCxnSpPr/>
          <p:nvPr/>
        </p:nvCxnSpPr>
        <p:spPr>
          <a:xfrm flipV="1">
            <a:off x="10651845" y="593445"/>
            <a:ext cx="452628" cy="205740"/>
          </a:xfrm>
          <a:prstGeom prst="line">
            <a:avLst/>
          </a:prstGeom>
          <a:ln w="17145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1104473" y="593445"/>
            <a:ext cx="411480" cy="246888"/>
          </a:xfrm>
          <a:prstGeom prst="line">
            <a:avLst/>
          </a:prstGeom>
          <a:ln w="17145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Oval 7"/>
          <p:cNvSpPr/>
          <p:nvPr/>
        </p:nvSpPr>
        <p:spPr>
          <a:xfrm>
            <a:off x="10561320" y="708660"/>
            <a:ext cx="181051" cy="181051"/>
          </a:xfrm>
          <a:prstGeom prst="ellipse">
            <a:avLst/>
          </a:prstGeom>
          <a:solidFill>
            <a:srgbClr val="5EEA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013948" y="502920"/>
            <a:ext cx="181051" cy="181051"/>
          </a:xfrm>
          <a:prstGeom prst="ellipse">
            <a:avLst/>
          </a:prstGeom>
          <a:solidFill>
            <a:srgbClr val="FB7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425428" y="749808"/>
            <a:ext cx="181051" cy="181051"/>
          </a:xfrm>
          <a:prstGeom prst="ellipse">
            <a:avLst/>
          </a:prstGeom>
          <a:solidFill>
            <a:srgbClr val="5EEA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155680" y="644652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94A3B8"/>
                </a:solidFill>
                <a:latin typeface="Arial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94A3B8"/>
                </a:solidFill>
                <a:latin typeface="Malgun Gothic"/>
              </a:rPr>
              <a:t>역량 경로 추천 — 전공 ↔ 역량 ↔ LG 계열사 신입 직무 지식그래프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1645920"/>
            <a:ext cx="7223760" cy="4709160"/>
          </a:xfrm>
          <a:prstGeom prst="roundRect">
            <a:avLst>
              <a:gd name="adj" fmla="val 3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731520" y="1783080"/>
            <a:ext cx="6858000" cy="4434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000">
                <a:solidFill>
                  <a:srgbClr val="E5E7EB"/>
                </a:solidFill>
                <a:latin typeface="Consolas"/>
              </a:rPr>
              <a:t>[프로필]  Data Analysis · Statistics · Python</a:t>
            </a:r>
          </a:p>
          <a:p>
            <a:pPr>
              <a:lnSpc>
                <a:spcPct val="105000"/>
              </a:lnSpc>
            </a:pPr>
            <a:r>
              <a:rPr sz="1000">
                <a:solidFill>
                  <a:srgbClr val="E5E7EB"/>
                </a:solidFill>
                <a:latin typeface="Consolas"/>
              </a:rPr>
              <a:t> </a:t>
            </a:r>
          </a:p>
          <a:p>
            <a:pPr>
              <a:lnSpc>
                <a:spcPct val="105000"/>
              </a:lnSpc>
            </a:pPr>
            <a:r>
              <a:rPr sz="1000">
                <a:solidFill>
                  <a:srgbClr val="E5E7EB"/>
                </a:solidFill>
                <a:latin typeface="Consolas"/>
              </a:rPr>
              <a:t>[전공]    통계학과</a:t>
            </a:r>
          </a:p>
          <a:p>
            <a:pPr>
              <a:lnSpc>
                <a:spcPct val="105000"/>
              </a:lnSpc>
            </a:pPr>
            <a:r>
              <a:rPr sz="1000">
                <a:solidFill>
                  <a:srgbClr val="E5E7EB"/>
                </a:solidFill>
                <a:latin typeface="Consolas"/>
              </a:rPr>
              <a:t>          선택 이유: 전체 61개 전공 중 보유 역량과 관련된 46개를 선정,</a:t>
            </a:r>
          </a:p>
          <a:p>
            <a:pPr>
              <a:lnSpc>
                <a:spcPct val="105000"/>
              </a:lnSpc>
            </a:pPr>
            <a:r>
              <a:rPr sz="1000">
                <a:solidFill>
                  <a:srgbClr val="E5E7EB"/>
                </a:solidFill>
                <a:latin typeface="Consolas"/>
              </a:rPr>
              <a:t>          그 중 1위가 통계학과</a:t>
            </a:r>
          </a:p>
          <a:p>
            <a:pPr>
              <a:lnSpc>
                <a:spcPct val="105000"/>
              </a:lnSpc>
            </a:pPr>
            <a:r>
              <a:rPr sz="1000">
                <a:solidFill>
                  <a:srgbClr val="E5E7EB"/>
                </a:solidFill>
                <a:latin typeface="Consolas"/>
              </a:rPr>
              <a:t>          ✓ Data Analysis (과목 7개) · Statistics (과목 14개)</a:t>
            </a:r>
          </a:p>
          <a:p>
            <a:pPr>
              <a:lnSpc>
                <a:spcPct val="105000"/>
              </a:lnSpc>
            </a:pPr>
            <a:r>
              <a:rPr sz="1000">
                <a:solidFill>
                  <a:srgbClr val="E5E7EB"/>
                </a:solidFill>
                <a:latin typeface="Consolas"/>
              </a:rPr>
              <a:t>          ○ 아직 안 이어진 역량 — Python</a:t>
            </a:r>
          </a:p>
          <a:p>
            <a:pPr>
              <a:lnSpc>
                <a:spcPct val="105000"/>
              </a:lnSpc>
            </a:pPr>
            <a:r>
              <a:rPr sz="1000">
                <a:solidFill>
                  <a:srgbClr val="E5E7EB"/>
                </a:solidFill>
                <a:latin typeface="Consolas"/>
              </a:rPr>
              <a:t>          역량 연결도</a:t>
            </a:r>
          </a:p>
          <a:p>
            <a:pPr>
              <a:lnSpc>
                <a:spcPct val="105000"/>
              </a:lnSpc>
            </a:pPr>
            <a:r>
              <a:rPr sz="1000">
                <a:solidFill>
                  <a:srgbClr val="E5E7EB"/>
                </a:solidFill>
                <a:latin typeface="Consolas"/>
              </a:rPr>
              <a:t>            █████░░░░░  46%  통계학과</a:t>
            </a:r>
          </a:p>
          <a:p>
            <a:pPr>
              <a:lnSpc>
                <a:spcPct val="105000"/>
              </a:lnSpc>
            </a:pPr>
            <a:r>
              <a:rPr sz="1000">
                <a:solidFill>
                  <a:srgbClr val="E5E7EB"/>
                </a:solidFill>
                <a:latin typeface="Consolas"/>
              </a:rPr>
              <a:t>            ████░░░░░░  39%  화학생물공학부</a:t>
            </a:r>
          </a:p>
          <a:p>
            <a:pPr>
              <a:lnSpc>
                <a:spcPct val="105000"/>
              </a:lnSpc>
            </a:pPr>
            <a:r>
              <a:rPr sz="1000">
                <a:solidFill>
                  <a:srgbClr val="E5E7EB"/>
                </a:solidFill>
                <a:latin typeface="Consolas"/>
              </a:rPr>
              <a:t>            ████░░░░░░  38%  첨단융합학부</a:t>
            </a:r>
          </a:p>
          <a:p>
            <a:pPr>
              <a:lnSpc>
                <a:spcPct val="105000"/>
              </a:lnSpc>
            </a:pPr>
            <a:r>
              <a:rPr sz="1000">
                <a:solidFill>
                  <a:srgbClr val="E5E7EB"/>
                </a:solidFill>
                <a:latin typeface="Consolas"/>
              </a:rPr>
              <a:t> </a:t>
            </a:r>
          </a:p>
          <a:p>
            <a:pPr>
              <a:lnSpc>
                <a:spcPct val="105000"/>
              </a:lnSpc>
            </a:pPr>
            <a:r>
              <a:rPr sz="1000">
                <a:solidFill>
                  <a:srgbClr val="E5E7EB"/>
                </a:solidFill>
                <a:latin typeface="Consolas"/>
              </a:rPr>
              <a:t>[과목]    통계학과에서 이 역량을 기르는 과목</a:t>
            </a:r>
          </a:p>
          <a:p>
            <a:pPr>
              <a:lnSpc>
                <a:spcPct val="105000"/>
              </a:lnSpc>
            </a:pPr>
            <a:r>
              <a:rPr sz="1000">
                <a:solidFill>
                  <a:srgbClr val="E5E7EB"/>
                </a:solidFill>
                <a:latin typeface="Consolas"/>
              </a:rPr>
              <a:t>          기계학습과 계산금융 → Machine Learning 역량 향상</a:t>
            </a:r>
          </a:p>
          <a:p>
            <a:pPr>
              <a:lnSpc>
                <a:spcPct val="105000"/>
              </a:lnSpc>
            </a:pPr>
            <a:r>
              <a:rPr sz="1000">
                <a:solidFill>
                  <a:srgbClr val="E5E7EB"/>
                </a:solidFill>
                <a:latin typeface="Consolas"/>
              </a:rPr>
              <a:t>          데이터마이닝 방법 및 실습 → Data Analysis 역량 향상</a:t>
            </a:r>
          </a:p>
          <a:p>
            <a:pPr>
              <a:lnSpc>
                <a:spcPct val="105000"/>
              </a:lnSpc>
            </a:pPr>
            <a:r>
              <a:rPr sz="1000">
                <a:solidFill>
                  <a:srgbClr val="E5E7EB"/>
                </a:solidFill>
                <a:latin typeface="Consolas"/>
              </a:rPr>
              <a:t>          다변량자료분석 및 실습 → Data Analysis 역량 향상</a:t>
            </a:r>
          </a:p>
          <a:p>
            <a:pPr>
              <a:lnSpc>
                <a:spcPct val="105000"/>
              </a:lnSpc>
            </a:pPr>
            <a:r>
              <a:rPr sz="1000">
                <a:solidFill>
                  <a:srgbClr val="E5E7EB"/>
                </a:solidFill>
                <a:latin typeface="Consolas"/>
              </a:rPr>
              <a:t> </a:t>
            </a:r>
          </a:p>
          <a:p>
            <a:pPr>
              <a:lnSpc>
                <a:spcPct val="105000"/>
              </a:lnSpc>
            </a:pPr>
            <a:r>
              <a:rPr sz="1000">
                <a:solidFill>
                  <a:srgbClr val="E5E7EB"/>
                </a:solidFill>
                <a:latin typeface="Consolas"/>
              </a:rPr>
              <a:t>[직무]    LG에너지솔루션 소재개발AX (신입)</a:t>
            </a:r>
          </a:p>
          <a:p>
            <a:pPr>
              <a:lnSpc>
                <a:spcPct val="105000"/>
              </a:lnSpc>
            </a:pPr>
            <a:r>
              <a:rPr sz="1000">
                <a:solidFill>
                  <a:srgbClr val="E5E7EB"/>
                </a:solidFill>
                <a:latin typeface="Consolas"/>
              </a:rPr>
              <a:t>          요구 역량 2/2 충족</a:t>
            </a:r>
          </a:p>
          <a:p>
            <a:pPr>
              <a:lnSpc>
                <a:spcPct val="105000"/>
              </a:lnSpc>
            </a:pPr>
            <a:r>
              <a:rPr sz="1000">
                <a:solidFill>
                  <a:srgbClr val="E5E7EB"/>
                </a:solidFill>
                <a:latin typeface="Consolas"/>
              </a:rPr>
              <a:t>          Data Analysis(O), Machine Learning(O)</a:t>
            </a:r>
          </a:p>
          <a:p>
            <a:pPr>
              <a:lnSpc>
                <a:spcPct val="105000"/>
              </a:lnSpc>
            </a:pPr>
            <a:r>
              <a:rPr sz="1000">
                <a:solidFill>
                  <a:srgbClr val="E5E7EB"/>
                </a:solidFill>
                <a:latin typeface="Consolas"/>
              </a:rPr>
              <a:t> </a:t>
            </a:r>
          </a:p>
          <a:p>
            <a:pPr>
              <a:lnSpc>
                <a:spcPct val="105000"/>
              </a:lnSpc>
            </a:pPr>
            <a:r>
              <a:rPr sz="1000">
                <a:solidFill>
                  <a:srgbClr val="E5E7EB"/>
                </a:solidFill>
                <a:latin typeface="Consolas"/>
              </a:rPr>
              <a:t>[다음 후보]</a:t>
            </a:r>
          </a:p>
          <a:p>
            <a:pPr>
              <a:lnSpc>
                <a:spcPct val="105000"/>
              </a:lnSpc>
            </a:pPr>
            <a:r>
              <a:rPr sz="1000">
                <a:solidFill>
                  <a:srgbClr val="E5E7EB"/>
                </a:solidFill>
                <a:latin typeface="Consolas"/>
              </a:rPr>
              <a:t>          1. LG CNS AI (AX) (신입) — 요구 역량 7/10 충족 …</a:t>
            </a:r>
          </a:p>
          <a:p>
            <a:pPr>
              <a:lnSpc>
                <a:spcPct val="105000"/>
              </a:lnSpc>
            </a:pPr>
            <a:r>
              <a:rPr sz="1000">
                <a:solidFill>
                  <a:srgbClr val="E5E7EB"/>
                </a:solidFill>
                <a:latin typeface="Consolas"/>
              </a:rPr>
              <a:t>──────────</a:t>
            </a:r>
          </a:p>
          <a:p>
            <a:pPr>
              <a:lnSpc>
                <a:spcPct val="105000"/>
              </a:lnSpc>
            </a:pPr>
            <a:r>
              <a:rPr sz="1000">
                <a:solidFill>
                  <a:srgbClr val="E5E7EB"/>
                </a:solidFill>
                <a:latin typeface="Consolas"/>
              </a:rPr>
              <a:t>출처 · 과목: 서울대학교 교육과정 — 대학알리미 · 공고: LG Careers (스냅샷)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2148840"/>
            <a:ext cx="3657600" cy="384048"/>
          </a:xfrm>
          <a:prstGeom prst="roundRect">
            <a:avLst>
              <a:gd name="adj" fmla="val 40000"/>
            </a:avLst>
          </a:prstGeom>
          <a:solidFill>
            <a:srgbClr val="FB7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8183880" y="2221992"/>
            <a:ext cx="33832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Malgun Gothic"/>
              </a:rPr>
              <a:t>① 61개 전공 전부 비교 — 전수 순위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20" y="2578608"/>
            <a:ext cx="3657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94A3B8"/>
                </a:solidFill>
                <a:latin typeface="Malgun Gothic"/>
              </a:rPr>
              <a:t>떠오른 서너 개 중에 고르는 챗봇과 다른 첫 줄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46720" y="3154680"/>
            <a:ext cx="3657600" cy="384048"/>
          </a:xfrm>
          <a:prstGeom prst="roundRect">
            <a:avLst>
              <a:gd name="adj" fmla="val 40000"/>
            </a:avLst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8183880" y="3227832"/>
            <a:ext cx="33832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Malgun Gothic"/>
              </a:rPr>
              <a:t>② ✓ 이어진 것 · ○ 안 이어진 것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46720" y="3584448"/>
            <a:ext cx="3657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94A3B8"/>
                </a:solidFill>
                <a:latin typeface="Malgun Gothic"/>
              </a:rPr>
              <a:t>안 이어진 역량(Python)도 숨기지 않는다. 46%는 "어울릴 확률"이 아니라 역량 연결도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46720" y="4343400"/>
            <a:ext cx="3657600" cy="384048"/>
          </a:xfrm>
          <a:prstGeom prst="roundRect">
            <a:avLst>
              <a:gd name="adj" fmla="val 40000"/>
            </a:avLst>
          </a:prstGeom>
          <a:solidFill>
            <a:srgbClr val="5EEA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183880" y="4416552"/>
            <a:ext cx="33832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Malgun Gothic"/>
              </a:rPr>
              <a:t>③ 실존하는 과목·직무 + 출처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46720" y="4773168"/>
            <a:ext cx="3657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94A3B8"/>
                </a:solidFill>
                <a:latin typeface="Malgun Gothic"/>
              </a:rPr>
              <a:t>카드의 모든 고유명사는 3,829개 과목·172개 직무 데이터에 있다 — 매 실행 자동 확인. 이 아래에 LLM이 쓴 [진로 추천] 문단이 붙는다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2801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 i="0">
                <a:solidFill>
                  <a:srgbClr val="1E293B"/>
                </a:solidFill>
                <a:latin typeface="Arial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17320" y="502920"/>
            <a:ext cx="8778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E5E7EB"/>
                </a:solidFill>
                <a:latin typeface="Malgun Gothic"/>
              </a:rPr>
              <a:t>재료와 지도 — 숫자 여덟 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078992"/>
            <a:ext cx="9418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94A3B8"/>
                </a:solidFill>
                <a:latin typeface="Malgun Gothic"/>
              </a:rPr>
              <a:t>실제 대학 교육과정과 실제 채용 공고. 지어낼 재료를 주지 않으려면 진짜 재료가 있어야 한다</a:t>
            </a:r>
          </a:p>
        </p:txBody>
      </p:sp>
      <p:cxnSp>
        <p:nvCxnSpPr>
          <p:cNvPr id="6" name="Connector 5"/>
          <p:cNvCxnSpPr/>
          <p:nvPr/>
        </p:nvCxnSpPr>
        <p:spPr>
          <a:xfrm flipV="1">
            <a:off x="10651845" y="593445"/>
            <a:ext cx="452628" cy="205740"/>
          </a:xfrm>
          <a:prstGeom prst="line">
            <a:avLst/>
          </a:prstGeom>
          <a:ln w="17145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1104473" y="593445"/>
            <a:ext cx="411480" cy="246888"/>
          </a:xfrm>
          <a:prstGeom prst="line">
            <a:avLst/>
          </a:prstGeom>
          <a:ln w="17145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Oval 7"/>
          <p:cNvSpPr/>
          <p:nvPr/>
        </p:nvSpPr>
        <p:spPr>
          <a:xfrm>
            <a:off x="10561320" y="708660"/>
            <a:ext cx="181051" cy="181051"/>
          </a:xfrm>
          <a:prstGeom prst="ellipse">
            <a:avLst/>
          </a:prstGeom>
          <a:solidFill>
            <a:srgbClr val="5EEA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013948" y="502920"/>
            <a:ext cx="181051" cy="181051"/>
          </a:xfrm>
          <a:prstGeom prst="ellipse">
            <a:avLst/>
          </a:prstGeom>
          <a:solidFill>
            <a:srgbClr val="FB7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425428" y="749808"/>
            <a:ext cx="181051" cy="181051"/>
          </a:xfrm>
          <a:prstGeom prst="ellipse">
            <a:avLst/>
          </a:prstGeom>
          <a:solidFill>
            <a:srgbClr val="5EEA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155680" y="644652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94A3B8"/>
                </a:solidFill>
                <a:latin typeface="Arial"/>
              </a:rPr>
              <a:t>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94A3B8"/>
                </a:solidFill>
                <a:latin typeface="Malgun Gothic"/>
              </a:rPr>
              <a:t>역량 경로 추천 — 전공 ↔ 역량 ↔ LG 계열사 신입 직무 지식그래프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1783080"/>
            <a:ext cx="2606040" cy="192024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731520" y="2011680"/>
            <a:ext cx="22860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600" b="1" i="0">
                <a:solidFill>
                  <a:srgbClr val="5EEAD4"/>
                </a:solidFill>
                <a:latin typeface="Arial"/>
              </a:rPr>
              <a:t>105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278892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E5E7EB"/>
                </a:solidFill>
                <a:latin typeface="Malgun Gothic"/>
              </a:rPr>
              <a:t>서울대 전공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136391"/>
            <a:ext cx="22860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94A3B8"/>
                </a:solidFill>
                <a:latin typeface="Malgun Gothic"/>
              </a:rPr>
              <a:t>과목 3,829개 (대학알리미 공시)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383280" y="1783080"/>
            <a:ext cx="2606040" cy="192024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3566160" y="2011680"/>
            <a:ext cx="22860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600" b="1" i="0">
                <a:solidFill>
                  <a:srgbClr val="5EEAD4"/>
                </a:solidFill>
                <a:latin typeface="Arial"/>
              </a:rPr>
              <a:t>9곳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66160" y="278892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E5E7EB"/>
                </a:solidFill>
                <a:latin typeface="Malgun Gothic"/>
              </a:rPr>
              <a:t>LG 계열사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0" y="3136391"/>
            <a:ext cx="22860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94A3B8"/>
                </a:solidFill>
                <a:latin typeface="Malgun Gothic"/>
              </a:rPr>
              <a:t>공고 50건 → 직무 172개 (신입 85)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1783080"/>
            <a:ext cx="2606040" cy="192024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400800" y="2011680"/>
            <a:ext cx="22860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5EEAD4"/>
                </a:solidFill>
                <a:latin typeface="Arial"/>
              </a:rPr>
              <a:t>61·120·108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278892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E5E7EB"/>
                </a:solidFill>
                <a:latin typeface="Malgun Gothic"/>
              </a:rPr>
              <a:t>전공 · 역량 · 직무 노드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3136391"/>
            <a:ext cx="22860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94A3B8"/>
                </a:solidFill>
                <a:latin typeface="Malgun Gothic"/>
              </a:rPr>
              <a:t>관계 5종 · IS_A 102개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052560" y="1783080"/>
            <a:ext cx="2606040" cy="192024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9235440" y="2011680"/>
            <a:ext cx="22860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600" b="1" i="0">
                <a:solidFill>
                  <a:srgbClr val="5EEAD4"/>
                </a:solidFill>
                <a:latin typeface="Arial"/>
              </a:rPr>
              <a:t>139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35440" y="278892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E5E7EB"/>
                </a:solidFill>
                <a:latin typeface="Malgun Gothic"/>
              </a:rPr>
              <a:t>통제 어휘 대표 표기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35440" y="3136391"/>
            <a:ext cx="22860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94A3B8"/>
                </a:solidFill>
                <a:latin typeface="Malgun Gothic"/>
              </a:rPr>
              <a:t>별칭 417개 · 상위 개념 23개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48640" y="3931920"/>
            <a:ext cx="2606040" cy="192024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731520" y="4160520"/>
            <a:ext cx="22860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600" b="1" i="0">
                <a:solidFill>
                  <a:srgbClr val="5EEAD4"/>
                </a:solidFill>
                <a:latin typeface="Arial"/>
              </a:rPr>
              <a:t>277회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493776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E5E7EB"/>
                </a:solidFill>
                <a:latin typeface="Malgun Gothic"/>
              </a:rPr>
              <a:t>지도 만들 때 AI 호출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" y="5285231"/>
            <a:ext cx="22860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94A3B8"/>
                </a:solidFill>
                <a:latin typeface="Malgun Gothic"/>
              </a:rPr>
              <a:t>한 번만 · 결과는 캐시 (그 뒤 0회)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383280" y="3931920"/>
            <a:ext cx="2606040" cy="192024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3566160" y="4160520"/>
            <a:ext cx="22860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600" b="1" i="0">
                <a:solidFill>
                  <a:srgbClr val="5EEAD4"/>
                </a:solidFill>
                <a:latin typeface="Arial"/>
              </a:rPr>
              <a:t>2~6회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566160" y="493776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E5E7EB"/>
                </a:solidFill>
                <a:latin typeface="Malgun Gothic"/>
              </a:rPr>
              <a:t>학생 1명당 AI 호출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66160" y="5285231"/>
            <a:ext cx="22860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94A3B8"/>
                </a:solidFill>
                <a:latin typeface="Malgun Gothic"/>
              </a:rPr>
              <a:t>판정에는 0회 — 추출과 표현에만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217920" y="3931920"/>
            <a:ext cx="2606040" cy="192024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6400800" y="4160520"/>
            <a:ext cx="22860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600" b="1" i="0">
                <a:solidFill>
                  <a:srgbClr val="5EEAD4"/>
                </a:solidFill>
                <a:latin typeface="Arial"/>
              </a:rPr>
              <a:t>24 / 24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0" y="493776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E5E7EB"/>
                </a:solidFill>
                <a:latin typeface="Malgun Gothic"/>
              </a:rPr>
              <a:t>정답지(평가셋) 통과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0800" y="5285231"/>
            <a:ext cx="22860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94A3B8"/>
                </a:solidFill>
                <a:latin typeface="Malgun Gothic"/>
              </a:rPr>
              <a:t>IT 10 · 비IT 10 · 대화 4 — 매번 자동 채점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9052560" y="3931920"/>
            <a:ext cx="2606040" cy="192024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9235440" y="4160520"/>
            <a:ext cx="22860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600" b="1" i="0">
                <a:solidFill>
                  <a:srgbClr val="5EEAD4"/>
                </a:solidFill>
                <a:latin typeface="Arial"/>
              </a:rPr>
              <a:t>3건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235440" y="493776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E5E7EB"/>
                </a:solidFill>
                <a:latin typeface="Malgun Gothic"/>
              </a:rPr>
              <a:t>확인 항목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235440" y="5285231"/>
            <a:ext cx="22860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94A3B8"/>
                </a:solidFill>
                <a:latin typeface="Malgun Gothic"/>
              </a:rPr>
              <a:t>재현성 · 실존 · 집합 연산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2801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 i="0">
                <a:solidFill>
                  <a:srgbClr val="1E293B"/>
                </a:solidFill>
                <a:latin typeface="Arial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17320" y="502920"/>
            <a:ext cx="8778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E5E7EB"/>
                </a:solidFill>
                <a:latin typeface="Malgun Gothic"/>
              </a:rPr>
              <a:t>어떻게 동작하나 — 한 번 만들고, 매번 읽는다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078992"/>
            <a:ext cx="9418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94A3B8"/>
                </a:solidFill>
                <a:latin typeface="Malgun Gothic"/>
              </a:rPr>
              <a:t>오프라인(배치)과 온라인(실시간)을 완전히 분리 — 비용과 재현성 둘 다 여기서 나온다</a:t>
            </a:r>
          </a:p>
        </p:txBody>
      </p:sp>
      <p:cxnSp>
        <p:nvCxnSpPr>
          <p:cNvPr id="6" name="Connector 5"/>
          <p:cNvCxnSpPr/>
          <p:nvPr/>
        </p:nvCxnSpPr>
        <p:spPr>
          <a:xfrm flipV="1">
            <a:off x="10651845" y="593445"/>
            <a:ext cx="452628" cy="205740"/>
          </a:xfrm>
          <a:prstGeom prst="line">
            <a:avLst/>
          </a:prstGeom>
          <a:ln w="17145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1104473" y="593445"/>
            <a:ext cx="411480" cy="246888"/>
          </a:xfrm>
          <a:prstGeom prst="line">
            <a:avLst/>
          </a:prstGeom>
          <a:ln w="17145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Oval 7"/>
          <p:cNvSpPr/>
          <p:nvPr/>
        </p:nvSpPr>
        <p:spPr>
          <a:xfrm>
            <a:off x="10561320" y="708660"/>
            <a:ext cx="181051" cy="181051"/>
          </a:xfrm>
          <a:prstGeom prst="ellipse">
            <a:avLst/>
          </a:prstGeom>
          <a:solidFill>
            <a:srgbClr val="5EEA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013948" y="502920"/>
            <a:ext cx="181051" cy="181051"/>
          </a:xfrm>
          <a:prstGeom prst="ellipse">
            <a:avLst/>
          </a:prstGeom>
          <a:solidFill>
            <a:srgbClr val="FB7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425428" y="749808"/>
            <a:ext cx="181051" cy="181051"/>
          </a:xfrm>
          <a:prstGeom prst="ellipse">
            <a:avLst/>
          </a:prstGeom>
          <a:solidFill>
            <a:srgbClr val="5EEA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155680" y="644652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94A3B8"/>
                </a:solidFill>
                <a:latin typeface="Arial"/>
              </a:rPr>
              <a:t>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94A3B8"/>
                </a:solidFill>
                <a:latin typeface="Malgun Gothic"/>
              </a:rPr>
              <a:t>역량 경로 추천 — 전공 ↔ 역량 ↔ LG 계열사 신입 직무 지식그래프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1691640"/>
            <a:ext cx="5486400" cy="329184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Oval 13"/>
          <p:cNvSpPr/>
          <p:nvPr/>
        </p:nvSpPr>
        <p:spPr>
          <a:xfrm>
            <a:off x="749808" y="1837944"/>
            <a:ext cx="384048" cy="384048"/>
          </a:xfrm>
          <a:prstGeom prst="ellipse">
            <a:avLst/>
          </a:prstGeom>
          <a:solidFill>
            <a:srgbClr val="5EEA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61872" y="1883664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5EEAD4"/>
                </a:solidFill>
                <a:latin typeface="Malgun Gothic"/>
              </a:rPr>
              <a:t>지도 만들기 — 미리, 한 번만 (LLM 277회, 캐시)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2359152"/>
            <a:ext cx="5029200" cy="2487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01168" indent="-201168">
              <a:lnSpc>
                <a:spcPct val="112000"/>
              </a:lnSpc>
              <a:spcAft>
                <a:spcPts val="600"/>
              </a:spcAft>
              <a:buClr>
                <a:srgbClr val="5EEAD4"/>
              </a:buClr>
              <a:buFont typeface="Arial"/>
              <a:buChar char="•"/>
            </a:pPr>
            <a:r>
              <a:rPr sz="1200" b="0">
                <a:solidFill>
                  <a:srgbClr val="E5E7EB"/>
                </a:solidFill>
                <a:latin typeface="Malgun Gothic"/>
              </a:rPr>
              <a:t>과목 이름 3,829개 → AI가 "이 전공은 이런 역량을 기른다"</a:t>
            </a:r>
          </a:p>
          <a:p>
            <a:pPr marL="201168" indent="-201168">
              <a:lnSpc>
                <a:spcPct val="112000"/>
              </a:lnSpc>
              <a:spcAft>
                <a:spcPts val="600"/>
              </a:spcAft>
              <a:buClr>
                <a:srgbClr val="5EEAD4"/>
              </a:buClr>
              <a:buFont typeface="Arial"/>
              <a:buChar char="•"/>
            </a:pPr>
            <a:r>
              <a:rPr sz="1200" b="0">
                <a:solidFill>
                  <a:srgbClr val="E5E7EB"/>
                </a:solidFill>
                <a:latin typeface="Malgun Gothic"/>
              </a:rPr>
              <a:t>채용 공고 172개 → AI가 "이 직무는 이런 역량을 요구한다"</a:t>
            </a:r>
          </a:p>
          <a:p>
            <a:pPr marL="201168" indent="-201168">
              <a:lnSpc>
                <a:spcPct val="112000"/>
              </a:lnSpc>
              <a:spcAft>
                <a:spcPts val="600"/>
              </a:spcAft>
              <a:buClr>
                <a:srgbClr val="5EEAD4"/>
              </a:buClr>
              <a:buFont typeface="Arial"/>
              <a:buChar char="•"/>
            </a:pPr>
            <a:r>
              <a:rPr sz="1200" b="0">
                <a:solidFill>
                  <a:srgbClr val="E5E7EB"/>
                </a:solidFill>
                <a:latin typeface="Malgun Gothic"/>
              </a:rPr>
              <a:t>같은 말은 같은 이름으로: 사전(통제 어휘) 139개 — </a:t>
            </a:r>
            <a:r>
              <a:rPr sz="1200" b="1">
                <a:solidFill>
                  <a:srgbClr val="E5E7EB"/>
                </a:solidFill>
                <a:latin typeface="Malgun Gothic"/>
              </a:rPr>
              <a:t>사전에 있는 단어로만 지도를 그린다</a:t>
            </a:r>
          </a:p>
          <a:p>
            <a:pPr marL="201168" indent="-201168">
              <a:lnSpc>
                <a:spcPct val="112000"/>
              </a:lnSpc>
              <a:spcAft>
                <a:spcPts val="600"/>
              </a:spcAft>
              <a:buClr>
                <a:srgbClr val="5EEAD4"/>
              </a:buClr>
              <a:buFont typeface="Arial"/>
              <a:buChar char="•"/>
            </a:pPr>
            <a:r>
              <a:rPr sz="1200" b="0">
                <a:solidFill>
                  <a:srgbClr val="E5E7EB"/>
                </a:solidFill>
                <a:latin typeface="Malgun Gothic"/>
              </a:rPr>
              <a:t>"Oracle은 Database의 한 종류" — IS_A 102개로 도구 이름과 학문 이름을 잇는다</a:t>
            </a:r>
          </a:p>
          <a:p>
            <a:pPr marL="201168" indent="-201168">
              <a:lnSpc>
                <a:spcPct val="112000"/>
              </a:lnSpc>
              <a:spcAft>
                <a:spcPts val="600"/>
              </a:spcAft>
              <a:buClr>
                <a:srgbClr val="5EEAD4"/>
              </a:buClr>
              <a:buFont typeface="Arial"/>
              <a:buChar char="•"/>
            </a:pPr>
            <a:r>
              <a:rPr sz="1200" b="1">
                <a:solidFill>
                  <a:srgbClr val="E5E7EB"/>
                </a:solidFill>
                <a:latin typeface="Malgun Gothic"/>
              </a:rPr>
              <a:t>원출력은 파일에 저장(캐시) → 규칙을 고칠 때마다 0원으로 다시 필터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9360" y="1691640"/>
            <a:ext cx="5303520" cy="329184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Oval 17"/>
          <p:cNvSpPr/>
          <p:nvPr/>
        </p:nvSpPr>
        <p:spPr>
          <a:xfrm>
            <a:off x="6510528" y="1837944"/>
            <a:ext cx="384048" cy="384048"/>
          </a:xfrm>
          <a:prstGeom prst="ellipse">
            <a:avLst/>
          </a:prstGeom>
          <a:solidFill>
            <a:srgbClr val="5EEA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22592" y="1883664"/>
            <a:ext cx="4389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5EEAD4"/>
                </a:solidFill>
                <a:latin typeface="Malgun Gothic"/>
              </a:rPr>
              <a:t>지도 읽기 — 학생이 올 때마다 (LLM 2~6회)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37960" y="2359152"/>
            <a:ext cx="4846320" cy="2487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01168" indent="-201168">
              <a:lnSpc>
                <a:spcPct val="112000"/>
              </a:lnSpc>
              <a:spcAft>
                <a:spcPts val="600"/>
              </a:spcAft>
              <a:buClr>
                <a:srgbClr val="5EEAD4"/>
              </a:buClr>
              <a:buFont typeface="Arial"/>
              <a:buChar char="•"/>
            </a:pPr>
            <a:r>
              <a:rPr sz="1200" b="0">
                <a:solidFill>
                  <a:srgbClr val="E5E7EB"/>
                </a:solidFill>
                <a:latin typeface="Malgun Gothic"/>
              </a:rPr>
              <a:t>① 이야기 → 역량 태그 (AI 1회, 사전 안의 단어만)</a:t>
            </a:r>
          </a:p>
          <a:p>
            <a:pPr marL="201168" indent="-201168">
              <a:lnSpc>
                <a:spcPct val="112000"/>
              </a:lnSpc>
              <a:spcAft>
                <a:spcPts val="600"/>
              </a:spcAft>
              <a:buClr>
                <a:srgbClr val="5EEAD4"/>
              </a:buClr>
              <a:buFont typeface="Arial"/>
              <a:buChar char="•"/>
            </a:pPr>
            <a:r>
              <a:rPr sz="1200" b="0">
                <a:solidFill>
                  <a:srgbClr val="E5E7EB"/>
                </a:solidFill>
                <a:latin typeface="Malgun Gothic"/>
              </a:rPr>
              <a:t>② 태그 → 전공 순위: 61개 전부 비교, 1위 확정 — </a:t>
            </a:r>
            <a:r>
              <a:rPr sz="1200" b="1">
                <a:solidFill>
                  <a:srgbClr val="E5E7EB"/>
                </a:solidFill>
                <a:latin typeface="Malgun Gothic"/>
              </a:rPr>
              <a:t>사전 찾기·집합 계산</a:t>
            </a:r>
          </a:p>
          <a:p>
            <a:pPr marL="201168" indent="-201168">
              <a:lnSpc>
                <a:spcPct val="112000"/>
              </a:lnSpc>
              <a:spcAft>
                <a:spcPts val="600"/>
              </a:spcAft>
              <a:buClr>
                <a:srgbClr val="5EEAD4"/>
              </a:buClr>
              <a:buFont typeface="Arial"/>
              <a:buChar char="•"/>
            </a:pPr>
            <a:r>
              <a:rPr sz="1200" b="0">
                <a:solidFill>
                  <a:srgbClr val="E5E7EB"/>
                </a:solidFill>
                <a:latin typeface="Malgun Gothic"/>
              </a:rPr>
              <a:t>③ 전공 → 직무: 그 전공이 기르는 역량 전체로 공고와 대조 (충족/부족 개수)</a:t>
            </a:r>
          </a:p>
          <a:p>
            <a:pPr marL="201168" indent="-201168">
              <a:lnSpc>
                <a:spcPct val="112000"/>
              </a:lnSpc>
              <a:spcAft>
                <a:spcPts val="600"/>
              </a:spcAft>
              <a:buClr>
                <a:srgbClr val="5EEAD4"/>
              </a:buClr>
              <a:buFont typeface="Arial"/>
              <a:buChar char="•"/>
            </a:pPr>
            <a:r>
              <a:rPr sz="1200" b="0">
                <a:solidFill>
                  <a:srgbClr val="E5E7EB"/>
                </a:solidFill>
                <a:latin typeface="Malgun Gothic"/>
              </a:rPr>
              <a:t>④ 전공·직무 → 과목: 둘을 잇는 역량을 기르는 과목 3개</a:t>
            </a:r>
          </a:p>
          <a:p>
            <a:pPr marL="201168" indent="-201168">
              <a:lnSpc>
                <a:spcPct val="112000"/>
              </a:lnSpc>
              <a:spcAft>
                <a:spcPts val="600"/>
              </a:spcAft>
              <a:buClr>
                <a:srgbClr val="5EEAD4"/>
              </a:buClr>
              <a:buFont typeface="Arial"/>
              <a:buChar char="•"/>
            </a:pPr>
            <a:r>
              <a:rPr sz="1200" b="0">
                <a:solidFill>
                  <a:srgbClr val="E5E7EB"/>
                </a:solidFill>
                <a:latin typeface="Malgun Gothic"/>
              </a:rPr>
              <a:t>⑤ 카드 + AI가 쓴 설명 문단(1회) — 카드에 없는 건 쓰지 않도록 규칙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5257800"/>
            <a:ext cx="11064240" cy="566928"/>
          </a:xfrm>
          <a:prstGeom prst="roundRect">
            <a:avLst>
              <a:gd name="adj" fmla="val 30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22960" y="5376672"/>
            <a:ext cx="106070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FB7185"/>
                </a:solidFill>
                <a:latin typeface="Malgun Gothic"/>
              </a:rPr>
              <a:t>배운 문장  </a:t>
            </a:r>
            <a:r>
              <a:rPr sz="1400" b="1" i="0">
                <a:solidFill>
                  <a:srgbClr val="E5E7EB"/>
                </a:solidFill>
                <a:latin typeface="Malgun Gothic"/>
              </a:rPr>
              <a:t>판정(②③④)에 LLM이 없어서 같은 이야기에 같은 답이 나오고, 카드의 이름은 전부 실존한다.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2801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 i="0">
                <a:solidFill>
                  <a:srgbClr val="1E293B"/>
                </a:solidFill>
                <a:latin typeface="Arial"/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17320" y="502920"/>
            <a:ext cx="8778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E5E7EB"/>
                </a:solidFill>
                <a:latin typeface="Malgun Gothic"/>
              </a:rPr>
              <a:t>시행착오 ① — LLM은 시키면 채운다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078992"/>
            <a:ext cx="9418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94A3B8"/>
                </a:solidFill>
                <a:latin typeface="Malgun Gothic"/>
              </a:rPr>
              <a:t>9/14 밤, 전공 102개 첫 배치 — 그리고 같은 뿌리의 사례 네 번</a:t>
            </a:r>
          </a:p>
        </p:txBody>
      </p:sp>
      <p:cxnSp>
        <p:nvCxnSpPr>
          <p:cNvPr id="6" name="Connector 5"/>
          <p:cNvCxnSpPr/>
          <p:nvPr/>
        </p:nvCxnSpPr>
        <p:spPr>
          <a:xfrm flipV="1">
            <a:off x="10651845" y="593445"/>
            <a:ext cx="452628" cy="205740"/>
          </a:xfrm>
          <a:prstGeom prst="line">
            <a:avLst/>
          </a:prstGeom>
          <a:ln w="17145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1104473" y="593445"/>
            <a:ext cx="411480" cy="246888"/>
          </a:xfrm>
          <a:prstGeom prst="line">
            <a:avLst/>
          </a:prstGeom>
          <a:ln w="17145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Oval 7"/>
          <p:cNvSpPr/>
          <p:nvPr/>
        </p:nvSpPr>
        <p:spPr>
          <a:xfrm>
            <a:off x="10561320" y="708660"/>
            <a:ext cx="181051" cy="181051"/>
          </a:xfrm>
          <a:prstGeom prst="ellipse">
            <a:avLst/>
          </a:prstGeom>
          <a:solidFill>
            <a:srgbClr val="5EEA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013948" y="502920"/>
            <a:ext cx="181051" cy="181051"/>
          </a:xfrm>
          <a:prstGeom prst="ellipse">
            <a:avLst/>
          </a:prstGeom>
          <a:solidFill>
            <a:srgbClr val="FB7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425428" y="749808"/>
            <a:ext cx="181051" cy="181051"/>
          </a:xfrm>
          <a:prstGeom prst="ellipse">
            <a:avLst/>
          </a:prstGeom>
          <a:solidFill>
            <a:srgbClr val="5EEA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155680" y="644652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94A3B8"/>
                </a:solidFill>
                <a:latin typeface="Arial"/>
              </a:rPr>
              <a:t>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94A3B8"/>
                </a:solidFill>
                <a:latin typeface="Malgun Gothic"/>
              </a:rPr>
              <a:t>역량 경로 추천 — 전공 ↔ 역량 ↔ LG 계열사 신입 직무 지식그래프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1691640"/>
            <a:ext cx="2606040" cy="365760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Oval 13"/>
          <p:cNvSpPr/>
          <p:nvPr/>
        </p:nvSpPr>
        <p:spPr>
          <a:xfrm>
            <a:off x="749808" y="1837944"/>
            <a:ext cx="384048" cy="384048"/>
          </a:xfrm>
          <a:prstGeom prst="ellipse">
            <a:avLst/>
          </a:prstGeom>
          <a:solidFill>
            <a:srgbClr val="FB7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61872" y="1883664"/>
            <a:ext cx="1691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FB7185"/>
                </a:solidFill>
                <a:latin typeface="Malgun Gothic"/>
              </a:rPr>
              <a:t>증상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2359152"/>
            <a:ext cx="2148840" cy="285292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01168" indent="-201168">
              <a:lnSpc>
                <a:spcPct val="112000"/>
              </a:lnSpc>
              <a:spcAft>
                <a:spcPts val="600"/>
              </a:spcAft>
              <a:buClr>
                <a:srgbClr val="5EEAD4"/>
              </a:buClr>
              <a:buFont typeface="Arial"/>
              <a:buChar char="•"/>
            </a:pPr>
            <a:r>
              <a:rPr sz="1150" b="1">
                <a:solidFill>
                  <a:srgbClr val="E5E7EB"/>
                </a:solidFill>
                <a:latin typeface="Malgun Gothic"/>
              </a:rPr>
              <a:t>102개 중 22개만 역량이 잡힘</a:t>
            </a:r>
          </a:p>
          <a:p>
            <a:pPr marL="201168" indent="-201168">
              <a:lnSpc>
                <a:spcPct val="112000"/>
              </a:lnSpc>
              <a:spcAft>
                <a:spcPts val="600"/>
              </a:spcAft>
              <a:buClr>
                <a:srgbClr val="5EEAD4"/>
              </a:buClr>
              <a:buFont typeface="Arial"/>
              <a:buChar char="•"/>
            </a:pPr>
            <a:r>
              <a:rPr sz="1150" b="0">
                <a:solidFill>
                  <a:srgbClr val="E5E7EB"/>
                </a:solidFill>
                <a:latin typeface="Malgun Gothic"/>
              </a:rPr>
              <a:t>컴퓨터공학부 = Security 하나</a:t>
            </a:r>
          </a:p>
          <a:p>
            <a:pPr marL="201168" indent="-201168">
              <a:lnSpc>
                <a:spcPct val="112000"/>
              </a:lnSpc>
              <a:spcAft>
                <a:spcPts val="600"/>
              </a:spcAft>
              <a:buClr>
                <a:srgbClr val="5EEAD4"/>
              </a:buClr>
              <a:buFont typeface="Arial"/>
              <a:buChar char="•"/>
            </a:pPr>
            <a:r>
              <a:rPr sz="1150" b="0">
                <a:solidFill>
                  <a:srgbClr val="E5E7EB"/>
                </a:solidFill>
                <a:latin typeface="Malgun Gothic"/>
              </a:rPr>
              <a:t>간호학과 = Security, Cloud</a:t>
            </a:r>
          </a:p>
          <a:p>
            <a:pPr marL="201168" indent="-201168">
              <a:lnSpc>
                <a:spcPct val="112000"/>
              </a:lnSpc>
              <a:spcAft>
                <a:spcPts val="600"/>
              </a:spcAft>
              <a:buClr>
                <a:srgbClr val="5EEAD4"/>
              </a:buClr>
              <a:buFont typeface="Arial"/>
              <a:buChar char="•"/>
            </a:pPr>
            <a:r>
              <a:rPr sz="1150" b="0">
                <a:solidFill>
                  <a:srgbClr val="E5E7EB"/>
                </a:solidFill>
                <a:latin typeface="Malgun Gothic"/>
              </a:rPr>
              <a:t>통계학과 = 빈 리스트</a:t>
            </a:r>
          </a:p>
          <a:p>
            <a:pPr marL="201168" indent="-201168">
              <a:lnSpc>
                <a:spcPct val="112000"/>
              </a:lnSpc>
              <a:spcAft>
                <a:spcPts val="600"/>
              </a:spcAft>
              <a:buClr>
                <a:srgbClr val="5EEAD4"/>
              </a:buClr>
              <a:buFont typeface="Arial"/>
              <a:buChar char="•"/>
            </a:pPr>
            <a:r>
              <a:rPr sz="1150" b="0">
                <a:solidFill>
                  <a:srgbClr val="E5E7EB"/>
                </a:solidFill>
                <a:latin typeface="Malgun Gothic"/>
              </a:rPr>
              <a:t>전공·직무 공통 역량 3개 → 추천 불가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364992" y="1691640"/>
            <a:ext cx="2606040" cy="365760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Oval 17"/>
          <p:cNvSpPr/>
          <p:nvPr/>
        </p:nvSpPr>
        <p:spPr>
          <a:xfrm>
            <a:off x="3566160" y="1837944"/>
            <a:ext cx="384048" cy="384048"/>
          </a:xfrm>
          <a:prstGeom prst="ellipse">
            <a:avLst/>
          </a:prstGeom>
          <a:solidFill>
            <a:srgbClr val="FB7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78224" y="1883664"/>
            <a:ext cx="1691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FB7185"/>
                </a:solidFill>
                <a:latin typeface="Malgun Gothic"/>
              </a:rPr>
              <a:t>원인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93592" y="2359152"/>
            <a:ext cx="2148840" cy="285292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01168" indent="-201168">
              <a:lnSpc>
                <a:spcPct val="112000"/>
              </a:lnSpc>
              <a:spcAft>
                <a:spcPts val="600"/>
              </a:spcAft>
              <a:buClr>
                <a:srgbClr val="5EEAD4"/>
              </a:buClr>
              <a:buFont typeface="Arial"/>
              <a:buChar char="•"/>
            </a:pPr>
            <a:r>
              <a:rPr sz="1150" b="0">
                <a:solidFill>
                  <a:srgbClr val="E5E7EB"/>
                </a:solidFill>
                <a:latin typeface="Malgun Gothic"/>
              </a:rPr>
              <a:t>"근거 과목 2개 이상" 규칙 — 대학 과목은 주제당 1개</a:t>
            </a:r>
          </a:p>
          <a:p>
            <a:pPr marL="201168" indent="-201168">
              <a:lnSpc>
                <a:spcPct val="112000"/>
              </a:lnSpc>
              <a:spcAft>
                <a:spcPts val="600"/>
              </a:spcAft>
              <a:buClr>
                <a:srgbClr val="5EEAD4"/>
              </a:buClr>
              <a:buFont typeface="Arial"/>
              <a:buChar char="•"/>
            </a:pPr>
            <a:r>
              <a:rPr sz="1150" b="0">
                <a:solidFill>
                  <a:srgbClr val="E5E7EB"/>
                </a:solidFill>
                <a:latin typeface="Malgun Gothic"/>
              </a:rPr>
              <a:t>과목명 정확 일치 — '기계학습 개론'을 '기계학습'으로 줄이면 무효</a:t>
            </a:r>
          </a:p>
          <a:p>
            <a:pPr marL="201168" indent="-201168">
              <a:lnSpc>
                <a:spcPct val="112000"/>
              </a:lnSpc>
              <a:spcAft>
                <a:spcPts val="600"/>
              </a:spcAft>
              <a:buClr>
                <a:srgbClr val="5EEAD4"/>
              </a:buClr>
              <a:buFont typeface="Arial"/>
              <a:buChar char="•"/>
            </a:pPr>
            <a:r>
              <a:rPr sz="1150" b="1">
                <a:solidFill>
                  <a:srgbClr val="E5E7EB"/>
                </a:solidFill>
                <a:latin typeface="Malgun Gothic"/>
              </a:rPr>
              <a:t>"없으면 빈 배열이 정답"이 없었다</a:t>
            </a:r>
            <a:r>
              <a:rPr sz="1150" b="0">
                <a:solidFill>
                  <a:srgbClr val="E5E7EB"/>
                </a:solidFill>
                <a:latin typeface="Malgun Gothic"/>
              </a:rPr>
              <a:t> → 간호학과에도 무언가를 붙임</a:t>
            </a:r>
          </a:p>
          <a:p>
            <a:pPr marL="201168" indent="-201168">
              <a:lnSpc>
                <a:spcPct val="112000"/>
              </a:lnSpc>
              <a:spcAft>
                <a:spcPts val="600"/>
              </a:spcAft>
              <a:buClr>
                <a:srgbClr val="5EEAD4"/>
              </a:buClr>
              <a:buFont typeface="Arial"/>
              <a:buChar char="•"/>
            </a:pPr>
            <a:r>
              <a:rPr sz="1150" b="0">
                <a:solidFill>
                  <a:srgbClr val="E5E7EB"/>
                </a:solidFill>
                <a:latin typeface="Malgun Gothic"/>
              </a:rPr>
              <a:t>대표 표기 자기 이름이 사전 조회에서 탈락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81344" y="1691640"/>
            <a:ext cx="2606040" cy="365760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Oval 21"/>
          <p:cNvSpPr/>
          <p:nvPr/>
        </p:nvSpPr>
        <p:spPr>
          <a:xfrm>
            <a:off x="6382512" y="1837944"/>
            <a:ext cx="384048" cy="384048"/>
          </a:xfrm>
          <a:prstGeom prst="ellipse">
            <a:avLst/>
          </a:prstGeom>
          <a:solidFill>
            <a:srgbClr val="5EEA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94576" y="1883664"/>
            <a:ext cx="1691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5EEAD4"/>
                </a:solidFill>
                <a:latin typeface="Malgun Gothic"/>
              </a:rPr>
              <a:t>어떻게 알아챘나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9944" y="2359152"/>
            <a:ext cx="2148840" cy="285292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01168" indent="-201168">
              <a:lnSpc>
                <a:spcPct val="112000"/>
              </a:lnSpc>
              <a:spcAft>
                <a:spcPts val="600"/>
              </a:spcAft>
              <a:buClr>
                <a:srgbClr val="5EEAD4"/>
              </a:buClr>
              <a:buFont typeface="Arial"/>
              <a:buChar char="•"/>
            </a:pPr>
            <a:r>
              <a:rPr sz="1150" b="0">
                <a:solidFill>
                  <a:srgbClr val="E5E7EB"/>
                </a:solidFill>
                <a:latin typeface="Malgun Gothic"/>
              </a:rPr>
              <a:t>결과 파일을 눈으로 열어 봤다 — "컴공 = Security 하나"는 누가 봐도 이상</a:t>
            </a:r>
          </a:p>
          <a:p>
            <a:pPr marL="201168" indent="-201168">
              <a:lnSpc>
                <a:spcPct val="112000"/>
              </a:lnSpc>
              <a:spcAft>
                <a:spcPts val="600"/>
              </a:spcAft>
              <a:buClr>
                <a:srgbClr val="5EEAD4"/>
              </a:buClr>
              <a:buFont typeface="Arial"/>
              <a:buChar char="•"/>
            </a:pPr>
            <a:r>
              <a:rPr sz="1150" b="1">
                <a:solidFill>
                  <a:srgbClr val="E5E7EB"/>
                </a:solidFill>
                <a:latin typeface="Malgun Gothic"/>
              </a:rPr>
              <a:t>같은 뿌리 4회 더: </a:t>
            </a:r>
            <a:r>
              <a:rPr sz="1150" b="0">
                <a:solidFill>
                  <a:srgbClr val="E5E7EB"/>
                </a:solidFill>
                <a:latin typeface="Malgun Gothic"/>
              </a:rPr>
              <a:t>"정확히 3개" → Cloud를 채움 · "4~8개" · "최대 5개" · "3문장 이상" → 없는 직무 업무를 상상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997696" y="1691640"/>
            <a:ext cx="2606040" cy="365760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Oval 25"/>
          <p:cNvSpPr/>
          <p:nvPr/>
        </p:nvSpPr>
        <p:spPr>
          <a:xfrm>
            <a:off x="9198864" y="1837944"/>
            <a:ext cx="384048" cy="384048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→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710928" y="1883664"/>
            <a:ext cx="1691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34D399"/>
                </a:solidFill>
                <a:latin typeface="Malgun Gothic"/>
              </a:rPr>
              <a:t>바꾼 것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26296" y="2359152"/>
            <a:ext cx="2148840" cy="285292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01168" indent="-201168">
              <a:lnSpc>
                <a:spcPct val="112000"/>
              </a:lnSpc>
              <a:spcAft>
                <a:spcPts val="600"/>
              </a:spcAft>
              <a:buClr>
                <a:srgbClr val="5EEAD4"/>
              </a:buClr>
              <a:buFont typeface="Arial"/>
              <a:buChar char="•"/>
            </a:pPr>
            <a:r>
              <a:rPr sz="1150" b="0">
                <a:solidFill>
                  <a:srgbClr val="E5E7EB"/>
                </a:solidFill>
                <a:latin typeface="Malgun Gothic"/>
              </a:rPr>
              <a:t>근거 1개면 채택, 부분 일치 허용</a:t>
            </a:r>
          </a:p>
          <a:p>
            <a:pPr marL="201168" indent="-201168">
              <a:lnSpc>
                <a:spcPct val="112000"/>
              </a:lnSpc>
              <a:spcAft>
                <a:spcPts val="600"/>
              </a:spcAft>
              <a:buClr>
                <a:srgbClr val="5EEAD4"/>
              </a:buClr>
              <a:buFont typeface="Arial"/>
              <a:buChar char="•"/>
            </a:pPr>
            <a:r>
              <a:rPr sz="1150" b="0">
                <a:solidFill>
                  <a:srgbClr val="E5E7EB"/>
                </a:solidFill>
                <a:latin typeface="Malgun Gothic"/>
              </a:rPr>
              <a:t>프롬프트에 음성 예시 4건 + "없으면 []"</a:t>
            </a:r>
          </a:p>
          <a:p>
            <a:pPr marL="201168" indent="-201168">
              <a:lnSpc>
                <a:spcPct val="112000"/>
              </a:lnSpc>
              <a:spcAft>
                <a:spcPts val="600"/>
              </a:spcAft>
              <a:buClr>
                <a:srgbClr val="5EEAD4"/>
              </a:buClr>
              <a:buFont typeface="Arial"/>
              <a:buChar char="•"/>
            </a:pPr>
            <a:r>
              <a:rPr sz="1150" b="0">
                <a:solidFill>
                  <a:srgbClr val="E5E7EB"/>
                </a:solidFill>
                <a:latin typeface="Malgun Gothic"/>
              </a:rPr>
              <a:t>개수 지시 전부 삭제 — </a:t>
            </a:r>
            <a:r>
              <a:rPr sz="1150" b="1">
                <a:solidFill>
                  <a:srgbClr val="E5E7EB"/>
                </a:solidFill>
                <a:latin typeface="Malgun Gothic"/>
              </a:rPr>
              <a:t>"근거가 1개면 1개만"</a:t>
            </a:r>
          </a:p>
          <a:p>
            <a:pPr marL="201168" indent="-201168">
              <a:lnSpc>
                <a:spcPct val="112000"/>
              </a:lnSpc>
              <a:spcAft>
                <a:spcPts val="600"/>
              </a:spcAft>
              <a:buClr>
                <a:srgbClr val="5EEAD4"/>
              </a:buClr>
              <a:buFont typeface="Arial"/>
              <a:buChar char="•"/>
            </a:pPr>
            <a:r>
              <a:rPr sz="1150" b="1">
                <a:solidFill>
                  <a:srgbClr val="E5E7EB"/>
                </a:solidFill>
                <a:latin typeface="Malgun Gothic"/>
              </a:rPr>
              <a:t>LLM 호출과 필터를 분리, 원출력 캐시(3층 보관)</a:t>
            </a:r>
            <a:r>
              <a:rPr sz="1150" b="0">
                <a:solidFill>
                  <a:srgbClr val="E5E7EB"/>
                </a:solidFill>
                <a:latin typeface="Malgun Gothic"/>
              </a:rPr>
              <a:t> → 이후 재추출은 0원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48640" y="5623560"/>
            <a:ext cx="11064240" cy="566928"/>
          </a:xfrm>
          <a:prstGeom prst="roundRect">
            <a:avLst>
              <a:gd name="adj" fmla="val 30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22960" y="5742432"/>
            <a:ext cx="106070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FB7185"/>
                </a:solidFill>
                <a:latin typeface="Malgun Gothic"/>
              </a:rPr>
              <a:t>배운 문장  </a:t>
            </a:r>
            <a:r>
              <a:rPr sz="1400" b="1" i="0">
                <a:solidFill>
                  <a:srgbClr val="E5E7EB"/>
                </a:solidFill>
                <a:latin typeface="Malgun Gothic"/>
              </a:rPr>
              <a:t>LLM에게 "없다"라고 말할 권리를 주지 않으면, 있는 것처럼 말한다.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2801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 i="0">
                <a:solidFill>
                  <a:srgbClr val="1E293B"/>
                </a:solidFill>
                <a:latin typeface="Arial"/>
              </a:rP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17320" y="502920"/>
            <a:ext cx="8778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E5E7EB"/>
                </a:solidFill>
                <a:latin typeface="Malgun Gothic"/>
              </a:rPr>
              <a:t>시행착오 ② — 글자가 같아야 이어진다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078992"/>
            <a:ext cx="9418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94A3B8"/>
                </a:solidFill>
                <a:latin typeface="Malgun Gothic"/>
              </a:rPr>
              <a:t>9/15 낮, 전공·직무 공통 역량이 8개에서 멈췄다</a:t>
            </a:r>
          </a:p>
        </p:txBody>
      </p:sp>
      <p:cxnSp>
        <p:nvCxnSpPr>
          <p:cNvPr id="6" name="Connector 5"/>
          <p:cNvCxnSpPr/>
          <p:nvPr/>
        </p:nvCxnSpPr>
        <p:spPr>
          <a:xfrm flipV="1">
            <a:off x="10651845" y="593445"/>
            <a:ext cx="452628" cy="205740"/>
          </a:xfrm>
          <a:prstGeom prst="line">
            <a:avLst/>
          </a:prstGeom>
          <a:ln w="17145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1104473" y="593445"/>
            <a:ext cx="411480" cy="246888"/>
          </a:xfrm>
          <a:prstGeom prst="line">
            <a:avLst/>
          </a:prstGeom>
          <a:ln w="17145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Oval 7"/>
          <p:cNvSpPr/>
          <p:nvPr/>
        </p:nvSpPr>
        <p:spPr>
          <a:xfrm>
            <a:off x="10561320" y="708660"/>
            <a:ext cx="181051" cy="181051"/>
          </a:xfrm>
          <a:prstGeom prst="ellipse">
            <a:avLst/>
          </a:prstGeom>
          <a:solidFill>
            <a:srgbClr val="5EEA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013948" y="502920"/>
            <a:ext cx="181051" cy="181051"/>
          </a:xfrm>
          <a:prstGeom prst="ellipse">
            <a:avLst/>
          </a:prstGeom>
          <a:solidFill>
            <a:srgbClr val="FB7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425428" y="749808"/>
            <a:ext cx="181051" cy="181051"/>
          </a:xfrm>
          <a:prstGeom prst="ellipse">
            <a:avLst/>
          </a:prstGeom>
          <a:solidFill>
            <a:srgbClr val="5EEA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155680" y="644652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94A3B8"/>
                </a:solidFill>
                <a:latin typeface="Arial"/>
              </a:rPr>
              <a:t>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94A3B8"/>
                </a:solidFill>
                <a:latin typeface="Malgun Gothic"/>
              </a:rPr>
              <a:t>역량 경로 추천 — 전공 ↔ 역량 ↔ LG 계열사 신입 직무 지식그래프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1691640"/>
            <a:ext cx="2606040" cy="365760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Oval 13"/>
          <p:cNvSpPr/>
          <p:nvPr/>
        </p:nvSpPr>
        <p:spPr>
          <a:xfrm>
            <a:off x="749808" y="1837944"/>
            <a:ext cx="384048" cy="384048"/>
          </a:xfrm>
          <a:prstGeom prst="ellipse">
            <a:avLst/>
          </a:prstGeom>
          <a:solidFill>
            <a:srgbClr val="FB7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61872" y="1883664"/>
            <a:ext cx="1691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FB7185"/>
                </a:solidFill>
                <a:latin typeface="Malgun Gothic"/>
              </a:rPr>
              <a:t>증상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2359152"/>
            <a:ext cx="2148840" cy="285292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01168" indent="-201168">
              <a:lnSpc>
                <a:spcPct val="112000"/>
              </a:lnSpc>
              <a:spcAft>
                <a:spcPts val="600"/>
              </a:spcAft>
              <a:buClr>
                <a:srgbClr val="5EEAD4"/>
              </a:buClr>
              <a:buFont typeface="Arial"/>
              <a:buChar char="•"/>
            </a:pPr>
            <a:r>
              <a:rPr sz="1150" b="0">
                <a:solidFill>
                  <a:srgbClr val="E5E7EB"/>
                </a:solidFill>
                <a:latin typeface="Malgun Gothic"/>
              </a:rPr>
              <a:t>어휘를 정리해도 전공·직무 공통 역량 8개</a:t>
            </a:r>
          </a:p>
          <a:p>
            <a:pPr marL="201168" indent="-201168">
              <a:lnSpc>
                <a:spcPct val="112000"/>
              </a:lnSpc>
              <a:spcAft>
                <a:spcPts val="600"/>
              </a:spcAft>
              <a:buClr>
                <a:srgbClr val="5EEAD4"/>
              </a:buClr>
              <a:buFont typeface="Arial"/>
              <a:buChar char="•"/>
            </a:pPr>
            <a:r>
              <a:rPr sz="1150" b="1">
                <a:solidFill>
                  <a:srgbClr val="E5E7EB"/>
                </a:solidFill>
                <a:latin typeface="Malgun Gothic"/>
              </a:rPr>
              <a:t>직무: </a:t>
            </a:r>
            <a:r>
              <a:rPr sz="1150" b="0">
                <a:solidFill>
                  <a:srgbClr val="E5E7EB"/>
                </a:solidFill>
                <a:latin typeface="Malgun Gothic"/>
              </a:rPr>
              <a:t>Java, React, AWS, Oracle (도구 이름)</a:t>
            </a:r>
          </a:p>
          <a:p>
            <a:pPr marL="201168" indent="-201168">
              <a:lnSpc>
                <a:spcPct val="112000"/>
              </a:lnSpc>
              <a:spcAft>
                <a:spcPts val="600"/>
              </a:spcAft>
              <a:buClr>
                <a:srgbClr val="5EEAD4"/>
              </a:buClr>
              <a:buFont typeface="Arial"/>
              <a:buChar char="•"/>
            </a:pPr>
            <a:r>
              <a:rPr sz="1150" b="1">
                <a:solidFill>
                  <a:srgbClr val="E5E7EB"/>
                </a:solidFill>
                <a:latin typeface="Malgun Gothic"/>
              </a:rPr>
              <a:t>전공: </a:t>
            </a:r>
            <a:r>
              <a:rPr sz="1150" b="0">
                <a:solidFill>
                  <a:srgbClr val="E5E7EB"/>
                </a:solidFill>
                <a:latin typeface="Malgun Gothic"/>
              </a:rPr>
              <a:t>Programming, Database, Cloud (학문 이름)</a:t>
            </a:r>
          </a:p>
          <a:p>
            <a:pPr marL="201168" indent="-201168">
              <a:lnSpc>
                <a:spcPct val="112000"/>
              </a:lnSpc>
              <a:spcAft>
                <a:spcPts val="600"/>
              </a:spcAft>
              <a:buClr>
                <a:srgbClr val="5EEAD4"/>
              </a:buClr>
              <a:buFont typeface="Arial"/>
              <a:buChar char="•"/>
            </a:pPr>
            <a:r>
              <a:rPr sz="1150" b="0">
                <a:solidFill>
                  <a:srgbClr val="E5E7EB"/>
                </a:solidFill>
                <a:latin typeface="Malgun Gothic"/>
              </a:rPr>
              <a:t>같은 뜻인데 글자가 달라 선이 안 이어짐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364992" y="1691640"/>
            <a:ext cx="2606040" cy="365760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Oval 17"/>
          <p:cNvSpPr/>
          <p:nvPr/>
        </p:nvSpPr>
        <p:spPr>
          <a:xfrm>
            <a:off x="3566160" y="1837944"/>
            <a:ext cx="384048" cy="384048"/>
          </a:xfrm>
          <a:prstGeom prst="ellipse">
            <a:avLst/>
          </a:prstGeom>
          <a:solidFill>
            <a:srgbClr val="FB7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78224" y="1883664"/>
            <a:ext cx="1691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FB7185"/>
                </a:solidFill>
                <a:latin typeface="Malgun Gothic"/>
              </a:rPr>
              <a:t>원인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93592" y="2359152"/>
            <a:ext cx="2148840" cy="285292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01168" indent="-201168">
              <a:lnSpc>
                <a:spcPct val="112000"/>
              </a:lnSpc>
              <a:spcAft>
                <a:spcPts val="600"/>
              </a:spcAft>
              <a:buClr>
                <a:srgbClr val="5EEAD4"/>
              </a:buClr>
              <a:buFont typeface="Arial"/>
              <a:buChar char="•"/>
            </a:pPr>
            <a:r>
              <a:rPr sz="1150" b="0">
                <a:solidFill>
                  <a:srgbClr val="E5E7EB"/>
                </a:solidFill>
                <a:latin typeface="Malgun Gothic"/>
              </a:rPr>
              <a:t>평평한(flat) 사전 — 표기만 통일하고 개념 사이 관계가 없었다</a:t>
            </a:r>
          </a:p>
          <a:p>
            <a:pPr marL="201168" indent="-201168">
              <a:lnSpc>
                <a:spcPct val="112000"/>
              </a:lnSpc>
              <a:spcAft>
                <a:spcPts val="600"/>
              </a:spcAft>
              <a:buClr>
                <a:srgbClr val="5EEAD4"/>
              </a:buClr>
              <a:buFont typeface="Arial"/>
              <a:buChar char="•"/>
            </a:pPr>
            <a:r>
              <a:rPr sz="1150" b="0">
                <a:solidFill>
                  <a:srgbClr val="E5E7EB"/>
                </a:solidFill>
                <a:latin typeface="Malgun Gothic"/>
              </a:rPr>
              <a:t>LG 계열사로 넓혀도 어휘가 안 겹치는 계열사는 노드만 늘고 추천은 안 늘었다 (LGES 초기 실측)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81344" y="1691640"/>
            <a:ext cx="2606040" cy="365760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Oval 21"/>
          <p:cNvSpPr/>
          <p:nvPr/>
        </p:nvSpPr>
        <p:spPr>
          <a:xfrm>
            <a:off x="6382512" y="1837944"/>
            <a:ext cx="384048" cy="384048"/>
          </a:xfrm>
          <a:prstGeom prst="ellipse">
            <a:avLst/>
          </a:prstGeom>
          <a:solidFill>
            <a:srgbClr val="5EEA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94576" y="1883664"/>
            <a:ext cx="1691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5EEAD4"/>
                </a:solidFill>
                <a:latin typeface="Malgun Gothic"/>
              </a:rPr>
              <a:t>어떻게 알아챘나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9944" y="2359152"/>
            <a:ext cx="2148840" cy="285292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01168" indent="-201168">
              <a:lnSpc>
                <a:spcPct val="112000"/>
              </a:lnSpc>
              <a:spcAft>
                <a:spcPts val="600"/>
              </a:spcAft>
              <a:buClr>
                <a:srgbClr val="5EEAD4"/>
              </a:buClr>
              <a:buFont typeface="Arial"/>
              <a:buChar char="•"/>
            </a:pPr>
            <a:r>
              <a:rPr sz="1150" b="0">
                <a:solidFill>
                  <a:srgbClr val="E5E7EB"/>
                </a:solidFill>
                <a:latin typeface="Malgun Gothic"/>
              </a:rPr>
              <a:t>빌더 리포트의 "양쪽 공통 Skill" 숫자 — 8에서 안 움직였다</a:t>
            </a:r>
          </a:p>
          <a:p>
            <a:pPr marL="201168" indent="-201168">
              <a:lnSpc>
                <a:spcPct val="112000"/>
              </a:lnSpc>
              <a:spcAft>
                <a:spcPts val="600"/>
              </a:spcAft>
              <a:buClr>
                <a:srgbClr val="5EEAD4"/>
              </a:buClr>
              <a:buFont typeface="Arial"/>
              <a:buChar char="•"/>
            </a:pPr>
            <a:r>
              <a:rPr sz="1150" b="0">
                <a:solidFill>
                  <a:srgbClr val="E5E7EB"/>
                </a:solidFill>
                <a:latin typeface="Malgun Gothic"/>
              </a:rPr>
              <a:t>직무 쪽 상위 역량 목록과 전공 쪽 목록을 나란히 놓고 보니 층이 달랐다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997696" y="1691640"/>
            <a:ext cx="2606040" cy="365760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Oval 25"/>
          <p:cNvSpPr/>
          <p:nvPr/>
        </p:nvSpPr>
        <p:spPr>
          <a:xfrm>
            <a:off x="9198864" y="1837944"/>
            <a:ext cx="384048" cy="384048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→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710928" y="1883664"/>
            <a:ext cx="1691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34D399"/>
                </a:solidFill>
                <a:latin typeface="Malgun Gothic"/>
              </a:rPr>
              <a:t>바꾼 것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26296" y="2359152"/>
            <a:ext cx="2148840" cy="285292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01168" indent="-201168">
              <a:lnSpc>
                <a:spcPct val="112000"/>
              </a:lnSpc>
              <a:spcAft>
                <a:spcPts val="600"/>
              </a:spcAft>
              <a:buClr>
                <a:srgbClr val="5EEAD4"/>
              </a:buClr>
              <a:buFont typeface="Arial"/>
              <a:buChar char="•"/>
            </a:pPr>
            <a:r>
              <a:rPr sz="1150" b="1">
                <a:solidFill>
                  <a:srgbClr val="E5E7EB"/>
                </a:solidFill>
                <a:latin typeface="Malgun Gothic"/>
              </a:rPr>
              <a:t>IS_A 한 단계 102개: </a:t>
            </a:r>
            <a:r>
              <a:rPr sz="1150" b="0">
                <a:solidFill>
                  <a:srgbClr val="E5E7EB"/>
                </a:solidFill>
                <a:latin typeface="Malgun Gothic"/>
              </a:rPr>
              <a:t>"Oracle은 Database의 한 종류"</a:t>
            </a:r>
          </a:p>
          <a:p>
            <a:pPr marL="201168" indent="-201168">
              <a:lnSpc>
                <a:spcPct val="112000"/>
              </a:lnSpc>
              <a:spcAft>
                <a:spcPts val="600"/>
              </a:spcAft>
              <a:buClr>
                <a:srgbClr val="5EEAD4"/>
              </a:buClr>
              <a:buFont typeface="Arial"/>
              <a:buChar char="•"/>
            </a:pPr>
            <a:r>
              <a:rPr sz="1150" b="0">
                <a:solidFill>
                  <a:srgbClr val="E5E7EB"/>
                </a:solidFill>
                <a:latin typeface="Malgun Gothic"/>
              </a:rPr>
              <a:t>규칙 ① 한 단계만 (두 단계면 모든 전공이 모든 직무와 이어져 변별력 0)</a:t>
            </a:r>
          </a:p>
          <a:p>
            <a:pPr marL="201168" indent="-201168">
              <a:lnSpc>
                <a:spcPct val="112000"/>
              </a:lnSpc>
              <a:spcAft>
                <a:spcPts val="600"/>
              </a:spcAft>
              <a:buClr>
                <a:srgbClr val="5EEAD4"/>
              </a:buClr>
              <a:buFont typeface="Arial"/>
              <a:buChar char="•"/>
            </a:pPr>
            <a:r>
              <a:rPr sz="1150" b="0">
                <a:solidFill>
                  <a:srgbClr val="E5E7EB"/>
                </a:solidFill>
                <a:latin typeface="Malgun Gothic"/>
              </a:rPr>
              <a:t>규칙 ② 부모도 과목명에 근거 있는 말만</a:t>
            </a:r>
          </a:p>
          <a:p>
            <a:pPr marL="201168" indent="-201168">
              <a:lnSpc>
                <a:spcPct val="112000"/>
              </a:lnSpc>
              <a:spcAft>
                <a:spcPts val="600"/>
              </a:spcAft>
              <a:buClr>
                <a:srgbClr val="5EEAD4"/>
              </a:buClr>
              <a:buFont typeface="Arial"/>
              <a:buChar char="•"/>
            </a:pPr>
            <a:r>
              <a:rPr sz="1150" b="1">
                <a:solidFill>
                  <a:srgbClr val="E5E7EB"/>
                </a:solidFill>
                <a:latin typeface="Malgun Gothic"/>
              </a:rPr>
              <a:t>규칙 ③ 추론은 위로만 </a:t>
            </a:r>
            <a:r>
              <a:rPr sz="1150" b="0">
                <a:solidFill>
                  <a:srgbClr val="E5E7EB"/>
                </a:solidFill>
                <a:latin typeface="Malgun Gothic"/>
              </a:rPr>
              <a:t>— 전공이 Database를 가르친다고 Oracle을 안다고 말하지 않는다</a:t>
            </a:r>
          </a:p>
          <a:p>
            <a:pPr marL="201168" indent="-201168">
              <a:lnSpc>
                <a:spcPct val="112000"/>
              </a:lnSpc>
              <a:spcAft>
                <a:spcPts val="600"/>
              </a:spcAft>
              <a:buClr>
                <a:srgbClr val="5EEAD4"/>
              </a:buClr>
              <a:buFont typeface="Arial"/>
              <a:buChar char="•"/>
            </a:pPr>
            <a:r>
              <a:rPr sz="1150" b="0">
                <a:solidFill>
                  <a:srgbClr val="E5E7EB"/>
                </a:solidFill>
                <a:latin typeface="Malgun Gothic"/>
              </a:rPr>
              <a:t>공통 8 → 22 → 30, 이어지는 직무 역량 0 → 75. 어휘 3단계로 비IT까지: 신입 직무 52 → 75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48640" y="5623560"/>
            <a:ext cx="11064240" cy="566928"/>
          </a:xfrm>
          <a:prstGeom prst="roundRect">
            <a:avLst>
              <a:gd name="adj" fmla="val 30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22960" y="5742432"/>
            <a:ext cx="106070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FB7185"/>
                </a:solidFill>
                <a:latin typeface="Malgun Gothic"/>
              </a:rPr>
              <a:t>배운 문장  </a:t>
            </a:r>
            <a:r>
              <a:rPr sz="1400" b="1" i="0">
                <a:solidFill>
                  <a:srgbClr val="E5E7EB"/>
                </a:solidFill>
                <a:latin typeface="Malgun Gothic"/>
              </a:rPr>
              <a:t>온톨로지는 거창한 게 아니라 "A는 B의 한 종류" 100줄이었다. 대신 방향(위로만)을 지키는 게 전부.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2801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 i="0">
                <a:solidFill>
                  <a:srgbClr val="1E293B"/>
                </a:solidFill>
                <a:latin typeface="Arial"/>
              </a:rPr>
              <a:t>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17320" y="502920"/>
            <a:ext cx="8778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E5E7EB"/>
                </a:solidFill>
                <a:latin typeface="Malgun Gothic"/>
              </a:rPr>
              <a:t>시행착오 ③ — 점수식은 눈이 아니라 정답지로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078992"/>
            <a:ext cx="9418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94A3B8"/>
                </a:solidFill>
                <a:latin typeface="Malgun Gothic"/>
              </a:rPr>
              <a:t>점수식을 세 번 바꿨고, 매번 "이상한 1위"가 알려줬다. 바뀐 건 점수식보다 알아채는 방법이었다</a:t>
            </a:r>
          </a:p>
        </p:txBody>
      </p:sp>
      <p:cxnSp>
        <p:nvCxnSpPr>
          <p:cNvPr id="6" name="Connector 5"/>
          <p:cNvCxnSpPr/>
          <p:nvPr/>
        </p:nvCxnSpPr>
        <p:spPr>
          <a:xfrm flipV="1">
            <a:off x="10651845" y="593445"/>
            <a:ext cx="452628" cy="205740"/>
          </a:xfrm>
          <a:prstGeom prst="line">
            <a:avLst/>
          </a:prstGeom>
          <a:ln w="17145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1104473" y="593445"/>
            <a:ext cx="411480" cy="246888"/>
          </a:xfrm>
          <a:prstGeom prst="line">
            <a:avLst/>
          </a:prstGeom>
          <a:ln w="17145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Oval 7"/>
          <p:cNvSpPr/>
          <p:nvPr/>
        </p:nvSpPr>
        <p:spPr>
          <a:xfrm>
            <a:off x="10561320" y="708660"/>
            <a:ext cx="181051" cy="181051"/>
          </a:xfrm>
          <a:prstGeom prst="ellipse">
            <a:avLst/>
          </a:prstGeom>
          <a:solidFill>
            <a:srgbClr val="5EEA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013948" y="502920"/>
            <a:ext cx="181051" cy="181051"/>
          </a:xfrm>
          <a:prstGeom prst="ellipse">
            <a:avLst/>
          </a:prstGeom>
          <a:solidFill>
            <a:srgbClr val="FB7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425428" y="749808"/>
            <a:ext cx="181051" cy="181051"/>
          </a:xfrm>
          <a:prstGeom prst="ellipse">
            <a:avLst/>
          </a:prstGeom>
          <a:solidFill>
            <a:srgbClr val="5EEA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155680" y="644652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94A3B8"/>
                </a:solidFill>
                <a:latin typeface="Arial"/>
              </a:rPr>
              <a:t>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94A3B8"/>
                </a:solidFill>
                <a:latin typeface="Malgun Gothic"/>
              </a:rPr>
              <a:t>역량 경로 추천 — 전공 ↔ 역량 ↔ LG 계열사 신입 직무 지식그래프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548640" y="1691640"/>
          <a:ext cx="11064240" cy="2834640"/>
        </p:xfrm>
        <a:graphic>
          <a:graphicData uri="http://schemas.openxmlformats.org/drawingml/2006/table">
            <a:tbl>
              <a:tblPr firstRow="0" bandRow="0"/>
              <a:tblGrid>
                <a:gridCol w="1463040"/>
                <a:gridCol w="4206240"/>
                <a:gridCol w="2377440"/>
                <a:gridCol w="3017520"/>
              </a:tblGrid>
              <a:tr h="56692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버전</a:t>
                      </a:r>
                    </a:p>
                  </a:txBody>
                  <a:tcPr marL="73152" marR="73152" marT="36576" marB="36576" anchor="ctr">
                    <a:solidFill>
                      <a:srgbClr val="5EEAD4"/>
                    </a:solidFill>
                    <a:lnL w="6350" cap="flat" cmpd="sng">
                      <a:solidFill>
                        <a:srgbClr val="FFFFFF"/>
                      </a:solidFill>
                    </a:lnL>
                    <a:lnR w="6350" cap="flat" cmpd="sng">
                      <a:solidFill>
                        <a:srgbClr val="FFFFFF"/>
                      </a:solidFill>
                    </a:lnR>
                    <a:lnT w="6350" cap="flat" cmpd="sng">
                      <a:solidFill>
                        <a:srgbClr val="FFFFFF"/>
                      </a:solidFill>
                    </a:lnT>
                    <a:lnB w="6350" cap="flat" cmpd="sng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증상 (이상한 1위)</a:t>
                      </a:r>
                    </a:p>
                  </a:txBody>
                  <a:tcPr marL="73152" marR="73152" marT="36576" marB="36576" anchor="ctr">
                    <a:solidFill>
                      <a:srgbClr val="5EEAD4"/>
                    </a:solidFill>
                    <a:lnL w="6350" cap="flat" cmpd="sng">
                      <a:solidFill>
                        <a:srgbClr val="FFFFFF"/>
                      </a:solidFill>
                    </a:lnL>
                    <a:lnR w="6350" cap="flat" cmpd="sng">
                      <a:solidFill>
                        <a:srgbClr val="FFFFFF"/>
                      </a:solidFill>
                    </a:lnR>
                    <a:lnT w="6350" cap="flat" cmpd="sng">
                      <a:solidFill>
                        <a:srgbClr val="FFFFFF"/>
                      </a:solidFill>
                    </a:lnT>
                    <a:lnB w="6350" cap="flat" cmpd="sng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원인</a:t>
                      </a:r>
                    </a:p>
                  </a:txBody>
                  <a:tcPr marL="73152" marR="73152" marT="36576" marB="36576" anchor="ctr">
                    <a:solidFill>
                      <a:srgbClr val="5EEAD4"/>
                    </a:solidFill>
                    <a:lnL w="6350" cap="flat" cmpd="sng">
                      <a:solidFill>
                        <a:srgbClr val="FFFFFF"/>
                      </a:solidFill>
                    </a:lnL>
                    <a:lnR w="6350" cap="flat" cmpd="sng">
                      <a:solidFill>
                        <a:srgbClr val="FFFFFF"/>
                      </a:solidFill>
                    </a:lnR>
                    <a:lnT w="6350" cap="flat" cmpd="sng">
                      <a:solidFill>
                        <a:srgbClr val="FFFFFF"/>
                      </a:solidFill>
                    </a:lnT>
                    <a:lnB w="6350" cap="flat" cmpd="sng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수정</a:t>
                      </a:r>
                    </a:p>
                  </a:txBody>
                  <a:tcPr marL="73152" marR="73152" marT="36576" marB="36576" anchor="ctr">
                    <a:solidFill>
                      <a:srgbClr val="5EEAD4"/>
                    </a:solidFill>
                    <a:lnL w="6350" cap="flat" cmpd="sng">
                      <a:solidFill>
                        <a:srgbClr val="FFFFFF"/>
                      </a:solidFill>
                    </a:lnL>
                    <a:lnR w="6350" cap="flat" cmpd="sng">
                      <a:solidFill>
                        <a:srgbClr val="FFFFFF"/>
                      </a:solidFill>
                    </a:lnR>
                    <a:lnT w="6350" cap="flat" cmpd="sng">
                      <a:solidFill>
                        <a:srgbClr val="FFFFFF"/>
                      </a:solidFill>
                    </a:lnT>
                    <a:lnB w="6350" cap="flat" cmpd="sng">
                      <a:solidFill>
                        <a:srgbClr val="FFFFFF"/>
                      </a:solidFill>
                    </a:lnB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E5E7EB"/>
                          </a:solidFill>
                          <a:latin typeface="Malgun Gothic"/>
                        </a:rPr>
                        <a:t>집합 코사인</a:t>
                      </a:r>
                    </a:p>
                  </a:txBody>
                  <a:tcPr marL="73152" marR="73152" marT="36576" marB="36576" anchor="ctr">
                    <a:solidFill>
                      <a:srgbClr val="172033"/>
                    </a:solidFill>
                    <a:lnL w="6350" cap="flat" cmpd="sng">
                      <a:solidFill>
                        <a:srgbClr val="334155"/>
                      </a:solidFill>
                    </a:lnL>
                    <a:lnR w="6350" cap="flat" cmpd="sng">
                      <a:solidFill>
                        <a:srgbClr val="334155"/>
                      </a:solidFill>
                    </a:lnR>
                    <a:lnT w="6350" cap="flat" cmpd="sng">
                      <a:solidFill>
                        <a:srgbClr val="334155"/>
                      </a:solidFill>
                    </a:lnT>
                    <a:lnB w="6350" cap="flat" cmpd="sng">
                      <a:solidFill>
                        <a:srgbClr val="33415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E5E7EB"/>
                          </a:solidFill>
                          <a:latin typeface="Malgun Gothic"/>
                        </a:rPr>
                        <a:t>"데이터 분석·통계"에 식물생산과학부·의예과가 1.0 공동 1위, 통계학과 0.82</a:t>
                      </a:r>
                    </a:p>
                  </a:txBody>
                  <a:tcPr marL="73152" marR="73152" marT="36576" marB="36576" anchor="ctr">
                    <a:solidFill>
                      <a:srgbClr val="172033"/>
                    </a:solidFill>
                    <a:lnL w="6350" cap="flat" cmpd="sng">
                      <a:solidFill>
                        <a:srgbClr val="334155"/>
                      </a:solidFill>
                    </a:lnL>
                    <a:lnR w="6350" cap="flat" cmpd="sng">
                      <a:solidFill>
                        <a:srgbClr val="334155"/>
                      </a:solidFill>
                    </a:lnR>
                    <a:lnT w="6350" cap="flat" cmpd="sng">
                      <a:solidFill>
                        <a:srgbClr val="334155"/>
                      </a:solidFill>
                    </a:lnT>
                    <a:lnB w="6350" cap="flat" cmpd="sng">
                      <a:solidFill>
                        <a:srgbClr val="33415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E5E7EB"/>
                          </a:solidFill>
                          <a:latin typeface="Malgun Gothic"/>
                        </a:rPr>
                        <a:t>역량이 적은 전공이 이긴다</a:t>
                      </a:r>
                    </a:p>
                  </a:txBody>
                  <a:tcPr marL="73152" marR="73152" marT="36576" marB="36576" anchor="ctr">
                    <a:solidFill>
                      <a:srgbClr val="172033"/>
                    </a:solidFill>
                    <a:lnL w="6350" cap="flat" cmpd="sng">
                      <a:solidFill>
                        <a:srgbClr val="334155"/>
                      </a:solidFill>
                    </a:lnL>
                    <a:lnR w="6350" cap="flat" cmpd="sng">
                      <a:solidFill>
                        <a:srgbClr val="334155"/>
                      </a:solidFill>
                    </a:lnR>
                    <a:lnT w="6350" cap="flat" cmpd="sng">
                      <a:solidFill>
                        <a:srgbClr val="334155"/>
                      </a:solidFill>
                    </a:lnT>
                    <a:lnB w="6350" cap="flat" cmpd="sng">
                      <a:solidFill>
                        <a:srgbClr val="33415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E5E7EB"/>
                          </a:solidFill>
                          <a:latin typeface="Malgun Gothic"/>
                        </a:rPr>
                        <a:t>커버리지 — 학생 태그 중 채운 비율</a:t>
                      </a:r>
                    </a:p>
                  </a:txBody>
                  <a:tcPr marL="73152" marR="73152" marT="36576" marB="36576" anchor="ctr">
                    <a:solidFill>
                      <a:srgbClr val="172033"/>
                    </a:solidFill>
                    <a:lnL w="6350" cap="flat" cmpd="sng">
                      <a:solidFill>
                        <a:srgbClr val="334155"/>
                      </a:solidFill>
                    </a:lnL>
                    <a:lnR w="6350" cap="flat" cmpd="sng">
                      <a:solidFill>
                        <a:srgbClr val="334155"/>
                      </a:solidFill>
                    </a:lnR>
                    <a:lnT w="6350" cap="flat" cmpd="sng">
                      <a:solidFill>
                        <a:srgbClr val="334155"/>
                      </a:solidFill>
                    </a:lnT>
                    <a:lnB w="6350" cap="flat" cmpd="sng">
                      <a:solidFill>
                        <a:srgbClr val="334155"/>
                      </a:solidFill>
                    </a:lnB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E5E7EB"/>
                          </a:solidFill>
                          <a:latin typeface="Malgun Gothic"/>
                        </a:rPr>
                        <a:t>idf 가중</a:t>
                      </a:r>
                    </a:p>
                  </a:txBody>
                  <a:tcPr marL="73152" marR="73152" marT="36576" marB="36576" anchor="ctr">
                    <a:solidFill>
                      <a:srgbClr val="1E293B"/>
                    </a:solidFill>
                    <a:lnL w="6350" cap="flat" cmpd="sng">
                      <a:solidFill>
                        <a:srgbClr val="334155"/>
                      </a:solidFill>
                    </a:lnL>
                    <a:lnR w="6350" cap="flat" cmpd="sng">
                      <a:solidFill>
                        <a:srgbClr val="334155"/>
                      </a:solidFill>
                    </a:lnR>
                    <a:lnT w="6350" cap="flat" cmpd="sng">
                      <a:solidFill>
                        <a:srgbClr val="334155"/>
                      </a:solidFill>
                    </a:lnT>
                    <a:lnB w="6350" cap="flat" cmpd="sng">
                      <a:solidFill>
                        <a:srgbClr val="33415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E5E7EB"/>
                          </a:solidFill>
                          <a:latin typeface="Malgun Gothic"/>
                        </a:rPr>
                        <a:t>Programming(idf 3.0)을 1과목만 가진 전공이 통계학과(근거 19과목)를 이김</a:t>
                      </a:r>
                    </a:p>
                  </a:txBody>
                  <a:tcPr marL="73152" marR="73152" marT="36576" marB="36576" anchor="ctr">
                    <a:solidFill>
                      <a:srgbClr val="1E293B"/>
                    </a:solidFill>
                    <a:lnL w="6350" cap="flat" cmpd="sng">
                      <a:solidFill>
                        <a:srgbClr val="334155"/>
                      </a:solidFill>
                    </a:lnL>
                    <a:lnR w="6350" cap="flat" cmpd="sng">
                      <a:solidFill>
                        <a:srgbClr val="334155"/>
                      </a:solidFill>
                    </a:lnR>
                    <a:lnT w="6350" cap="flat" cmpd="sng">
                      <a:solidFill>
                        <a:srgbClr val="334155"/>
                      </a:solidFill>
                    </a:lnT>
                    <a:lnB w="6350" cap="flat" cmpd="sng">
                      <a:solidFill>
                        <a:srgbClr val="33415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E5E7EB"/>
                          </a:solidFill>
                          <a:latin typeface="Malgun Gothic"/>
                        </a:rPr>
                        <a:t>드문 역량이 너무 셈</a:t>
                      </a:r>
                    </a:p>
                  </a:txBody>
                  <a:tcPr marL="73152" marR="73152" marT="36576" marB="36576" anchor="ctr">
                    <a:solidFill>
                      <a:srgbClr val="1E293B"/>
                    </a:solidFill>
                    <a:lnL w="6350" cap="flat" cmpd="sng">
                      <a:solidFill>
                        <a:srgbClr val="334155"/>
                      </a:solidFill>
                    </a:lnL>
                    <a:lnR w="6350" cap="flat" cmpd="sng">
                      <a:solidFill>
                        <a:srgbClr val="334155"/>
                      </a:solidFill>
                    </a:lnR>
                    <a:lnT w="6350" cap="flat" cmpd="sng">
                      <a:solidFill>
                        <a:srgbClr val="334155"/>
                      </a:solidFill>
                    </a:lnT>
                    <a:lnB w="6350" cap="flat" cmpd="sng">
                      <a:solidFill>
                        <a:srgbClr val="33415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E5E7EB"/>
                          </a:solidFill>
                          <a:latin typeface="Malgun Gothic"/>
                        </a:rPr>
                        <a:t>√idf × 근거 강도 (과목 3개면 만점)</a:t>
                      </a:r>
                    </a:p>
                  </a:txBody>
                  <a:tcPr marL="73152" marR="73152" marT="36576" marB="36576" anchor="ctr">
                    <a:solidFill>
                      <a:srgbClr val="1E293B"/>
                    </a:solidFill>
                    <a:lnL w="6350" cap="flat" cmpd="sng">
                      <a:solidFill>
                        <a:srgbClr val="334155"/>
                      </a:solidFill>
                    </a:lnL>
                    <a:lnR w="6350" cap="flat" cmpd="sng">
                      <a:solidFill>
                        <a:srgbClr val="334155"/>
                      </a:solidFill>
                    </a:lnR>
                    <a:lnT w="6350" cap="flat" cmpd="sng">
                      <a:solidFill>
                        <a:srgbClr val="334155"/>
                      </a:solidFill>
                    </a:lnT>
                    <a:lnB w="6350" cap="flat" cmpd="sng">
                      <a:solidFill>
                        <a:srgbClr val="334155"/>
                      </a:solidFill>
                    </a:lnB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E5E7EB"/>
                          </a:solidFill>
                          <a:latin typeface="Malgun Gothic"/>
                        </a:rPr>
                        <a:t>직무 코사인</a:t>
                      </a:r>
                    </a:p>
                  </a:txBody>
                  <a:tcPr marL="73152" marR="73152" marT="36576" marB="36576" anchor="ctr">
                    <a:solidFill>
                      <a:srgbClr val="172033"/>
                    </a:solidFill>
                    <a:lnL w="6350" cap="flat" cmpd="sng">
                      <a:solidFill>
                        <a:srgbClr val="334155"/>
                      </a:solidFill>
                    </a:lnL>
                    <a:lnR w="6350" cap="flat" cmpd="sng">
                      <a:solidFill>
                        <a:srgbClr val="334155"/>
                      </a:solidFill>
                    </a:lnR>
                    <a:lnT w="6350" cap="flat" cmpd="sng">
                      <a:solidFill>
                        <a:srgbClr val="334155"/>
                      </a:solidFill>
                    </a:lnT>
                    <a:lnB w="6350" cap="flat" cmpd="sng">
                      <a:solidFill>
                        <a:srgbClr val="33415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E5E7EB"/>
                          </a:solidFill>
                          <a:latin typeface="Malgun Gothic"/>
                        </a:rPr>
                        <a:t>'영업마케팅: Data Analysis 1개' 직무가 항상 만점</a:t>
                      </a:r>
                    </a:p>
                  </a:txBody>
                  <a:tcPr marL="73152" marR="73152" marT="36576" marB="36576" anchor="ctr">
                    <a:solidFill>
                      <a:srgbClr val="172033"/>
                    </a:solidFill>
                    <a:lnL w="6350" cap="flat" cmpd="sng">
                      <a:solidFill>
                        <a:srgbClr val="334155"/>
                      </a:solidFill>
                    </a:lnL>
                    <a:lnR w="6350" cap="flat" cmpd="sng">
                      <a:solidFill>
                        <a:srgbClr val="334155"/>
                      </a:solidFill>
                    </a:lnR>
                    <a:lnT w="6350" cap="flat" cmpd="sng">
                      <a:solidFill>
                        <a:srgbClr val="334155"/>
                      </a:solidFill>
                    </a:lnT>
                    <a:lnB w="6350" cap="flat" cmpd="sng">
                      <a:solidFill>
                        <a:srgbClr val="33415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E5E7EB"/>
                          </a:solidFill>
                          <a:latin typeface="Malgun Gothic"/>
                        </a:rPr>
                        <a:t>역량 1개짜리 공고</a:t>
                      </a:r>
                    </a:p>
                  </a:txBody>
                  <a:tcPr marL="73152" marR="73152" marT="36576" marB="36576" anchor="ctr">
                    <a:solidFill>
                      <a:srgbClr val="172033"/>
                    </a:solidFill>
                    <a:lnL w="6350" cap="flat" cmpd="sng">
                      <a:solidFill>
                        <a:srgbClr val="334155"/>
                      </a:solidFill>
                    </a:lnL>
                    <a:lnR w="6350" cap="flat" cmpd="sng">
                      <a:solidFill>
                        <a:srgbClr val="334155"/>
                      </a:solidFill>
                    </a:lnR>
                    <a:lnT w="6350" cap="flat" cmpd="sng">
                      <a:solidFill>
                        <a:srgbClr val="334155"/>
                      </a:solidFill>
                    </a:lnT>
                    <a:lnB w="6350" cap="flat" cmpd="sng">
                      <a:solidFill>
                        <a:srgbClr val="33415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E5E7EB"/>
                          </a:solidFill>
                          <a:latin typeface="Malgun Gothic"/>
                        </a:rPr>
                        <a:t>역량 2개 이상만 그래프에</a:t>
                      </a:r>
                    </a:p>
                  </a:txBody>
                  <a:tcPr marL="73152" marR="73152" marT="36576" marB="36576" anchor="ctr">
                    <a:solidFill>
                      <a:srgbClr val="172033"/>
                    </a:solidFill>
                    <a:lnL w="6350" cap="flat" cmpd="sng">
                      <a:solidFill>
                        <a:srgbClr val="334155"/>
                      </a:solidFill>
                    </a:lnL>
                    <a:lnR w="6350" cap="flat" cmpd="sng">
                      <a:solidFill>
                        <a:srgbClr val="334155"/>
                      </a:solidFill>
                    </a:lnR>
                    <a:lnT w="6350" cap="flat" cmpd="sng">
                      <a:solidFill>
                        <a:srgbClr val="334155"/>
                      </a:solidFill>
                    </a:lnT>
                    <a:lnB w="6350" cap="flat" cmpd="sng">
                      <a:solidFill>
                        <a:srgbClr val="334155"/>
                      </a:solidFill>
                    </a:lnB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E5E7EB"/>
                          </a:solidFill>
                          <a:latin typeface="Malgun Gothic"/>
                        </a:rPr>
                        <a:t>동점 처리</a:t>
                      </a:r>
                    </a:p>
                  </a:txBody>
                  <a:tcPr marL="73152" marR="73152" marT="36576" marB="36576" anchor="ctr">
                    <a:solidFill>
                      <a:srgbClr val="1E293B"/>
                    </a:solidFill>
                    <a:lnL w="6350" cap="flat" cmpd="sng">
                      <a:solidFill>
                        <a:srgbClr val="334155"/>
                      </a:solidFill>
                    </a:lnL>
                    <a:lnR w="6350" cap="flat" cmpd="sng">
                      <a:solidFill>
                        <a:srgbClr val="334155"/>
                      </a:solidFill>
                    </a:lnR>
                    <a:lnT w="6350" cap="flat" cmpd="sng">
                      <a:solidFill>
                        <a:srgbClr val="334155"/>
                      </a:solidFill>
                    </a:lnT>
                    <a:lnB w="6350" cap="flat" cmpd="sng">
                      <a:solidFill>
                        <a:srgbClr val="33415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E5E7EB"/>
                          </a:solidFill>
                          <a:latin typeface="Malgun Gothic"/>
                        </a:rPr>
                        <a:t>0.4763 / 0.4714가 반올림 경계에서 갈림</a:t>
                      </a:r>
                    </a:p>
                  </a:txBody>
                  <a:tcPr marL="73152" marR="73152" marT="36576" marB="36576" anchor="ctr">
                    <a:solidFill>
                      <a:srgbClr val="1E293B"/>
                    </a:solidFill>
                    <a:lnL w="6350" cap="flat" cmpd="sng">
                      <a:solidFill>
                        <a:srgbClr val="334155"/>
                      </a:solidFill>
                    </a:lnL>
                    <a:lnR w="6350" cap="flat" cmpd="sng">
                      <a:solidFill>
                        <a:srgbClr val="334155"/>
                      </a:solidFill>
                    </a:lnR>
                    <a:lnT w="6350" cap="flat" cmpd="sng">
                      <a:solidFill>
                        <a:srgbClr val="334155"/>
                      </a:solidFill>
                    </a:lnT>
                    <a:lnB w="6350" cap="flat" cmpd="sng">
                      <a:solidFill>
                        <a:srgbClr val="33415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E5E7EB"/>
                          </a:solidFill>
                          <a:latin typeface="Malgun Gothic"/>
                        </a:rPr>
                        <a:t>반올림으로 동점을 묶음</a:t>
                      </a:r>
                    </a:p>
                  </a:txBody>
                  <a:tcPr marL="73152" marR="73152" marT="36576" marB="36576" anchor="ctr">
                    <a:solidFill>
                      <a:srgbClr val="1E293B"/>
                    </a:solidFill>
                    <a:lnL w="6350" cap="flat" cmpd="sng">
                      <a:solidFill>
                        <a:srgbClr val="334155"/>
                      </a:solidFill>
                    </a:lnL>
                    <a:lnR w="6350" cap="flat" cmpd="sng">
                      <a:solidFill>
                        <a:srgbClr val="334155"/>
                      </a:solidFill>
                    </a:lnR>
                    <a:lnT w="6350" cap="flat" cmpd="sng">
                      <a:solidFill>
                        <a:srgbClr val="334155"/>
                      </a:solidFill>
                    </a:lnT>
                    <a:lnB w="6350" cap="flat" cmpd="sng">
                      <a:solidFill>
                        <a:srgbClr val="33415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E5E7EB"/>
                          </a:solidFill>
                          <a:latin typeface="Malgun Gothic"/>
                        </a:rPr>
                        <a:t>인접 0.01 안이면 동점 → 태도 적합으로</a:t>
                      </a:r>
                    </a:p>
                  </a:txBody>
                  <a:tcPr marL="73152" marR="73152" marT="36576" marB="36576" anchor="ctr">
                    <a:solidFill>
                      <a:srgbClr val="1E293B"/>
                    </a:solidFill>
                    <a:lnL w="6350" cap="flat" cmpd="sng">
                      <a:solidFill>
                        <a:srgbClr val="334155"/>
                      </a:solidFill>
                    </a:lnL>
                    <a:lnR w="6350" cap="flat" cmpd="sng">
                      <a:solidFill>
                        <a:srgbClr val="334155"/>
                      </a:solidFill>
                    </a:lnR>
                    <a:lnT w="6350" cap="flat" cmpd="sng">
                      <a:solidFill>
                        <a:srgbClr val="334155"/>
                      </a:solidFill>
                    </a:lnT>
                    <a:lnB w="6350" cap="flat" cmpd="sng">
                      <a:solidFill>
                        <a:srgbClr val="33415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4" name="Rounded Rectangle 13"/>
          <p:cNvSpPr/>
          <p:nvPr/>
        </p:nvSpPr>
        <p:spPr>
          <a:xfrm>
            <a:off x="548640" y="4617720"/>
            <a:ext cx="5394960" cy="100584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Oval 14"/>
          <p:cNvSpPr/>
          <p:nvPr/>
        </p:nvSpPr>
        <p:spPr>
          <a:xfrm>
            <a:off x="749808" y="4764024"/>
            <a:ext cx="384048" cy="384048"/>
          </a:xfrm>
          <a:prstGeom prst="ellipse">
            <a:avLst/>
          </a:prstGeom>
          <a:solidFill>
            <a:srgbClr val="5EEA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61872" y="4809744"/>
            <a:ext cx="4480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5EEAD4"/>
                </a:solidFill>
                <a:latin typeface="Malgun Gothic"/>
              </a:rPr>
              <a:t>알아채는 방법이 바뀌었다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5285231"/>
            <a:ext cx="49377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E5E7EB"/>
                </a:solidFill>
                <a:latin typeface="Malgun Gothic"/>
              </a:rPr>
              <a:t>눈으로 서너 개 보고 고치기 → 고칠 때마다 다른 데가 깨짐 → 정답지 10건 → 24건(비IT 10, 대화 4)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4617720"/>
            <a:ext cx="5394960" cy="100584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Oval 18"/>
          <p:cNvSpPr/>
          <p:nvPr/>
        </p:nvSpPr>
        <p:spPr>
          <a:xfrm>
            <a:off x="6419088" y="4764024"/>
            <a:ext cx="384048" cy="384048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31152" y="4809744"/>
            <a:ext cx="4480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34D399"/>
                </a:solidFill>
                <a:latin typeface="Malgun Gothic"/>
              </a:rPr>
              <a:t>정답지가 실제로 잡은 것 (2회)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5285231"/>
            <a:ext cx="49377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E5E7EB"/>
                </a:solidFill>
                <a:latin typeface="Malgun Gothic"/>
              </a:rPr>
              <a:t>"새 단어 하나 넣었더니 엉뚱한 직무가 1위" — HSAD 미디어 ← '데이터 분석 툴', 디지털 기획 ← Tableau/GA. 이후 매칭 동결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5760720"/>
            <a:ext cx="11064240" cy="566928"/>
          </a:xfrm>
          <a:prstGeom prst="roundRect">
            <a:avLst>
              <a:gd name="adj" fmla="val 30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822960" y="5879592"/>
            <a:ext cx="106070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FB7185"/>
                </a:solidFill>
                <a:latin typeface="Malgun Gothic"/>
              </a:rPr>
              <a:t>배운 문장  </a:t>
            </a:r>
            <a:r>
              <a:rPr sz="1400" b="1" i="0">
                <a:solidFill>
                  <a:srgbClr val="E5E7EB"/>
                </a:solidFill>
                <a:latin typeface="Malgun Gothic"/>
              </a:rPr>
              <a:t>고치기 전에 정답지를 먼저 쓴다. 정답지가 없으면 "고쳤다"와 "옮겼다"를 구분할 수 없다.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2801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 i="0">
                <a:solidFill>
                  <a:srgbClr val="1E293B"/>
                </a:solidFill>
                <a:latin typeface="Arial"/>
              </a:rPr>
              <a:t>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17320" y="502920"/>
            <a:ext cx="8778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E5E7EB"/>
                </a:solidFill>
                <a:latin typeface="Malgun Gothic"/>
              </a:rPr>
              <a:t>시행착오 ④ — 프롬프트 한 단어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078992"/>
            <a:ext cx="9418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94A3B8"/>
                </a:solidFill>
                <a:latin typeface="Malgun Gothic"/>
              </a:rPr>
              <a:t>9/16 저녁, 인터뷰 평가 4건이 실행마다 2/4 ↔ 3/4</a:t>
            </a:r>
          </a:p>
        </p:txBody>
      </p:sp>
      <p:cxnSp>
        <p:nvCxnSpPr>
          <p:cNvPr id="6" name="Connector 5"/>
          <p:cNvCxnSpPr/>
          <p:nvPr/>
        </p:nvCxnSpPr>
        <p:spPr>
          <a:xfrm flipV="1">
            <a:off x="10651845" y="593445"/>
            <a:ext cx="452628" cy="205740"/>
          </a:xfrm>
          <a:prstGeom prst="line">
            <a:avLst/>
          </a:prstGeom>
          <a:ln w="17145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1104473" y="593445"/>
            <a:ext cx="411480" cy="246888"/>
          </a:xfrm>
          <a:prstGeom prst="line">
            <a:avLst/>
          </a:prstGeom>
          <a:ln w="17145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Oval 7"/>
          <p:cNvSpPr/>
          <p:nvPr/>
        </p:nvSpPr>
        <p:spPr>
          <a:xfrm>
            <a:off x="10561320" y="708660"/>
            <a:ext cx="181051" cy="181051"/>
          </a:xfrm>
          <a:prstGeom prst="ellipse">
            <a:avLst/>
          </a:prstGeom>
          <a:solidFill>
            <a:srgbClr val="5EEA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013948" y="502920"/>
            <a:ext cx="181051" cy="181051"/>
          </a:xfrm>
          <a:prstGeom prst="ellipse">
            <a:avLst/>
          </a:prstGeom>
          <a:solidFill>
            <a:srgbClr val="FB7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425428" y="749808"/>
            <a:ext cx="181051" cy="181051"/>
          </a:xfrm>
          <a:prstGeom prst="ellipse">
            <a:avLst/>
          </a:prstGeom>
          <a:solidFill>
            <a:srgbClr val="5EEA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155680" y="644652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94A3B8"/>
                </a:solidFill>
                <a:latin typeface="Arial"/>
              </a:rPr>
              <a:t>10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94A3B8"/>
                </a:solidFill>
                <a:latin typeface="Malgun Gothic"/>
              </a:rPr>
              <a:t>역량 경로 추천 — 전공 ↔ 역량 ↔ LG 계열사 신입 직무 지식그래프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1691640"/>
            <a:ext cx="2606040" cy="365760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Oval 13"/>
          <p:cNvSpPr/>
          <p:nvPr/>
        </p:nvSpPr>
        <p:spPr>
          <a:xfrm>
            <a:off x="749808" y="1837944"/>
            <a:ext cx="384048" cy="384048"/>
          </a:xfrm>
          <a:prstGeom prst="ellipse">
            <a:avLst/>
          </a:prstGeom>
          <a:solidFill>
            <a:srgbClr val="FB7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61872" y="1883664"/>
            <a:ext cx="1691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FB7185"/>
                </a:solidFill>
                <a:latin typeface="Malgun Gothic"/>
              </a:rPr>
              <a:t>증상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2359152"/>
            <a:ext cx="2148840" cy="285292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01168" indent="-201168">
              <a:lnSpc>
                <a:spcPct val="112000"/>
              </a:lnSpc>
              <a:spcAft>
                <a:spcPts val="600"/>
              </a:spcAft>
              <a:buClr>
                <a:srgbClr val="5EEAD4"/>
              </a:buClr>
              <a:buFont typeface="Arial"/>
              <a:buChar char="•"/>
            </a:pPr>
            <a:r>
              <a:rPr sz="1150" b="0">
                <a:solidFill>
                  <a:srgbClr val="E5E7EB"/>
                </a:solidFill>
                <a:latin typeface="Malgun Gothic"/>
              </a:rPr>
              <a:t>같은 자기소개인데 강점 성향이 실행마다 다름 — 발표력·설득력 ↔ 분석성만</a:t>
            </a:r>
          </a:p>
          <a:p>
            <a:pPr marL="201168" indent="-201168">
              <a:lnSpc>
                <a:spcPct val="112000"/>
              </a:lnSpc>
              <a:spcAft>
                <a:spcPts val="600"/>
              </a:spcAft>
              <a:buClr>
                <a:srgbClr val="5EEAD4"/>
              </a:buClr>
              <a:buFont typeface="Arial"/>
              <a:buChar char="•"/>
            </a:pPr>
            <a:r>
              <a:rPr sz="1150" b="0">
                <a:solidFill>
                  <a:srgbClr val="E5E7EB"/>
                </a:solidFill>
                <a:latin typeface="Malgun Gothic"/>
              </a:rPr>
              <a:t>그래서 "요구 태도 ✓"가 떴다 안 떴다</a:t>
            </a:r>
          </a:p>
          <a:p>
            <a:pPr marL="201168" indent="-201168">
              <a:lnSpc>
                <a:spcPct val="112000"/>
              </a:lnSpc>
              <a:spcAft>
                <a:spcPts val="600"/>
              </a:spcAft>
              <a:buClr>
                <a:srgbClr val="5EEAD4"/>
              </a:buClr>
              <a:buFont typeface="Arial"/>
              <a:buChar char="•"/>
            </a:pPr>
            <a:r>
              <a:rPr sz="1150" b="0">
                <a:solidFill>
                  <a:srgbClr val="E5E7EB"/>
                </a:solidFill>
                <a:latin typeface="Malgun Gothic"/>
              </a:rPr>
              <a:t>1위 전공도 컴퓨터공학부 ↔ 건설환경도시공학부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364992" y="1691640"/>
            <a:ext cx="2606040" cy="365760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Oval 17"/>
          <p:cNvSpPr/>
          <p:nvPr/>
        </p:nvSpPr>
        <p:spPr>
          <a:xfrm>
            <a:off x="3566160" y="1837944"/>
            <a:ext cx="384048" cy="384048"/>
          </a:xfrm>
          <a:prstGeom prst="ellipse">
            <a:avLst/>
          </a:prstGeom>
          <a:solidFill>
            <a:srgbClr val="FB7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78224" y="1883664"/>
            <a:ext cx="1691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FB7185"/>
                </a:solidFill>
                <a:latin typeface="Malgun Gothic"/>
              </a:rPr>
              <a:t>원인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93592" y="2359152"/>
            <a:ext cx="2148840" cy="285292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01168" indent="-201168">
              <a:lnSpc>
                <a:spcPct val="112000"/>
              </a:lnSpc>
              <a:spcAft>
                <a:spcPts val="600"/>
              </a:spcAft>
              <a:buClr>
                <a:srgbClr val="5EEAD4"/>
              </a:buClr>
              <a:buFont typeface="Arial"/>
              <a:buChar char="•"/>
            </a:pPr>
            <a:r>
              <a:rPr sz="1150" b="1">
                <a:solidFill>
                  <a:srgbClr val="FB7185"/>
                </a:solidFill>
                <a:latin typeface="Malgun Gothic"/>
              </a:rPr>
              <a:t>첫 진단(틀림): </a:t>
            </a:r>
            <a:r>
              <a:rPr sz="1150" b="0">
                <a:solidFill>
                  <a:srgbClr val="E5E7EB"/>
                </a:solidFill>
                <a:latin typeface="Malgun Gothic"/>
              </a:rPr>
              <a:t>"규칙 101줄이 지워졌다"</a:t>
            </a:r>
          </a:p>
          <a:p>
            <a:pPr marL="201168" indent="-201168">
              <a:lnSpc>
                <a:spcPct val="112000"/>
              </a:lnSpc>
              <a:spcAft>
                <a:spcPts val="600"/>
              </a:spcAft>
              <a:buClr>
                <a:srgbClr val="5EEAD4"/>
              </a:buClr>
              <a:buFont typeface="Arial"/>
              <a:buChar char="•"/>
            </a:pPr>
            <a:r>
              <a:rPr sz="1150" b="1">
                <a:solidFill>
                  <a:srgbClr val="E5E7EB"/>
                </a:solidFill>
                <a:latin typeface="Malgun Gothic"/>
              </a:rPr>
              <a:t>실행 시점 프롬프트를 두 버전에서 뽑아 diff → 차이는 약점 관련 줄뿐</a:t>
            </a:r>
          </a:p>
          <a:p>
            <a:pPr marL="201168" indent="-201168">
              <a:lnSpc>
                <a:spcPct val="112000"/>
              </a:lnSpc>
              <a:spcAft>
                <a:spcPts val="600"/>
              </a:spcAft>
              <a:buClr>
                <a:srgbClr val="5EEAD4"/>
              </a:buClr>
              <a:buFont typeface="Arial"/>
              <a:buChar char="•"/>
            </a:pPr>
            <a:r>
              <a:rPr sz="1150" b="0">
                <a:solidFill>
                  <a:srgbClr val="E5E7EB"/>
                </a:solidFill>
                <a:latin typeface="Malgun Gothic"/>
              </a:rPr>
              <a:t>① 규칙 문구 "강점으로 나타남" → "강점으로 명확하게 나타남" (문턱 상승)</a:t>
            </a:r>
          </a:p>
          <a:p>
            <a:pPr marL="201168" indent="-201168">
              <a:lnSpc>
                <a:spcPct val="112000"/>
              </a:lnSpc>
              <a:spcAft>
                <a:spcPts val="600"/>
              </a:spcAft>
              <a:buClr>
                <a:srgbClr val="5EEAD4"/>
              </a:buClr>
              <a:buFont typeface="Arial"/>
              <a:buChar char="•"/>
            </a:pPr>
            <a:r>
              <a:rPr sz="1150" b="0">
                <a:solidFill>
                  <a:srgbClr val="E5E7EB"/>
                </a:solidFill>
                <a:latin typeface="Malgun Gothic"/>
              </a:rPr>
              <a:t>② 방향 라벨 3개 → 2개: 경계 성향이 neutral로 몰림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81344" y="1691640"/>
            <a:ext cx="2606040" cy="365760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Oval 21"/>
          <p:cNvSpPr/>
          <p:nvPr/>
        </p:nvSpPr>
        <p:spPr>
          <a:xfrm>
            <a:off x="6382512" y="1837944"/>
            <a:ext cx="384048" cy="384048"/>
          </a:xfrm>
          <a:prstGeom prst="ellipse">
            <a:avLst/>
          </a:prstGeom>
          <a:solidFill>
            <a:srgbClr val="5EEA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94576" y="1883664"/>
            <a:ext cx="1691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5EEAD4"/>
                </a:solidFill>
                <a:latin typeface="Malgun Gothic"/>
              </a:rPr>
              <a:t>어떻게 알아챘나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9944" y="2359152"/>
            <a:ext cx="2148840" cy="285292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01168" indent="-201168">
              <a:lnSpc>
                <a:spcPct val="112000"/>
              </a:lnSpc>
              <a:spcAft>
                <a:spcPts val="600"/>
              </a:spcAft>
              <a:buClr>
                <a:srgbClr val="5EEAD4"/>
              </a:buClr>
              <a:buFont typeface="Arial"/>
              <a:buChar char="•"/>
            </a:pPr>
            <a:r>
              <a:rPr sz="1150" b="0">
                <a:solidFill>
                  <a:srgbClr val="E5E7EB"/>
                </a:solidFill>
                <a:latin typeface="Malgun Gothic"/>
              </a:rPr>
              <a:t>실험 3회 — 가중치 3설정 / 옛 프롬프트 / 라벨만 복원</a:t>
            </a:r>
          </a:p>
          <a:p>
            <a:pPr marL="201168" indent="-201168">
              <a:lnSpc>
                <a:spcPct val="112000"/>
              </a:lnSpc>
              <a:spcAft>
                <a:spcPts val="600"/>
              </a:spcAft>
              <a:buClr>
                <a:srgbClr val="5EEAD4"/>
              </a:buClr>
              <a:buFont typeface="Arial"/>
              <a:buChar char="•"/>
            </a:pPr>
            <a:r>
              <a:rPr sz="1150" b="0">
                <a:solidFill>
                  <a:srgbClr val="E5E7EB"/>
                </a:solidFill>
                <a:latin typeface="Malgun Gothic"/>
              </a:rPr>
              <a:t>가중치는 원인이 아니었다 (같은 입력이면 세 설정 결과 동일)</a:t>
            </a:r>
          </a:p>
          <a:p>
            <a:pPr marL="201168" indent="-201168">
              <a:lnSpc>
                <a:spcPct val="112000"/>
              </a:lnSpc>
              <a:spcAft>
                <a:spcPts val="600"/>
              </a:spcAft>
              <a:buClr>
                <a:srgbClr val="5EEAD4"/>
              </a:buClr>
              <a:buFont typeface="Arial"/>
              <a:buChar char="•"/>
            </a:pPr>
            <a:r>
              <a:rPr sz="1150" b="0">
                <a:solidFill>
                  <a:srgbClr val="E5E7EB"/>
                </a:solidFill>
                <a:latin typeface="Malgun Gothic"/>
              </a:rPr>
              <a:t>라벨 3개 + 문구 원복 → 두 번 연속 4/4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997696" y="1691640"/>
            <a:ext cx="2606040" cy="365760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Oval 25"/>
          <p:cNvSpPr/>
          <p:nvPr/>
        </p:nvSpPr>
        <p:spPr>
          <a:xfrm>
            <a:off x="9198864" y="1837944"/>
            <a:ext cx="384048" cy="384048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→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710928" y="1883664"/>
            <a:ext cx="1691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34D399"/>
                </a:solidFill>
                <a:latin typeface="Malgun Gothic"/>
              </a:rPr>
              <a:t>바꾼 것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26296" y="2359152"/>
            <a:ext cx="2148840" cy="285292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01168" indent="-201168">
              <a:lnSpc>
                <a:spcPct val="112000"/>
              </a:lnSpc>
              <a:spcAft>
                <a:spcPts val="600"/>
              </a:spcAft>
              <a:buClr>
                <a:srgbClr val="5EEAD4"/>
              </a:buClr>
              <a:buFont typeface="Arial"/>
              <a:buChar char="•"/>
            </a:pPr>
            <a:r>
              <a:rPr sz="1150" b="1">
                <a:solidFill>
                  <a:srgbClr val="E5E7EB"/>
                </a:solidFill>
                <a:latin typeface="Malgun Gothic"/>
              </a:rPr>
              <a:t>약점 "영역"(질문·프로필)은 삭제, "라벨"은 유지</a:t>
            </a:r>
          </a:p>
          <a:p>
            <a:pPr marL="201168" indent="-201168">
              <a:lnSpc>
                <a:spcPct val="112000"/>
              </a:lnSpc>
              <a:spcAft>
                <a:spcPts val="600"/>
              </a:spcAft>
              <a:buClr>
                <a:srgbClr val="5EEAD4"/>
              </a:buClr>
              <a:buFont typeface="Arial"/>
              <a:buChar char="•"/>
            </a:pPr>
            <a:r>
              <a:rPr sz="1150" b="0">
                <a:solidFill>
                  <a:srgbClr val="E5E7EB"/>
                </a:solidFill>
                <a:latin typeface="Malgun Gothic"/>
              </a:rPr>
              <a:t>규칙 8번 원문 복원 ("명확하게" 삭제)</a:t>
            </a:r>
          </a:p>
          <a:p>
            <a:pPr marL="201168" indent="-201168">
              <a:lnSpc>
                <a:spcPct val="112000"/>
              </a:lnSpc>
              <a:spcAft>
                <a:spcPts val="600"/>
              </a:spcAft>
              <a:buClr>
                <a:srgbClr val="5EEAD4"/>
              </a:buClr>
              <a:buFont typeface="Arial"/>
              <a:buChar char="•"/>
            </a:pPr>
            <a:r>
              <a:rPr sz="1150" b="1">
                <a:solidFill>
                  <a:srgbClr val="E5E7EB"/>
                </a:solidFill>
                <a:latin typeface="Malgun Gothic"/>
              </a:rPr>
              <a:t>temperature 0도 완전히 결정적이지 않다 → 프롬프트를 바꾸면 check.py 두 번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48640" y="5623560"/>
            <a:ext cx="11064240" cy="566928"/>
          </a:xfrm>
          <a:prstGeom prst="roundRect">
            <a:avLst>
              <a:gd name="adj" fmla="val 30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22960" y="5742432"/>
            <a:ext cx="106070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FB7185"/>
                </a:solidFill>
                <a:latin typeface="Malgun Gothic"/>
              </a:rPr>
              <a:t>배운 문장  </a:t>
            </a:r>
            <a:r>
              <a:rPr sz="1400" b="1" i="0">
                <a:solidFill>
                  <a:srgbClr val="E5E7EB"/>
                </a:solidFill>
                <a:latin typeface="Malgun Gothic"/>
              </a:rPr>
              <a:t>결정(약점을 쓰지 않는다)과 구현(그 단어를 지운다)은 다른 일이었다. 첫 진단은 틀렸고, diff가 맞았다.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2801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 i="0">
                <a:solidFill>
                  <a:srgbClr val="1E293B"/>
                </a:solidFill>
                <a:latin typeface="Arial"/>
              </a:rPr>
              <a:t>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17320" y="502920"/>
            <a:ext cx="8778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E5E7EB"/>
                </a:solidFill>
                <a:latin typeface="Malgun Gothic"/>
              </a:rPr>
              <a:t>시행착오 ⑤ — 대화는 입력, 판정은 도구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078992"/>
            <a:ext cx="9418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94A3B8"/>
                </a:solidFill>
                <a:latin typeface="Malgun Gothic"/>
              </a:rPr>
              <a:t>질문 3개(고정) → 팀원의 자기소개 분석 모듈 → 7영역 적응형 대화</a:t>
            </a:r>
          </a:p>
        </p:txBody>
      </p:sp>
      <p:cxnSp>
        <p:nvCxnSpPr>
          <p:cNvPr id="6" name="Connector 5"/>
          <p:cNvCxnSpPr/>
          <p:nvPr/>
        </p:nvCxnSpPr>
        <p:spPr>
          <a:xfrm flipV="1">
            <a:off x="10651845" y="593445"/>
            <a:ext cx="452628" cy="205740"/>
          </a:xfrm>
          <a:prstGeom prst="line">
            <a:avLst/>
          </a:prstGeom>
          <a:ln w="17145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1104473" y="593445"/>
            <a:ext cx="411480" cy="246888"/>
          </a:xfrm>
          <a:prstGeom prst="line">
            <a:avLst/>
          </a:prstGeom>
          <a:ln w="17145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Oval 7"/>
          <p:cNvSpPr/>
          <p:nvPr/>
        </p:nvSpPr>
        <p:spPr>
          <a:xfrm>
            <a:off x="10561320" y="708660"/>
            <a:ext cx="181051" cy="181051"/>
          </a:xfrm>
          <a:prstGeom prst="ellipse">
            <a:avLst/>
          </a:prstGeom>
          <a:solidFill>
            <a:srgbClr val="5EEA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013948" y="502920"/>
            <a:ext cx="181051" cy="181051"/>
          </a:xfrm>
          <a:prstGeom prst="ellipse">
            <a:avLst/>
          </a:prstGeom>
          <a:solidFill>
            <a:srgbClr val="FB7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425428" y="749808"/>
            <a:ext cx="181051" cy="181051"/>
          </a:xfrm>
          <a:prstGeom prst="ellipse">
            <a:avLst/>
          </a:prstGeom>
          <a:solidFill>
            <a:srgbClr val="5EEA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155680" y="644652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94A3B8"/>
                </a:solidFill>
                <a:latin typeface="Arial"/>
              </a:rPr>
              <a:t>11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94A3B8"/>
                </a:solidFill>
                <a:latin typeface="Malgun Gothic"/>
              </a:rPr>
              <a:t>역량 경로 추천 — 전공 ↔ 역량 ↔ LG 계열사 신입 직무 지식그래프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1691640"/>
            <a:ext cx="2606040" cy="365760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Oval 13"/>
          <p:cNvSpPr/>
          <p:nvPr/>
        </p:nvSpPr>
        <p:spPr>
          <a:xfrm>
            <a:off x="749808" y="1837944"/>
            <a:ext cx="384048" cy="384048"/>
          </a:xfrm>
          <a:prstGeom prst="ellipse">
            <a:avLst/>
          </a:prstGeom>
          <a:solidFill>
            <a:srgbClr val="FB7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61872" y="1883664"/>
            <a:ext cx="1691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FB7185"/>
                </a:solidFill>
                <a:latin typeface="Malgun Gothic"/>
              </a:rPr>
              <a:t>증상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2359152"/>
            <a:ext cx="2148840" cy="285292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01168" indent="-201168">
              <a:lnSpc>
                <a:spcPct val="112000"/>
              </a:lnSpc>
              <a:spcAft>
                <a:spcPts val="600"/>
              </a:spcAft>
              <a:buClr>
                <a:srgbClr val="5EEAD4"/>
              </a:buClr>
              <a:buFont typeface="Arial"/>
              <a:buChar char="•"/>
            </a:pPr>
            <a:r>
              <a:rPr sz="1150" b="0">
                <a:solidFill>
                  <a:srgbClr val="E5E7EB"/>
                </a:solidFill>
                <a:latin typeface="Malgun Gothic"/>
              </a:rPr>
              <a:t>7영역 대화: 8라운드 · LLM 20회 · 25초</a:t>
            </a:r>
          </a:p>
          <a:p>
            <a:pPr marL="201168" indent="-201168">
              <a:lnSpc>
                <a:spcPct val="112000"/>
              </a:lnSpc>
              <a:spcAft>
                <a:spcPts val="600"/>
              </a:spcAft>
              <a:buClr>
                <a:srgbClr val="5EEAD4"/>
              </a:buClr>
              <a:buFont typeface="Arial"/>
              <a:buChar char="•"/>
            </a:pPr>
            <a:r>
              <a:rPr sz="1150" b="0">
                <a:solidFill>
                  <a:srgbClr val="E5E7EB"/>
                </a:solidFill>
                <a:latin typeface="Malgun Gothic"/>
              </a:rPr>
              <a:t>"잘 모르겠어요" 뒤에 같은 질문을 같은 문장으로 되물음</a:t>
            </a:r>
          </a:p>
          <a:p>
            <a:pPr marL="201168" indent="-201168">
              <a:lnSpc>
                <a:spcPct val="112000"/>
              </a:lnSpc>
              <a:spcAft>
                <a:spcPts val="600"/>
              </a:spcAft>
              <a:buClr>
                <a:srgbClr val="5EEAD4"/>
              </a:buClr>
              <a:buFont typeface="Arial"/>
              <a:buChar char="•"/>
            </a:pPr>
            <a:r>
              <a:rPr sz="1150" b="1">
                <a:solidFill>
                  <a:srgbClr val="E5E7EB"/>
                </a:solidFill>
                <a:latin typeface="Malgun Gothic"/>
              </a:rPr>
              <a:t>같은 자기소개가 짧은 인터뷰에선 통계학과, 긴 대화에선 컴퓨터공학부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364992" y="1691640"/>
            <a:ext cx="2606040" cy="365760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Oval 17"/>
          <p:cNvSpPr/>
          <p:nvPr/>
        </p:nvSpPr>
        <p:spPr>
          <a:xfrm>
            <a:off x="3566160" y="1837944"/>
            <a:ext cx="384048" cy="384048"/>
          </a:xfrm>
          <a:prstGeom prst="ellipse">
            <a:avLst/>
          </a:prstGeom>
          <a:solidFill>
            <a:srgbClr val="FB7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78224" y="1883664"/>
            <a:ext cx="1691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FB7185"/>
                </a:solidFill>
                <a:latin typeface="Malgun Gothic"/>
              </a:rPr>
              <a:t>원인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93592" y="2359152"/>
            <a:ext cx="2148840" cy="285292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01168" indent="-201168">
              <a:lnSpc>
                <a:spcPct val="112000"/>
              </a:lnSpc>
              <a:spcAft>
                <a:spcPts val="600"/>
              </a:spcAft>
              <a:buClr>
                <a:srgbClr val="5EEAD4"/>
              </a:buClr>
              <a:buFont typeface="Arial"/>
              <a:buChar char="•"/>
            </a:pPr>
            <a:r>
              <a:rPr sz="1150" b="0">
                <a:solidFill>
                  <a:srgbClr val="E5E7EB"/>
                </a:solidFill>
                <a:latin typeface="Malgun Gothic"/>
              </a:rPr>
              <a:t>영역당 2회 상한 + 질문 생성 temperature 0.3</a:t>
            </a:r>
          </a:p>
          <a:p>
            <a:pPr marL="201168" indent="-201168">
              <a:lnSpc>
                <a:spcPct val="112000"/>
              </a:lnSpc>
              <a:spcAft>
                <a:spcPts val="600"/>
              </a:spcAft>
              <a:buClr>
                <a:srgbClr val="5EEAD4"/>
              </a:buClr>
              <a:buFont typeface="Arial"/>
              <a:buChar char="•"/>
            </a:pPr>
            <a:r>
              <a:rPr sz="1150" b="0">
                <a:solidFill>
                  <a:srgbClr val="E5E7EB"/>
                </a:solidFill>
                <a:latin typeface="Malgun Gothic"/>
              </a:rPr>
              <a:t>대화가 길수록 관심 태그가 늘어(파이썬·프로그래밍) 1위가 흔들림</a:t>
            </a:r>
          </a:p>
          <a:p>
            <a:pPr marL="201168" indent="-201168">
              <a:lnSpc>
                <a:spcPct val="112000"/>
              </a:lnSpc>
              <a:spcAft>
                <a:spcPts val="600"/>
              </a:spcAft>
              <a:buClr>
                <a:srgbClr val="5EEAD4"/>
              </a:buClr>
              <a:buFont typeface="Arial"/>
              <a:buChar char="•"/>
            </a:pPr>
            <a:r>
              <a:rPr sz="1150" b="0">
                <a:solidFill>
                  <a:srgbClr val="E5E7EB"/>
                </a:solidFill>
                <a:latin typeface="Malgun Gothic"/>
              </a:rPr>
              <a:t>매칭에 쓰는 건 관심·강점 두 영역뿐인데 일곱 영역을 다 물었다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81344" y="1691640"/>
            <a:ext cx="2606040" cy="365760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Oval 21"/>
          <p:cNvSpPr/>
          <p:nvPr/>
        </p:nvSpPr>
        <p:spPr>
          <a:xfrm>
            <a:off x="6382512" y="1837944"/>
            <a:ext cx="384048" cy="384048"/>
          </a:xfrm>
          <a:prstGeom prst="ellipse">
            <a:avLst/>
          </a:prstGeom>
          <a:solidFill>
            <a:srgbClr val="5EEA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94576" y="1883664"/>
            <a:ext cx="1691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5EEAD4"/>
                </a:solidFill>
                <a:latin typeface="Malgun Gothic"/>
              </a:rPr>
              <a:t>어떻게 알아챘나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9944" y="2359152"/>
            <a:ext cx="2148840" cy="285292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01168" indent="-201168">
              <a:lnSpc>
                <a:spcPct val="112000"/>
              </a:lnSpc>
              <a:spcAft>
                <a:spcPts val="600"/>
              </a:spcAft>
              <a:buClr>
                <a:srgbClr val="5EEAD4"/>
              </a:buClr>
              <a:buFont typeface="Arial"/>
              <a:buChar char="•"/>
            </a:pPr>
            <a:r>
              <a:rPr sz="1150" b="0">
                <a:solidFill>
                  <a:srgbClr val="E5E7EB"/>
                </a:solidFill>
                <a:latin typeface="Malgun Gothic"/>
              </a:rPr>
              <a:t>빈 자기소개로 실측 (라운드·호출 수·시간을 셌다)</a:t>
            </a:r>
          </a:p>
          <a:p>
            <a:pPr marL="201168" indent="-201168">
              <a:lnSpc>
                <a:spcPct val="112000"/>
              </a:lnSpc>
              <a:spcAft>
                <a:spcPts val="600"/>
              </a:spcAft>
              <a:buClr>
                <a:srgbClr val="5EEAD4"/>
              </a:buClr>
              <a:buFont typeface="Arial"/>
              <a:buChar char="•"/>
            </a:pPr>
            <a:r>
              <a:rPr sz="1150" b="0">
                <a:solidFill>
                  <a:srgbClr val="E5E7EB"/>
                </a:solidFill>
                <a:latin typeface="Malgun Gothic"/>
              </a:rPr>
              <a:t>평가셋에 대화 케이스 4건 추가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997696" y="1691640"/>
            <a:ext cx="2606040" cy="365760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Oval 25"/>
          <p:cNvSpPr/>
          <p:nvPr/>
        </p:nvSpPr>
        <p:spPr>
          <a:xfrm>
            <a:off x="9198864" y="1837944"/>
            <a:ext cx="384048" cy="384048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→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710928" y="1883664"/>
            <a:ext cx="1691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34D399"/>
                </a:solidFill>
                <a:latin typeface="Malgun Gothic"/>
              </a:rPr>
              <a:t>바꾼 것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26296" y="2359152"/>
            <a:ext cx="2148840" cy="285292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01168" indent="-201168">
              <a:lnSpc>
                <a:spcPct val="112000"/>
              </a:lnSpc>
              <a:spcAft>
                <a:spcPts val="600"/>
              </a:spcAft>
              <a:buClr>
                <a:srgbClr val="5EEAD4"/>
              </a:buClr>
              <a:buFont typeface="Arial"/>
              <a:buChar char="•"/>
            </a:pPr>
            <a:r>
              <a:rPr sz="1150" b="0">
                <a:solidFill>
                  <a:srgbClr val="E5E7EB"/>
                </a:solidFill>
                <a:latin typeface="Malgun Gothic"/>
              </a:rPr>
              <a:t>되묻기 영역당 1회</a:t>
            </a:r>
          </a:p>
          <a:p>
            <a:pPr marL="201168" indent="-201168">
              <a:lnSpc>
                <a:spcPct val="112000"/>
              </a:lnSpc>
              <a:spcAft>
                <a:spcPts val="600"/>
              </a:spcAft>
              <a:buClr>
                <a:srgbClr val="5EEAD4"/>
              </a:buClr>
              <a:buFont typeface="Arial"/>
              <a:buChar char="•"/>
            </a:pPr>
            <a:r>
              <a:rPr sz="1150" b="1">
                <a:solidFill>
                  <a:srgbClr val="E5E7EB"/>
                </a:solidFill>
                <a:latin typeface="Malgun Gothic"/>
              </a:rPr>
              <a:t>부족 영역 질문은 관심·강점만 → 2~3라운드 · 6~8회</a:t>
            </a:r>
          </a:p>
          <a:p>
            <a:pPr marL="201168" indent="-201168">
              <a:lnSpc>
                <a:spcPct val="112000"/>
              </a:lnSpc>
              <a:spcAft>
                <a:spcPts val="600"/>
              </a:spcAft>
              <a:buClr>
                <a:srgbClr val="5EEAD4"/>
              </a:buClr>
              <a:buFont typeface="Arial"/>
              <a:buChar char="•"/>
            </a:pPr>
            <a:r>
              <a:rPr sz="1150" b="0">
                <a:solidFill>
                  <a:srgbClr val="E5E7EB"/>
                </a:solidFill>
                <a:latin typeface="Malgun Gothic"/>
              </a:rPr>
              <a:t>Q3 객관식 → 프로필로 성향 판단 (LLM 1회)</a:t>
            </a:r>
          </a:p>
          <a:p>
            <a:pPr marL="201168" indent="-201168">
              <a:lnSpc>
                <a:spcPct val="112000"/>
              </a:lnSpc>
              <a:spcAft>
                <a:spcPts val="600"/>
              </a:spcAft>
              <a:buClr>
                <a:srgbClr val="5EEAD4"/>
              </a:buClr>
              <a:buFont typeface="Arial"/>
              <a:buChar char="•"/>
            </a:pPr>
            <a:r>
              <a:rPr sz="1150" b="1">
                <a:solidFill>
                  <a:srgbClr val="E5E7EB"/>
                </a:solidFill>
                <a:latin typeface="Malgun Gothic"/>
              </a:rPr>
              <a:t>지킨 선: 대화 안에서 LLM이 전공·직무를 말하지 않는다</a:t>
            </a:r>
            <a:r>
              <a:rPr sz="1150" b="0">
                <a:solidFill>
                  <a:srgbClr val="E5E7EB"/>
                </a:solidFill>
                <a:latin typeface="Malgun Gothic"/>
              </a:rPr>
              <a:t> — 그 순간 챗봇과 같아진다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48640" y="5623560"/>
            <a:ext cx="11064240" cy="566928"/>
          </a:xfrm>
          <a:prstGeom prst="roundRect">
            <a:avLst>
              <a:gd name="adj" fmla="val 30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22960" y="5742432"/>
            <a:ext cx="106070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FB7185"/>
                </a:solidFill>
                <a:latin typeface="Malgun Gothic"/>
              </a:rPr>
              <a:t>배운 문장  </a:t>
            </a:r>
            <a:r>
              <a:rPr sz="1400" b="1" i="0">
                <a:solidFill>
                  <a:srgbClr val="E5E7EB"/>
                </a:solidFill>
                <a:latin typeface="Malgun Gothic"/>
              </a:rPr>
              <a:t>더 많이 물으면 더 잘 아는 게 아니라, 더 많이 흔들렸다.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2801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 i="0">
                <a:solidFill>
                  <a:srgbClr val="1E293B"/>
                </a:solidFill>
                <a:latin typeface="Arial"/>
              </a:rPr>
              <a:t>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17320" y="502920"/>
            <a:ext cx="8778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E5E7EB"/>
                </a:solidFill>
                <a:latin typeface="Malgun Gothic"/>
              </a:rPr>
              <a:t>시행착오 ⑥ — 넷이 한 파일을 고치면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078992"/>
            <a:ext cx="9418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94A3B8"/>
                </a:solidFill>
                <a:latin typeface="Malgun Gothic"/>
              </a:rPr>
              <a:t>9/16~17, 같은 날 같은 파일을 두 사람이 — 세 번</a:t>
            </a:r>
          </a:p>
        </p:txBody>
      </p:sp>
      <p:cxnSp>
        <p:nvCxnSpPr>
          <p:cNvPr id="6" name="Connector 5"/>
          <p:cNvCxnSpPr/>
          <p:nvPr/>
        </p:nvCxnSpPr>
        <p:spPr>
          <a:xfrm flipV="1">
            <a:off x="10651845" y="593445"/>
            <a:ext cx="452628" cy="205740"/>
          </a:xfrm>
          <a:prstGeom prst="line">
            <a:avLst/>
          </a:prstGeom>
          <a:ln w="17145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1104473" y="593445"/>
            <a:ext cx="411480" cy="246888"/>
          </a:xfrm>
          <a:prstGeom prst="line">
            <a:avLst/>
          </a:prstGeom>
          <a:ln w="17145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Oval 7"/>
          <p:cNvSpPr/>
          <p:nvPr/>
        </p:nvSpPr>
        <p:spPr>
          <a:xfrm>
            <a:off x="10561320" y="708660"/>
            <a:ext cx="181051" cy="181051"/>
          </a:xfrm>
          <a:prstGeom prst="ellipse">
            <a:avLst/>
          </a:prstGeom>
          <a:solidFill>
            <a:srgbClr val="5EEA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013948" y="502920"/>
            <a:ext cx="181051" cy="181051"/>
          </a:xfrm>
          <a:prstGeom prst="ellipse">
            <a:avLst/>
          </a:prstGeom>
          <a:solidFill>
            <a:srgbClr val="FB7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425428" y="749808"/>
            <a:ext cx="181051" cy="181051"/>
          </a:xfrm>
          <a:prstGeom prst="ellipse">
            <a:avLst/>
          </a:prstGeom>
          <a:solidFill>
            <a:srgbClr val="5EEA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155680" y="644652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94A3B8"/>
                </a:solidFill>
                <a:latin typeface="Arial"/>
              </a:rPr>
              <a:t>12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94A3B8"/>
                </a:solidFill>
                <a:latin typeface="Malgun Gothic"/>
              </a:rPr>
              <a:t>역량 경로 추천 — 전공 ↔ 역량 ↔ LG 계열사 신입 직무 지식그래프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1691640"/>
            <a:ext cx="2606040" cy="365760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Oval 13"/>
          <p:cNvSpPr/>
          <p:nvPr/>
        </p:nvSpPr>
        <p:spPr>
          <a:xfrm>
            <a:off x="749808" y="1837944"/>
            <a:ext cx="384048" cy="384048"/>
          </a:xfrm>
          <a:prstGeom prst="ellipse">
            <a:avLst/>
          </a:prstGeom>
          <a:solidFill>
            <a:srgbClr val="FB7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61872" y="1883664"/>
            <a:ext cx="1691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FB7185"/>
                </a:solidFill>
                <a:latin typeface="Malgun Gothic"/>
              </a:rPr>
              <a:t>증상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2359152"/>
            <a:ext cx="2148840" cy="285292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01168" indent="-201168">
              <a:lnSpc>
                <a:spcPct val="112000"/>
              </a:lnSpc>
              <a:spcAft>
                <a:spcPts val="600"/>
              </a:spcAft>
              <a:buClr>
                <a:srgbClr val="5EEAD4"/>
              </a:buClr>
              <a:buFont typeface="Arial"/>
              <a:buChar char="•"/>
            </a:pPr>
            <a:r>
              <a:rPr sz="1150" b="0">
                <a:solidFill>
                  <a:srgbClr val="E5E7EB"/>
                </a:solidFill>
                <a:latin typeface="Malgun Gothic"/>
              </a:rPr>
              <a:t>어휘 파일을 두 사람이 같은 날 확장 → IS_A 부모 28줄이 통째로 사라짐</a:t>
            </a:r>
          </a:p>
          <a:p>
            <a:pPr marL="201168" indent="-201168">
              <a:lnSpc>
                <a:spcPct val="112000"/>
              </a:lnSpc>
              <a:spcAft>
                <a:spcPts val="600"/>
              </a:spcAft>
              <a:buClr>
                <a:srgbClr val="5EEAD4"/>
              </a:buClr>
              <a:buFont typeface="Arial"/>
              <a:buChar char="•"/>
            </a:pPr>
            <a:r>
              <a:rPr sz="1150" b="0">
                <a:solidFill>
                  <a:srgbClr val="E5E7EB"/>
                </a:solidFill>
                <a:latin typeface="Malgun Gothic"/>
              </a:rPr>
              <a:t>PR 하나가 카드를 디버그 뒤로 숨김 → 차별점이 화면에서 증발</a:t>
            </a:r>
          </a:p>
          <a:p>
            <a:pPr marL="201168" indent="-201168">
              <a:lnSpc>
                <a:spcPct val="112000"/>
              </a:lnSpc>
              <a:spcAft>
                <a:spcPts val="600"/>
              </a:spcAft>
              <a:buClr>
                <a:srgbClr val="5EEAD4"/>
              </a:buClr>
              <a:buFont typeface="Arial"/>
              <a:buChar char="•"/>
            </a:pPr>
            <a:r>
              <a:rPr sz="1150" b="0">
                <a:solidFill>
                  <a:srgbClr val="E5E7EB"/>
                </a:solidFill>
                <a:latin typeface="Malgun Gothic"/>
              </a:rPr>
              <a:t>웹 피드백 4건을 두 세션이 동시 구현 → 같은 함수 충돌 2회</a:t>
            </a:r>
          </a:p>
          <a:p>
            <a:pPr marL="201168" indent="-201168">
              <a:lnSpc>
                <a:spcPct val="112000"/>
              </a:lnSpc>
              <a:spcAft>
                <a:spcPts val="600"/>
              </a:spcAft>
              <a:buClr>
                <a:srgbClr val="5EEAD4"/>
              </a:buClr>
              <a:buFont typeface="Arial"/>
              <a:buChar char="•"/>
            </a:pPr>
            <a:r>
              <a:rPr sz="1150" b="0">
                <a:solidFill>
                  <a:srgbClr val="E5E7EB"/>
                </a:solidFill>
                <a:latin typeface="Malgun Gothic"/>
              </a:rPr>
              <a:t>카드↔문단 순서를 두 사람이 다르게 이해 → 화면 두 번 뒤집힘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364992" y="1691640"/>
            <a:ext cx="2606040" cy="365760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Oval 17"/>
          <p:cNvSpPr/>
          <p:nvPr/>
        </p:nvSpPr>
        <p:spPr>
          <a:xfrm>
            <a:off x="3566160" y="1837944"/>
            <a:ext cx="384048" cy="384048"/>
          </a:xfrm>
          <a:prstGeom prst="ellipse">
            <a:avLst/>
          </a:prstGeom>
          <a:solidFill>
            <a:srgbClr val="FB7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78224" y="1883664"/>
            <a:ext cx="1691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FB7185"/>
                </a:solidFill>
                <a:latin typeface="Malgun Gothic"/>
              </a:rPr>
              <a:t>원인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93592" y="2359152"/>
            <a:ext cx="2148840" cy="285292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01168" indent="-201168">
              <a:lnSpc>
                <a:spcPct val="112000"/>
              </a:lnSpc>
              <a:spcAft>
                <a:spcPts val="600"/>
              </a:spcAft>
              <a:buClr>
                <a:srgbClr val="5EEAD4"/>
              </a:buClr>
              <a:buFont typeface="Arial"/>
              <a:buChar char="•"/>
            </a:pPr>
            <a:r>
              <a:rPr sz="1150" b="0">
                <a:solidFill>
                  <a:srgbClr val="E5E7EB"/>
                </a:solidFill>
                <a:latin typeface="Malgun Gothic"/>
              </a:rPr>
              <a:t>"한 사람이 관리"라고 정했지만 급하면 다들 고친다</a:t>
            </a:r>
          </a:p>
          <a:p>
            <a:pPr marL="201168" indent="-201168">
              <a:lnSpc>
                <a:spcPct val="112000"/>
              </a:lnSpc>
              <a:spcAft>
                <a:spcPts val="600"/>
              </a:spcAft>
              <a:buClr>
                <a:srgbClr val="5EEAD4"/>
              </a:buClr>
              <a:buFont typeface="Arial"/>
              <a:buChar char="•"/>
            </a:pPr>
            <a:r>
              <a:rPr sz="1150" b="0">
                <a:solidFill>
                  <a:srgbClr val="E5E7EB"/>
                </a:solidFill>
                <a:latin typeface="Malgun Gothic"/>
              </a:rPr>
              <a:t>Claude Code로 편집하다 블록이 날아가도 assert는 통과 (이름만 검사)</a:t>
            </a:r>
          </a:p>
          <a:p>
            <a:pPr marL="201168" indent="-201168">
              <a:lnSpc>
                <a:spcPct val="112000"/>
              </a:lnSpc>
              <a:spcAft>
                <a:spcPts val="600"/>
              </a:spcAft>
              <a:buClr>
                <a:srgbClr val="5EEAD4"/>
              </a:buClr>
              <a:buFont typeface="Arial"/>
              <a:buChar char="•"/>
            </a:pPr>
            <a:r>
              <a:rPr sz="1150" b="0">
                <a:solidFill>
                  <a:srgbClr val="E5E7EB"/>
                </a:solidFill>
                <a:latin typeface="Malgun Gothic"/>
              </a:rPr>
              <a:t>머지 범위를 잘못 이해 ("설명서만" → 브랜치 전체)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81344" y="1691640"/>
            <a:ext cx="2606040" cy="365760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Oval 21"/>
          <p:cNvSpPr/>
          <p:nvPr/>
        </p:nvSpPr>
        <p:spPr>
          <a:xfrm>
            <a:off x="6382512" y="1837944"/>
            <a:ext cx="384048" cy="384048"/>
          </a:xfrm>
          <a:prstGeom prst="ellipse">
            <a:avLst/>
          </a:prstGeom>
          <a:solidFill>
            <a:srgbClr val="5EEA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94576" y="1883664"/>
            <a:ext cx="1691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5EEAD4"/>
                </a:solidFill>
                <a:latin typeface="Malgun Gothic"/>
              </a:rPr>
              <a:t>어떻게 알아챘나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9944" y="2359152"/>
            <a:ext cx="2148840" cy="285292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01168" indent="-201168">
              <a:lnSpc>
                <a:spcPct val="112000"/>
              </a:lnSpc>
              <a:spcAft>
                <a:spcPts val="600"/>
              </a:spcAft>
              <a:buClr>
                <a:srgbClr val="5EEAD4"/>
              </a:buClr>
              <a:buFont typeface="Arial"/>
              <a:buChar char="•"/>
            </a:pPr>
            <a:r>
              <a:rPr sz="1150" b="1">
                <a:solidFill>
                  <a:srgbClr val="E5E7EB"/>
                </a:solidFill>
                <a:latin typeface="Malgun Gothic"/>
              </a:rPr>
              <a:t>빌더 리포트의 "IS_A 한 홉 연결" 숫자가 61 → 43</a:t>
            </a:r>
            <a:r>
              <a:rPr sz="1150" b="0">
                <a:solidFill>
                  <a:srgbClr val="E5E7EB"/>
                </a:solidFill>
                <a:latin typeface="Malgun Gothic"/>
              </a:rPr>
              <a:t> — 회귀 감지기</a:t>
            </a:r>
          </a:p>
          <a:p>
            <a:pPr marL="201168" indent="-201168">
              <a:lnSpc>
                <a:spcPct val="112000"/>
              </a:lnSpc>
              <a:spcAft>
                <a:spcPts val="600"/>
              </a:spcAft>
              <a:buClr>
                <a:srgbClr val="5EEAD4"/>
              </a:buClr>
              <a:buFont typeface="Arial"/>
              <a:buChar char="•"/>
            </a:pPr>
            <a:r>
              <a:rPr sz="1150" b="0">
                <a:solidFill>
                  <a:srgbClr val="E5E7EB"/>
                </a:solidFill>
                <a:latin typeface="Malgun Gothic"/>
              </a:rPr>
              <a:t>설명서 2절 "왜 카드가 있어야 하나"를 근거로 되돌림</a:t>
            </a:r>
          </a:p>
          <a:p>
            <a:pPr marL="201168" indent="-201168">
              <a:lnSpc>
                <a:spcPct val="112000"/>
              </a:lnSpc>
              <a:spcAft>
                <a:spcPts val="600"/>
              </a:spcAft>
              <a:buClr>
                <a:srgbClr val="5EEAD4"/>
              </a:buClr>
              <a:buFont typeface="Arial"/>
              <a:buChar char="•"/>
            </a:pPr>
            <a:r>
              <a:rPr sz="1150" b="0">
                <a:solidFill>
                  <a:srgbClr val="E5E7EB"/>
                </a:solidFill>
                <a:latin typeface="Malgun Gothic"/>
              </a:rPr>
              <a:t>재생성 실측 표(채택/조정/미채택)로 합의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997696" y="1691640"/>
            <a:ext cx="2606040" cy="365760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Oval 25"/>
          <p:cNvSpPr/>
          <p:nvPr/>
        </p:nvSpPr>
        <p:spPr>
          <a:xfrm>
            <a:off x="9198864" y="1837944"/>
            <a:ext cx="384048" cy="384048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→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710928" y="1883664"/>
            <a:ext cx="1691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34D399"/>
                </a:solidFill>
                <a:latin typeface="Malgun Gothic"/>
              </a:rPr>
              <a:t>바꾼 것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26296" y="2359152"/>
            <a:ext cx="2148840" cy="285292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01168" indent="-201168">
              <a:lnSpc>
                <a:spcPct val="112000"/>
              </a:lnSpc>
              <a:spcAft>
                <a:spcPts val="600"/>
              </a:spcAft>
              <a:buClr>
                <a:srgbClr val="5EEAD4"/>
              </a:buClr>
              <a:buFont typeface="Arial"/>
              <a:buChar char="•"/>
            </a:pPr>
            <a:r>
              <a:rPr sz="1150" b="0">
                <a:solidFill>
                  <a:srgbClr val="E5E7EB"/>
                </a:solidFill>
                <a:latin typeface="Malgun Gothic"/>
              </a:rPr>
              <a:t>통합 원칙: 팀 요청 형식은 내용으로, 구조 개선은 틀로</a:t>
            </a:r>
          </a:p>
          <a:p>
            <a:pPr marL="201168" indent="-201168">
              <a:lnSpc>
                <a:spcPct val="112000"/>
              </a:lnSpc>
              <a:spcAft>
                <a:spcPts val="600"/>
              </a:spcAft>
              <a:buClr>
                <a:srgbClr val="5EEAD4"/>
              </a:buClr>
              <a:buFont typeface="Arial"/>
              <a:buChar char="•"/>
            </a:pPr>
            <a:r>
              <a:rPr sz="1150" b="0">
                <a:solidFill>
                  <a:srgbClr val="E5E7EB"/>
                </a:solidFill>
                <a:latin typeface="Malgun Gothic"/>
              </a:rPr>
              <a:t>결정은 날짜 문서로 남긴다 (docs/2026091*_*.md 8개)</a:t>
            </a:r>
          </a:p>
          <a:p>
            <a:pPr marL="201168" indent="-201168">
              <a:lnSpc>
                <a:spcPct val="112000"/>
              </a:lnSpc>
              <a:spcAft>
                <a:spcPts val="600"/>
              </a:spcAft>
              <a:buClr>
                <a:srgbClr val="5EEAD4"/>
              </a:buClr>
              <a:buFont typeface="Arial"/>
              <a:buChar char="•"/>
            </a:pPr>
            <a:r>
              <a:rPr sz="1150" b="1">
                <a:solidFill>
                  <a:srgbClr val="E5E7EB"/>
                </a:solidFill>
                <a:latin typeface="Malgun Gothic"/>
              </a:rPr>
              <a:t>코드와 데이터를 따로 커밋, pull 먼저</a:t>
            </a:r>
          </a:p>
          <a:p>
            <a:pPr marL="201168" indent="-201168">
              <a:lnSpc>
                <a:spcPct val="112000"/>
              </a:lnSpc>
              <a:spcAft>
                <a:spcPts val="600"/>
              </a:spcAft>
              <a:buClr>
                <a:srgbClr val="5EEAD4"/>
              </a:buClr>
              <a:buFont typeface="Arial"/>
              <a:buChar char="•"/>
            </a:pPr>
            <a:r>
              <a:rPr sz="1150" b="0">
                <a:solidFill>
                  <a:srgbClr val="E5E7EB"/>
                </a:solidFill>
                <a:latin typeface="Malgun Gothic"/>
              </a:rPr>
              <a:t>빌더를 돌린 뒤 숫자 6개를 눈으로 본다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48640" y="5623560"/>
            <a:ext cx="11064240" cy="566928"/>
          </a:xfrm>
          <a:prstGeom prst="roundRect">
            <a:avLst>
              <a:gd name="adj" fmla="val 30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22960" y="5742432"/>
            <a:ext cx="106070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FB7185"/>
                </a:solidFill>
                <a:latin typeface="Malgun Gothic"/>
              </a:rPr>
              <a:t>배운 문장  </a:t>
            </a:r>
            <a:r>
              <a:rPr sz="1400" b="1" i="0">
                <a:solidFill>
                  <a:srgbClr val="E5E7EB"/>
                </a:solidFill>
                <a:latin typeface="Malgun Gothic"/>
              </a:rPr>
              <a:t>역할을 나눠도 파일은 겹친다. 결정 기록(문서)과 회귀 숫자(리포트)가 없었으면 누가 맞는지 다투다 끝났을 것이다.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2801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 i="0">
                <a:solidFill>
                  <a:srgbClr val="1E293B"/>
                </a:solidFill>
                <a:latin typeface="Arial"/>
              </a:rPr>
              <a:t>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17320" y="502920"/>
            <a:ext cx="8778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E5E7EB"/>
                </a:solidFill>
                <a:latin typeface="Malgun Gothic"/>
              </a:rPr>
              <a:t>챗봇 대조 — 같은 자기소개를 세 챗봇에게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078992"/>
            <a:ext cx="9418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94A3B8"/>
                </a:solidFill>
                <a:latin typeface="Malgun Gothic"/>
              </a:rPr>
              <a:t>ChatGPT · 뤼튼 · Gemini. 웹 검색 끄고, 임시 채팅으로, 우리 인터뷰 세트 4와 같은 문장 (9/17, 팀 3명이 각각)</a:t>
            </a:r>
          </a:p>
        </p:txBody>
      </p:sp>
      <p:cxnSp>
        <p:nvCxnSpPr>
          <p:cNvPr id="6" name="Connector 5"/>
          <p:cNvCxnSpPr/>
          <p:nvPr/>
        </p:nvCxnSpPr>
        <p:spPr>
          <a:xfrm flipV="1">
            <a:off x="10651845" y="593445"/>
            <a:ext cx="452628" cy="205740"/>
          </a:xfrm>
          <a:prstGeom prst="line">
            <a:avLst/>
          </a:prstGeom>
          <a:ln w="17145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1104473" y="593445"/>
            <a:ext cx="411480" cy="246888"/>
          </a:xfrm>
          <a:prstGeom prst="line">
            <a:avLst/>
          </a:prstGeom>
          <a:ln w="17145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Oval 7"/>
          <p:cNvSpPr/>
          <p:nvPr/>
        </p:nvSpPr>
        <p:spPr>
          <a:xfrm>
            <a:off x="10561320" y="708660"/>
            <a:ext cx="181051" cy="181051"/>
          </a:xfrm>
          <a:prstGeom prst="ellipse">
            <a:avLst/>
          </a:prstGeom>
          <a:solidFill>
            <a:srgbClr val="5EEA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013948" y="502920"/>
            <a:ext cx="181051" cy="181051"/>
          </a:xfrm>
          <a:prstGeom prst="ellipse">
            <a:avLst/>
          </a:prstGeom>
          <a:solidFill>
            <a:srgbClr val="FB7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425428" y="749808"/>
            <a:ext cx="181051" cy="181051"/>
          </a:xfrm>
          <a:prstGeom prst="ellipse">
            <a:avLst/>
          </a:prstGeom>
          <a:solidFill>
            <a:srgbClr val="5EEA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155680" y="644652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94A3B8"/>
                </a:solidFill>
                <a:latin typeface="Arial"/>
              </a:rPr>
              <a:t>13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94A3B8"/>
                </a:solidFill>
                <a:latin typeface="Malgun Gothic"/>
              </a:rPr>
              <a:t>역량 경로 추천 — 전공 ↔ 역량 ↔ LG 계열사 신입 직무 지식그래프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1691640"/>
            <a:ext cx="3566160" cy="269748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Oval 13"/>
          <p:cNvSpPr/>
          <p:nvPr/>
        </p:nvSpPr>
        <p:spPr>
          <a:xfrm>
            <a:off x="749808" y="1837944"/>
            <a:ext cx="384048" cy="384048"/>
          </a:xfrm>
          <a:prstGeom prst="ellipse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61872" y="1883664"/>
            <a:ext cx="2651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94A3B8"/>
                </a:solidFill>
                <a:latin typeface="Malgun Gothic"/>
              </a:rPr>
              <a:t>ChatGPT (5.6) — 비웠다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2359152"/>
            <a:ext cx="3108960" cy="18928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01168" indent="-201168">
              <a:lnSpc>
                <a:spcPct val="112000"/>
              </a:lnSpc>
              <a:spcAft>
                <a:spcPts val="600"/>
              </a:spcAft>
              <a:buClr>
                <a:srgbClr val="5EEAD4"/>
              </a:buClr>
              <a:buFont typeface="Arial"/>
              <a:buChar char="•"/>
            </a:pPr>
            <a:r>
              <a:rPr sz="1100" b="0">
                <a:solidFill>
                  <a:srgbClr val="E5E7EB"/>
                </a:solidFill>
                <a:latin typeface="Malgun Gothic"/>
              </a:rPr>
              <a:t>"'전체 N개 중 1위', '실제 개설 과목 3개', '실제 채용공고의 요구 역량 N개', '출처 URL'은 … 웹 검색 없이 정확성을 보장할 수 없습니다."</a:t>
            </a:r>
          </a:p>
          <a:p>
            <a:pPr marL="201168" indent="-201168">
              <a:lnSpc>
                <a:spcPct val="112000"/>
              </a:lnSpc>
              <a:spcAft>
                <a:spcPts val="600"/>
              </a:spcAft>
              <a:buClr>
                <a:srgbClr val="5EEAD4"/>
              </a:buClr>
              <a:buFont typeface="Arial"/>
              <a:buChar char="•"/>
            </a:pPr>
            <a:r>
              <a:rPr sz="1100" b="1">
                <a:solidFill>
                  <a:srgbClr val="E5E7EB"/>
                </a:solidFill>
                <a:latin typeface="Malgun Gothic"/>
              </a:rPr>
              <a:t>우리 카드 네 줄과 1:1로 빈칸</a:t>
            </a:r>
          </a:p>
          <a:p>
            <a:pPr marL="201168" indent="-201168">
              <a:lnSpc>
                <a:spcPct val="112000"/>
              </a:lnSpc>
              <a:spcAft>
                <a:spcPts val="600"/>
              </a:spcAft>
              <a:buClr>
                <a:srgbClr val="5EEAD4"/>
              </a:buClr>
              <a:buFont typeface="Arial"/>
              <a:buChar char="•"/>
            </a:pPr>
            <a:r>
              <a:rPr sz="1100" b="0">
                <a:solidFill>
                  <a:srgbClr val="E5E7EB"/>
                </a:solidFill>
                <a:latin typeface="Malgun Gothic"/>
              </a:rPr>
              <a:t>과목 3개는 실재 — 단 "검증하지 않았습니다"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97680" y="1691640"/>
            <a:ext cx="3566160" cy="269748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Oval 17"/>
          <p:cNvSpPr/>
          <p:nvPr/>
        </p:nvSpPr>
        <p:spPr>
          <a:xfrm>
            <a:off x="4498848" y="1837944"/>
            <a:ext cx="384048" cy="384048"/>
          </a:xfrm>
          <a:prstGeom prst="ellipse">
            <a:avLst/>
          </a:prstGeom>
          <a:solidFill>
            <a:srgbClr val="FB7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10912" y="1883664"/>
            <a:ext cx="2651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FB7185"/>
                </a:solidFill>
                <a:latin typeface="Malgun Gothic"/>
              </a:rPr>
              <a:t>뤼튼 — 채웠다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26280" y="2359152"/>
            <a:ext cx="3108960" cy="18928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01168" indent="-201168">
              <a:lnSpc>
                <a:spcPct val="112000"/>
              </a:lnSpc>
              <a:spcAft>
                <a:spcPts val="600"/>
              </a:spcAft>
              <a:buClr>
                <a:srgbClr val="5EEAD4"/>
              </a:buClr>
              <a:buFont typeface="Arial"/>
              <a:buChar char="•"/>
            </a:pPr>
            <a:r>
              <a:rPr sz="1100" b="1">
                <a:solidFill>
                  <a:srgbClr val="FB7185"/>
                </a:solidFill>
                <a:latin typeface="Malgun Gothic"/>
              </a:rPr>
              <a:t>과목 3개 중 2개는 3,829개 과목에 없음</a:t>
            </a:r>
            <a:r>
              <a:rPr sz="1100" b="0">
                <a:solidFill>
                  <a:srgbClr val="E5E7EB"/>
                </a:solidFill>
                <a:latin typeface="Malgun Gothic"/>
              </a:rPr>
              <a:t> (1개는 다른 과)</a:t>
            </a:r>
          </a:p>
          <a:p>
            <a:pPr marL="201168" indent="-201168">
              <a:lnSpc>
                <a:spcPct val="112000"/>
              </a:lnSpc>
              <a:spcAft>
                <a:spcPts val="600"/>
              </a:spcAft>
              <a:buClr>
                <a:srgbClr val="5EEAD4"/>
              </a:buClr>
              <a:buFont typeface="Arial"/>
              <a:buChar char="•"/>
            </a:pPr>
            <a:r>
              <a:rPr sz="1100" b="0">
                <a:solidFill>
                  <a:srgbClr val="E5E7EB"/>
                </a:solidFill>
                <a:latin typeface="Malgun Gothic"/>
              </a:rPr>
              <a:t>"LG CNS 데이터 분석 직무를 추천해! 실제로 이 직무에서 요구하는 …" — 우리 스냅샷 CNS 신입 9개 직무에 없음</a:t>
            </a:r>
          </a:p>
          <a:p>
            <a:pPr marL="201168" indent="-201168">
              <a:lnSpc>
                <a:spcPct val="112000"/>
              </a:lnSpc>
              <a:spcAft>
                <a:spcPts val="600"/>
              </a:spcAft>
              <a:buClr>
                <a:srgbClr val="5EEAD4"/>
              </a:buClr>
              <a:buFont typeface="Arial"/>
              <a:buChar char="•"/>
            </a:pPr>
            <a:r>
              <a:rPr sz="1100" b="0">
                <a:solidFill>
                  <a:srgbClr val="E5E7EB"/>
                </a:solidFill>
                <a:latin typeface="Malgun Gothic"/>
              </a:rPr>
              <a:t>추궁하자: "실제 특정 출처에서 가져온 게 아니라"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46720" y="1691640"/>
            <a:ext cx="3566160" cy="269748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Oval 21"/>
          <p:cNvSpPr/>
          <p:nvPr/>
        </p:nvSpPr>
        <p:spPr>
          <a:xfrm>
            <a:off x="8247888" y="1837944"/>
            <a:ext cx="384048" cy="384048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59952" y="1883664"/>
            <a:ext cx="2651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34D399"/>
                </a:solidFill>
                <a:latin typeface="Malgun Gothic"/>
              </a:rPr>
              <a:t>우리 카드 — 세어서 보여준다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75320" y="2359152"/>
            <a:ext cx="3108960" cy="18928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01168" indent="-201168">
              <a:lnSpc>
                <a:spcPct val="112000"/>
              </a:lnSpc>
              <a:spcAft>
                <a:spcPts val="600"/>
              </a:spcAft>
              <a:buClr>
                <a:srgbClr val="5EEAD4"/>
              </a:buClr>
              <a:buFont typeface="Arial"/>
              <a:buChar char="•"/>
            </a:pPr>
            <a:r>
              <a:rPr sz="1100" b="1">
                <a:solidFill>
                  <a:srgbClr val="E5E7EB"/>
                </a:solidFill>
                <a:latin typeface="Malgun Gothic"/>
              </a:rPr>
              <a:t>61개 중 46개 비교, 1위 · ✓ Data Analysis (과목 7개) · 요구 2/2 충족 · 출처 대학알리미·LG Careers</a:t>
            </a:r>
          </a:p>
          <a:p>
            <a:pPr marL="201168" indent="-201168">
              <a:lnSpc>
                <a:spcPct val="112000"/>
              </a:lnSpc>
              <a:spcAft>
                <a:spcPts val="600"/>
              </a:spcAft>
              <a:buClr>
                <a:srgbClr val="5EEAD4"/>
              </a:buClr>
              <a:buFont typeface="Arial"/>
              <a:buChar char="•"/>
            </a:pPr>
            <a:r>
              <a:rPr sz="1100" b="0">
                <a:solidFill>
                  <a:srgbClr val="E5E7EB"/>
                </a:solidFill>
                <a:latin typeface="Malgun Gothic"/>
              </a:rPr>
              <a:t>매 실행 확인 3건 · 정답지 24건 통과</a:t>
            </a:r>
          </a:p>
          <a:p>
            <a:pPr marL="201168" indent="-201168">
              <a:lnSpc>
                <a:spcPct val="112000"/>
              </a:lnSpc>
              <a:spcAft>
                <a:spcPts val="600"/>
              </a:spcAft>
              <a:buClr>
                <a:srgbClr val="5EEAD4"/>
              </a:buClr>
              <a:buFont typeface="Arial"/>
              <a:buChar char="•"/>
            </a:pPr>
            <a:r>
              <a:rPr sz="1100" b="0">
                <a:solidFill>
                  <a:srgbClr val="E5E7EB"/>
                </a:solidFill>
                <a:latin typeface="Malgun Gothic"/>
              </a:rPr>
              <a:t>챗봇이 잘한 것: 해석과 문장 — 그 부분은 우리도 LLM에 맡긴다(설명 문단)</a:t>
            </a:r>
          </a:p>
        </p:txBody>
      </p:sp>
      <p:graphicFrame>
        <p:nvGraphicFramePr>
          <p:cNvPr id="25" name="Table 24"/>
          <p:cNvGraphicFramePr>
            <a:graphicFrameLocks noGrp="1"/>
          </p:cNvGraphicFramePr>
          <p:nvPr/>
        </p:nvGraphicFramePr>
        <p:xfrm>
          <a:off x="548640" y="4526280"/>
          <a:ext cx="11064240" cy="1508760"/>
        </p:xfrm>
        <a:graphic>
          <a:graphicData uri="http://schemas.openxmlformats.org/drawingml/2006/table">
            <a:tbl>
              <a:tblPr firstRow="0" bandRow="0"/>
              <a:tblGrid>
                <a:gridCol w="2103120"/>
                <a:gridCol w="2377440"/>
                <a:gridCol w="2286000"/>
                <a:gridCol w="2103120"/>
                <a:gridCol w="2194560"/>
              </a:tblGrid>
              <a:tr h="301752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Malgun Gothic"/>
                        </a:rPr>
                        <a:t>항목</a:t>
                      </a:r>
                    </a:p>
                  </a:txBody>
                  <a:tcPr marL="73152" marR="73152" marT="36576" marB="36576" anchor="ctr">
                    <a:solidFill>
                      <a:srgbClr val="5EEAD4"/>
                    </a:solidFill>
                    <a:lnL w="6350" cap="flat" cmpd="sng">
                      <a:solidFill>
                        <a:srgbClr val="FFFFFF"/>
                      </a:solidFill>
                    </a:lnL>
                    <a:lnR w="6350" cap="flat" cmpd="sng">
                      <a:solidFill>
                        <a:srgbClr val="FFFFFF"/>
                      </a:solidFill>
                    </a:lnR>
                    <a:lnT w="6350" cap="flat" cmpd="sng">
                      <a:solidFill>
                        <a:srgbClr val="FFFFFF"/>
                      </a:solidFill>
                    </a:lnT>
                    <a:lnB w="6350" cap="flat" cmpd="sng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Malgun Gothic"/>
                        </a:rPr>
                        <a:t>우리 카드</a:t>
                      </a:r>
                    </a:p>
                  </a:txBody>
                  <a:tcPr marL="73152" marR="73152" marT="36576" marB="36576" anchor="ctr">
                    <a:solidFill>
                      <a:srgbClr val="5EEAD4"/>
                    </a:solidFill>
                    <a:lnL w="6350" cap="flat" cmpd="sng">
                      <a:solidFill>
                        <a:srgbClr val="FFFFFF"/>
                      </a:solidFill>
                    </a:lnL>
                    <a:lnR w="6350" cap="flat" cmpd="sng">
                      <a:solidFill>
                        <a:srgbClr val="FFFFFF"/>
                      </a:solidFill>
                    </a:lnR>
                    <a:lnT w="6350" cap="flat" cmpd="sng">
                      <a:solidFill>
                        <a:srgbClr val="FFFFFF"/>
                      </a:solidFill>
                    </a:lnT>
                    <a:lnB w="6350" cap="flat" cmpd="sng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Malgun Gothic"/>
                        </a:rPr>
                        <a:t>ChatGPT</a:t>
                      </a:r>
                    </a:p>
                  </a:txBody>
                  <a:tcPr marL="73152" marR="73152" marT="36576" marB="36576" anchor="ctr">
                    <a:solidFill>
                      <a:srgbClr val="5EEAD4"/>
                    </a:solidFill>
                    <a:lnL w="6350" cap="flat" cmpd="sng">
                      <a:solidFill>
                        <a:srgbClr val="FFFFFF"/>
                      </a:solidFill>
                    </a:lnL>
                    <a:lnR w="6350" cap="flat" cmpd="sng">
                      <a:solidFill>
                        <a:srgbClr val="FFFFFF"/>
                      </a:solidFill>
                    </a:lnR>
                    <a:lnT w="6350" cap="flat" cmpd="sng">
                      <a:solidFill>
                        <a:srgbClr val="FFFFFF"/>
                      </a:solidFill>
                    </a:lnT>
                    <a:lnB w="6350" cap="flat" cmpd="sng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Malgun Gothic"/>
                        </a:rPr>
                        <a:t>뤼튼</a:t>
                      </a:r>
                    </a:p>
                  </a:txBody>
                  <a:tcPr marL="73152" marR="73152" marT="36576" marB="36576" anchor="ctr">
                    <a:solidFill>
                      <a:srgbClr val="5EEAD4"/>
                    </a:solidFill>
                    <a:lnL w="6350" cap="flat" cmpd="sng">
                      <a:solidFill>
                        <a:srgbClr val="FFFFFF"/>
                      </a:solidFill>
                    </a:lnL>
                    <a:lnR w="6350" cap="flat" cmpd="sng">
                      <a:solidFill>
                        <a:srgbClr val="FFFFFF"/>
                      </a:solidFill>
                    </a:lnR>
                    <a:lnT w="6350" cap="flat" cmpd="sng">
                      <a:solidFill>
                        <a:srgbClr val="FFFFFF"/>
                      </a:solidFill>
                    </a:lnT>
                    <a:lnB w="6350" cap="flat" cmpd="sng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Malgun Gothic"/>
                        </a:rPr>
                        <a:t>Gemini</a:t>
                      </a:r>
                    </a:p>
                  </a:txBody>
                  <a:tcPr marL="73152" marR="73152" marT="36576" marB="36576" anchor="ctr">
                    <a:solidFill>
                      <a:srgbClr val="5EEAD4"/>
                    </a:solidFill>
                    <a:lnL w="6350" cap="flat" cmpd="sng">
                      <a:solidFill>
                        <a:srgbClr val="FFFFFF"/>
                      </a:solidFill>
                    </a:lnL>
                    <a:lnR w="6350" cap="flat" cmpd="sng">
                      <a:solidFill>
                        <a:srgbClr val="FFFFFF"/>
                      </a:solidFill>
                    </a:lnR>
                    <a:lnT w="6350" cap="flat" cmpd="sng">
                      <a:solidFill>
                        <a:srgbClr val="FFFFFF"/>
                      </a:solidFill>
                    </a:lnT>
                    <a:lnB w="6350" cap="flat" cmpd="sng">
                      <a:solidFill>
                        <a:srgbClr val="FFFFFF"/>
                      </a:solidFill>
                    </a:lnB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E5E7EB"/>
                          </a:solidFill>
                          <a:latin typeface="Malgun Gothic"/>
                        </a:rPr>
                        <a:t>전수 순위 "N개 중 1위"</a:t>
                      </a:r>
                    </a:p>
                  </a:txBody>
                  <a:tcPr marL="73152" marR="73152" marT="36576" marB="36576" anchor="ctr">
                    <a:solidFill>
                      <a:srgbClr val="172033"/>
                    </a:solidFill>
                    <a:lnL w="6350" cap="flat" cmpd="sng">
                      <a:solidFill>
                        <a:srgbClr val="334155"/>
                      </a:solidFill>
                    </a:lnL>
                    <a:lnR w="6350" cap="flat" cmpd="sng">
                      <a:solidFill>
                        <a:srgbClr val="334155"/>
                      </a:solidFill>
                    </a:lnR>
                    <a:lnT w="6350" cap="flat" cmpd="sng">
                      <a:solidFill>
                        <a:srgbClr val="334155"/>
                      </a:solidFill>
                    </a:lnT>
                    <a:lnB w="6350" cap="flat" cmpd="sng">
                      <a:solidFill>
                        <a:srgbClr val="33415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E5E7EB"/>
                          </a:solidFill>
                          <a:latin typeface="Malgun Gothic"/>
                        </a:rPr>
                        <a:t>61개 중 46개 비교, 1위</a:t>
                      </a:r>
                    </a:p>
                  </a:txBody>
                  <a:tcPr marL="73152" marR="73152" marT="36576" marB="36576" anchor="ctr">
                    <a:solidFill>
                      <a:srgbClr val="172033"/>
                    </a:solidFill>
                    <a:lnL w="6350" cap="flat" cmpd="sng">
                      <a:solidFill>
                        <a:srgbClr val="334155"/>
                      </a:solidFill>
                    </a:lnL>
                    <a:lnR w="6350" cap="flat" cmpd="sng">
                      <a:solidFill>
                        <a:srgbClr val="334155"/>
                      </a:solidFill>
                    </a:lnR>
                    <a:lnT w="6350" cap="flat" cmpd="sng">
                      <a:solidFill>
                        <a:srgbClr val="334155"/>
                      </a:solidFill>
                    </a:lnT>
                    <a:lnB w="6350" cap="flat" cmpd="sng">
                      <a:solidFill>
                        <a:srgbClr val="33415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E5E7EB"/>
                          </a:solidFill>
                          <a:latin typeface="Malgun Gothic"/>
                        </a:rPr>
                        <a:t>✗ "답하지 않겠습니다"</a:t>
                      </a:r>
                    </a:p>
                  </a:txBody>
                  <a:tcPr marL="73152" marR="73152" marT="36576" marB="36576" anchor="ctr">
                    <a:solidFill>
                      <a:srgbClr val="172033"/>
                    </a:solidFill>
                    <a:lnL w="6350" cap="flat" cmpd="sng">
                      <a:solidFill>
                        <a:srgbClr val="334155"/>
                      </a:solidFill>
                    </a:lnL>
                    <a:lnR w="6350" cap="flat" cmpd="sng">
                      <a:solidFill>
                        <a:srgbClr val="334155"/>
                      </a:solidFill>
                    </a:lnR>
                    <a:lnT w="6350" cap="flat" cmpd="sng">
                      <a:solidFill>
                        <a:srgbClr val="334155"/>
                      </a:solidFill>
                    </a:lnT>
                    <a:lnB w="6350" cap="flat" cmpd="sng">
                      <a:solidFill>
                        <a:srgbClr val="33415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E5E7EB"/>
                          </a:solidFill>
                          <a:latin typeface="Malgun Gothic"/>
                        </a:rPr>
                        <a:t>✗ 3개 나열, 순위 없음</a:t>
                      </a:r>
                    </a:p>
                  </a:txBody>
                  <a:tcPr marL="73152" marR="73152" marT="36576" marB="36576" anchor="ctr">
                    <a:solidFill>
                      <a:srgbClr val="172033"/>
                    </a:solidFill>
                    <a:lnL w="6350" cap="flat" cmpd="sng">
                      <a:solidFill>
                        <a:srgbClr val="334155"/>
                      </a:solidFill>
                    </a:lnL>
                    <a:lnR w="6350" cap="flat" cmpd="sng">
                      <a:solidFill>
                        <a:srgbClr val="334155"/>
                      </a:solidFill>
                    </a:lnR>
                    <a:lnT w="6350" cap="flat" cmpd="sng">
                      <a:solidFill>
                        <a:srgbClr val="334155"/>
                      </a:solidFill>
                    </a:lnT>
                    <a:lnB w="6350" cap="flat" cmpd="sng">
                      <a:solidFill>
                        <a:srgbClr val="33415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E5E7EB"/>
                          </a:solidFill>
                          <a:latin typeface="Malgun Gothic"/>
                        </a:rPr>
                        <a:t>✗ 3행 표, 순위 없음</a:t>
                      </a:r>
                    </a:p>
                  </a:txBody>
                  <a:tcPr marL="73152" marR="73152" marT="36576" marB="36576" anchor="ctr">
                    <a:solidFill>
                      <a:srgbClr val="172033"/>
                    </a:solidFill>
                    <a:lnL w="6350" cap="flat" cmpd="sng">
                      <a:solidFill>
                        <a:srgbClr val="334155"/>
                      </a:solidFill>
                    </a:lnL>
                    <a:lnR w="6350" cap="flat" cmpd="sng">
                      <a:solidFill>
                        <a:srgbClr val="334155"/>
                      </a:solidFill>
                    </a:lnR>
                    <a:lnT w="6350" cap="flat" cmpd="sng">
                      <a:solidFill>
                        <a:srgbClr val="334155"/>
                      </a:solidFill>
                    </a:lnT>
                    <a:lnB w="6350" cap="flat" cmpd="sng">
                      <a:solidFill>
                        <a:srgbClr val="334155"/>
                      </a:solidFill>
                    </a:lnB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E5E7EB"/>
                          </a:solidFill>
                          <a:latin typeface="Malgun Gothic"/>
                        </a:rPr>
                        <a:t>과목명 실재</a:t>
                      </a:r>
                    </a:p>
                  </a:txBody>
                  <a:tcPr marL="73152" marR="73152" marT="36576" marB="36576" anchor="ctr">
                    <a:solidFill>
                      <a:srgbClr val="1E293B"/>
                    </a:solidFill>
                    <a:lnL w="6350" cap="flat" cmpd="sng">
                      <a:solidFill>
                        <a:srgbClr val="334155"/>
                      </a:solidFill>
                    </a:lnL>
                    <a:lnR w="6350" cap="flat" cmpd="sng">
                      <a:solidFill>
                        <a:srgbClr val="334155"/>
                      </a:solidFill>
                    </a:lnR>
                    <a:lnT w="6350" cap="flat" cmpd="sng">
                      <a:solidFill>
                        <a:srgbClr val="334155"/>
                      </a:solidFill>
                    </a:lnT>
                    <a:lnB w="6350" cap="flat" cmpd="sng">
                      <a:solidFill>
                        <a:srgbClr val="33415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E5E7EB"/>
                          </a:solidFill>
                          <a:latin typeface="Malgun Gothic"/>
                        </a:rPr>
                        <a:t>✓ 3,829개 csv 근거</a:t>
                      </a:r>
                    </a:p>
                  </a:txBody>
                  <a:tcPr marL="73152" marR="73152" marT="36576" marB="36576" anchor="ctr">
                    <a:solidFill>
                      <a:srgbClr val="1E293B"/>
                    </a:solidFill>
                    <a:lnL w="6350" cap="flat" cmpd="sng">
                      <a:solidFill>
                        <a:srgbClr val="334155"/>
                      </a:solidFill>
                    </a:lnL>
                    <a:lnR w="6350" cap="flat" cmpd="sng">
                      <a:solidFill>
                        <a:srgbClr val="334155"/>
                      </a:solidFill>
                    </a:lnR>
                    <a:lnT w="6350" cap="flat" cmpd="sng">
                      <a:solidFill>
                        <a:srgbClr val="334155"/>
                      </a:solidFill>
                    </a:lnT>
                    <a:lnB w="6350" cap="flat" cmpd="sng">
                      <a:solidFill>
                        <a:srgbClr val="33415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E5E7EB"/>
                          </a:solidFill>
                          <a:latin typeface="Malgun Gothic"/>
                        </a:rPr>
                        <a:t>실재하나 "검증 안 함"</a:t>
                      </a:r>
                    </a:p>
                  </a:txBody>
                  <a:tcPr marL="73152" marR="73152" marT="36576" marB="36576" anchor="ctr">
                    <a:solidFill>
                      <a:srgbClr val="1E293B"/>
                    </a:solidFill>
                    <a:lnL w="6350" cap="flat" cmpd="sng">
                      <a:solidFill>
                        <a:srgbClr val="334155"/>
                      </a:solidFill>
                    </a:lnL>
                    <a:lnR w="6350" cap="flat" cmpd="sng">
                      <a:solidFill>
                        <a:srgbClr val="334155"/>
                      </a:solidFill>
                    </a:lnR>
                    <a:lnT w="6350" cap="flat" cmpd="sng">
                      <a:solidFill>
                        <a:srgbClr val="334155"/>
                      </a:solidFill>
                    </a:lnT>
                    <a:lnB w="6350" cap="flat" cmpd="sng">
                      <a:solidFill>
                        <a:srgbClr val="33415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E5E7EB"/>
                          </a:solidFill>
                          <a:latin typeface="Malgun Gothic"/>
                        </a:rPr>
                        <a:t>3개 중 2개 없음</a:t>
                      </a:r>
                    </a:p>
                  </a:txBody>
                  <a:tcPr marL="73152" marR="73152" marT="36576" marB="36576" anchor="ctr">
                    <a:solidFill>
                      <a:srgbClr val="1E293B"/>
                    </a:solidFill>
                    <a:lnL w="6350" cap="flat" cmpd="sng">
                      <a:solidFill>
                        <a:srgbClr val="334155"/>
                      </a:solidFill>
                    </a:lnL>
                    <a:lnR w="6350" cap="flat" cmpd="sng">
                      <a:solidFill>
                        <a:srgbClr val="334155"/>
                      </a:solidFill>
                    </a:lnR>
                    <a:lnT w="6350" cap="flat" cmpd="sng">
                      <a:solidFill>
                        <a:srgbClr val="334155"/>
                      </a:solidFill>
                    </a:lnT>
                    <a:lnB w="6350" cap="flat" cmpd="sng">
                      <a:solidFill>
                        <a:srgbClr val="33415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E5E7EB"/>
                          </a:solidFill>
                          <a:latin typeface="Malgun Gothic"/>
                        </a:rPr>
                        <a:t>8개 중 4개 없음</a:t>
                      </a:r>
                    </a:p>
                  </a:txBody>
                  <a:tcPr marL="73152" marR="73152" marT="36576" marB="36576" anchor="ctr">
                    <a:solidFill>
                      <a:srgbClr val="1E293B"/>
                    </a:solidFill>
                    <a:lnL w="6350" cap="flat" cmpd="sng">
                      <a:solidFill>
                        <a:srgbClr val="334155"/>
                      </a:solidFill>
                    </a:lnL>
                    <a:lnR w="6350" cap="flat" cmpd="sng">
                      <a:solidFill>
                        <a:srgbClr val="334155"/>
                      </a:solidFill>
                    </a:lnR>
                    <a:lnT w="6350" cap="flat" cmpd="sng">
                      <a:solidFill>
                        <a:srgbClr val="334155"/>
                      </a:solidFill>
                    </a:lnT>
                    <a:lnB w="6350" cap="flat" cmpd="sng">
                      <a:solidFill>
                        <a:srgbClr val="334155"/>
                      </a:solidFill>
                    </a:lnB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E5E7EB"/>
                          </a:solidFill>
                          <a:latin typeface="Malgun Gothic"/>
                        </a:rPr>
                        <a:t>요구 역량 커버/갭</a:t>
                      </a:r>
                    </a:p>
                  </a:txBody>
                  <a:tcPr marL="73152" marR="73152" marT="36576" marB="36576" anchor="ctr">
                    <a:solidFill>
                      <a:srgbClr val="172033"/>
                    </a:solidFill>
                    <a:lnL w="6350" cap="flat" cmpd="sng">
                      <a:solidFill>
                        <a:srgbClr val="334155"/>
                      </a:solidFill>
                    </a:lnL>
                    <a:lnR w="6350" cap="flat" cmpd="sng">
                      <a:solidFill>
                        <a:srgbClr val="334155"/>
                      </a:solidFill>
                    </a:lnR>
                    <a:lnT w="6350" cap="flat" cmpd="sng">
                      <a:solidFill>
                        <a:srgbClr val="334155"/>
                      </a:solidFill>
                    </a:lnT>
                    <a:lnB w="6350" cap="flat" cmpd="sng">
                      <a:solidFill>
                        <a:srgbClr val="33415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E5E7EB"/>
                          </a:solidFill>
                          <a:latin typeface="Malgun Gothic"/>
                        </a:rPr>
                        <a:t>요구 2개 중 2개 (특정 공고)</a:t>
                      </a:r>
                    </a:p>
                  </a:txBody>
                  <a:tcPr marL="73152" marR="73152" marT="36576" marB="36576" anchor="ctr">
                    <a:solidFill>
                      <a:srgbClr val="172033"/>
                    </a:solidFill>
                    <a:lnL w="6350" cap="flat" cmpd="sng">
                      <a:solidFill>
                        <a:srgbClr val="334155"/>
                      </a:solidFill>
                    </a:lnL>
                    <a:lnR w="6350" cap="flat" cmpd="sng">
                      <a:solidFill>
                        <a:srgbClr val="334155"/>
                      </a:solidFill>
                    </a:lnR>
                    <a:lnT w="6350" cap="flat" cmpd="sng">
                      <a:solidFill>
                        <a:srgbClr val="334155"/>
                      </a:solidFill>
                    </a:lnT>
                    <a:lnB w="6350" cap="flat" cmpd="sng">
                      <a:solidFill>
                        <a:srgbClr val="33415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E5E7EB"/>
                          </a:solidFill>
                          <a:latin typeface="Malgun Gothic"/>
                        </a:rPr>
                        <a:t>"7개 중 4개" — 일반 기준</a:t>
                      </a:r>
                    </a:p>
                  </a:txBody>
                  <a:tcPr marL="73152" marR="73152" marT="36576" marB="36576" anchor="ctr">
                    <a:solidFill>
                      <a:srgbClr val="172033"/>
                    </a:solidFill>
                    <a:lnL w="6350" cap="flat" cmpd="sng">
                      <a:solidFill>
                        <a:srgbClr val="334155"/>
                      </a:solidFill>
                    </a:lnL>
                    <a:lnR w="6350" cap="flat" cmpd="sng">
                      <a:solidFill>
                        <a:srgbClr val="334155"/>
                      </a:solidFill>
                    </a:lnR>
                    <a:lnT w="6350" cap="flat" cmpd="sng">
                      <a:solidFill>
                        <a:srgbClr val="334155"/>
                      </a:solidFill>
                    </a:lnT>
                    <a:lnB w="6350" cap="flat" cmpd="sng">
                      <a:solidFill>
                        <a:srgbClr val="33415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E5E7EB"/>
                          </a:solidFill>
                          <a:latin typeface="Malgun Gothic"/>
                        </a:rPr>
                        <a:t>출처 없이 단정</a:t>
                      </a:r>
                    </a:p>
                  </a:txBody>
                  <a:tcPr marL="73152" marR="73152" marT="36576" marB="36576" anchor="ctr">
                    <a:solidFill>
                      <a:srgbClr val="172033"/>
                    </a:solidFill>
                    <a:lnL w="6350" cap="flat" cmpd="sng">
                      <a:solidFill>
                        <a:srgbClr val="334155"/>
                      </a:solidFill>
                    </a:lnL>
                    <a:lnR w="6350" cap="flat" cmpd="sng">
                      <a:solidFill>
                        <a:srgbClr val="334155"/>
                      </a:solidFill>
                    </a:lnR>
                    <a:lnT w="6350" cap="flat" cmpd="sng">
                      <a:solidFill>
                        <a:srgbClr val="334155"/>
                      </a:solidFill>
                    </a:lnT>
                    <a:lnB w="6350" cap="flat" cmpd="sng">
                      <a:solidFill>
                        <a:srgbClr val="33415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E5E7EB"/>
                          </a:solidFill>
                          <a:latin typeface="Malgun Gothic"/>
                        </a:rPr>
                        <a:t>직무명은 근접, 설명은 어긋남</a:t>
                      </a:r>
                    </a:p>
                  </a:txBody>
                  <a:tcPr marL="73152" marR="73152" marT="36576" marB="36576" anchor="ctr">
                    <a:solidFill>
                      <a:srgbClr val="172033"/>
                    </a:solidFill>
                    <a:lnL w="6350" cap="flat" cmpd="sng">
                      <a:solidFill>
                        <a:srgbClr val="334155"/>
                      </a:solidFill>
                    </a:lnL>
                    <a:lnR w="6350" cap="flat" cmpd="sng">
                      <a:solidFill>
                        <a:srgbClr val="334155"/>
                      </a:solidFill>
                    </a:lnR>
                    <a:lnT w="6350" cap="flat" cmpd="sng">
                      <a:solidFill>
                        <a:srgbClr val="334155"/>
                      </a:solidFill>
                    </a:lnT>
                    <a:lnB w="6350" cap="flat" cmpd="sng">
                      <a:solidFill>
                        <a:srgbClr val="334155"/>
                      </a:solidFill>
                    </a:lnB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E5E7EB"/>
                          </a:solidFill>
                          <a:latin typeface="Malgun Gothic"/>
                        </a:rPr>
                        <a:t>재현성 (같은 뜻 다른 말)</a:t>
                      </a:r>
                    </a:p>
                  </a:txBody>
                  <a:tcPr marL="73152" marR="73152" marT="36576" marB="36576" anchor="ctr">
                    <a:solidFill>
                      <a:srgbClr val="1E293B"/>
                    </a:solidFill>
                    <a:lnL w="6350" cap="flat" cmpd="sng">
                      <a:solidFill>
                        <a:srgbClr val="334155"/>
                      </a:solidFill>
                    </a:lnL>
                    <a:lnR w="6350" cap="flat" cmpd="sng">
                      <a:solidFill>
                        <a:srgbClr val="334155"/>
                      </a:solidFill>
                    </a:lnR>
                    <a:lnT w="6350" cap="flat" cmpd="sng">
                      <a:solidFill>
                        <a:srgbClr val="334155"/>
                      </a:solidFill>
                    </a:lnT>
                    <a:lnB w="6350" cap="flat" cmpd="sng">
                      <a:solidFill>
                        <a:srgbClr val="33415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E5E7EB"/>
                          </a:solidFill>
                          <a:latin typeface="Malgun Gothic"/>
                        </a:rPr>
                        <a:t>평가셋 매 실행 통과</a:t>
                      </a:r>
                    </a:p>
                  </a:txBody>
                  <a:tcPr marL="73152" marR="73152" marT="36576" marB="36576" anchor="ctr">
                    <a:solidFill>
                      <a:srgbClr val="1E293B"/>
                    </a:solidFill>
                    <a:lnL w="6350" cap="flat" cmpd="sng">
                      <a:solidFill>
                        <a:srgbClr val="334155"/>
                      </a:solidFill>
                    </a:lnL>
                    <a:lnR w="6350" cap="flat" cmpd="sng">
                      <a:solidFill>
                        <a:srgbClr val="334155"/>
                      </a:solidFill>
                    </a:lnR>
                    <a:lnT w="6350" cap="flat" cmpd="sng">
                      <a:solidFill>
                        <a:srgbClr val="334155"/>
                      </a:solidFill>
                    </a:lnT>
                    <a:lnB w="6350" cap="flat" cmpd="sng">
                      <a:solidFill>
                        <a:srgbClr val="33415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E5E7EB"/>
                          </a:solidFill>
                          <a:latin typeface="Malgun Gothic"/>
                        </a:rPr>
                        <a:t>1위 유지, 목록·개수 매번 다름</a:t>
                      </a:r>
                    </a:p>
                  </a:txBody>
                  <a:tcPr marL="73152" marR="73152" marT="36576" marB="36576" anchor="ctr">
                    <a:solidFill>
                      <a:srgbClr val="1E293B"/>
                    </a:solidFill>
                    <a:lnL w="6350" cap="flat" cmpd="sng">
                      <a:solidFill>
                        <a:srgbClr val="334155"/>
                      </a:solidFill>
                    </a:lnL>
                    <a:lnR w="6350" cap="flat" cmpd="sng">
                      <a:solidFill>
                        <a:srgbClr val="334155"/>
                      </a:solidFill>
                    </a:lnR>
                    <a:lnT w="6350" cap="flat" cmpd="sng">
                      <a:solidFill>
                        <a:srgbClr val="334155"/>
                      </a:solidFill>
                    </a:lnT>
                    <a:lnB w="6350" cap="flat" cmpd="sng">
                      <a:solidFill>
                        <a:srgbClr val="33415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E5E7EB"/>
                          </a:solidFill>
                          <a:latin typeface="Malgun Gothic"/>
                        </a:rPr>
                        <a:t>—</a:t>
                      </a:r>
                    </a:p>
                  </a:txBody>
                  <a:tcPr marL="73152" marR="73152" marT="36576" marB="36576" anchor="ctr">
                    <a:solidFill>
                      <a:srgbClr val="1E293B"/>
                    </a:solidFill>
                    <a:lnL w="6350" cap="flat" cmpd="sng">
                      <a:solidFill>
                        <a:srgbClr val="334155"/>
                      </a:solidFill>
                    </a:lnL>
                    <a:lnR w="6350" cap="flat" cmpd="sng">
                      <a:solidFill>
                        <a:srgbClr val="334155"/>
                      </a:solidFill>
                    </a:lnR>
                    <a:lnT w="6350" cap="flat" cmpd="sng">
                      <a:solidFill>
                        <a:srgbClr val="334155"/>
                      </a:solidFill>
                    </a:lnT>
                    <a:lnB w="6350" cap="flat" cmpd="sng">
                      <a:solidFill>
                        <a:srgbClr val="33415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E5E7EB"/>
                          </a:solidFill>
                          <a:latin typeface="Malgun Gothic"/>
                        </a:rPr>
                        <a:t>—</a:t>
                      </a:r>
                    </a:p>
                  </a:txBody>
                  <a:tcPr marL="73152" marR="73152" marT="36576" marB="36576" anchor="ctr">
                    <a:solidFill>
                      <a:srgbClr val="1E293B"/>
                    </a:solidFill>
                    <a:lnL w="6350" cap="flat" cmpd="sng">
                      <a:solidFill>
                        <a:srgbClr val="334155"/>
                      </a:solidFill>
                    </a:lnL>
                    <a:lnR w="6350" cap="flat" cmpd="sng">
                      <a:solidFill>
                        <a:srgbClr val="334155"/>
                      </a:solidFill>
                    </a:lnR>
                    <a:lnT w="6350" cap="flat" cmpd="sng">
                      <a:solidFill>
                        <a:srgbClr val="334155"/>
                      </a:solidFill>
                    </a:lnT>
                    <a:lnB w="6350" cap="flat" cmpd="sng">
                      <a:solidFill>
                        <a:srgbClr val="33415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26" name="TextBox 25"/>
          <p:cNvSpPr txBox="1"/>
          <p:nvPr/>
        </p:nvSpPr>
        <p:spPr>
          <a:xfrm>
            <a:off x="548640" y="612648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1">
                <a:solidFill>
                  <a:srgbClr val="94A3B8"/>
                </a:solidFill>
                <a:latin typeface="Malgun Gothic"/>
              </a:rPr>
              <a:t>"채우거나 비우거나 — 근거 데이터가 있어야 구분된다."  전문: docs/20260917_챗봇_대조.md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2801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 i="0">
                <a:solidFill>
                  <a:srgbClr val="1E293B"/>
                </a:solidFill>
                <a:latin typeface="Arial"/>
              </a:rPr>
              <a:t>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17320" y="502920"/>
            <a:ext cx="8778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E5E7EB"/>
                </a:solidFill>
                <a:latin typeface="Malgun Gothic"/>
              </a:rPr>
              <a:t>비용 — 요청 한 번에 LLM이 읽는 토큰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078992"/>
            <a:ext cx="9418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94A3B8"/>
                </a:solidFill>
                <a:latin typeface="Malgun Gothic"/>
              </a:rPr>
              <a:t>데이터를 통째로 프롬프트에 넣고 묻는 방식과, 지도를 미리 만들어 두고 읽는 방식</a:t>
            </a:r>
          </a:p>
        </p:txBody>
      </p:sp>
      <p:cxnSp>
        <p:nvCxnSpPr>
          <p:cNvPr id="6" name="Connector 5"/>
          <p:cNvCxnSpPr/>
          <p:nvPr/>
        </p:nvCxnSpPr>
        <p:spPr>
          <a:xfrm flipV="1">
            <a:off x="10651845" y="593445"/>
            <a:ext cx="452628" cy="205740"/>
          </a:xfrm>
          <a:prstGeom prst="line">
            <a:avLst/>
          </a:prstGeom>
          <a:ln w="17145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1104473" y="593445"/>
            <a:ext cx="411480" cy="246888"/>
          </a:xfrm>
          <a:prstGeom prst="line">
            <a:avLst/>
          </a:prstGeom>
          <a:ln w="17145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Oval 7"/>
          <p:cNvSpPr/>
          <p:nvPr/>
        </p:nvSpPr>
        <p:spPr>
          <a:xfrm>
            <a:off x="10561320" y="708660"/>
            <a:ext cx="181051" cy="181051"/>
          </a:xfrm>
          <a:prstGeom prst="ellipse">
            <a:avLst/>
          </a:prstGeom>
          <a:solidFill>
            <a:srgbClr val="5EEA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013948" y="502920"/>
            <a:ext cx="181051" cy="181051"/>
          </a:xfrm>
          <a:prstGeom prst="ellipse">
            <a:avLst/>
          </a:prstGeom>
          <a:solidFill>
            <a:srgbClr val="FB7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425428" y="749808"/>
            <a:ext cx="181051" cy="181051"/>
          </a:xfrm>
          <a:prstGeom prst="ellipse">
            <a:avLst/>
          </a:prstGeom>
          <a:solidFill>
            <a:srgbClr val="5EEA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155680" y="644652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94A3B8"/>
                </a:solidFill>
                <a:latin typeface="Arial"/>
              </a:rPr>
              <a:t>14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94A3B8"/>
                </a:solidFill>
                <a:latin typeface="Malgun Gothic"/>
              </a:rPr>
              <a:t>역량 경로 추천 — 전공 ↔ 역량 ↔ LG 계열사 신입 직무 지식그래프</a:t>
            </a:r>
          </a:p>
        </p:txBody>
      </p:sp>
      <p:graphicFrame>
        <p:nvGraphicFramePr>
          <p:cNvPr id="13" name="Chart 12"/>
          <p:cNvGraphicFramePr>
            <a:graphicFrameLocks noGrp="1"/>
          </p:cNvGraphicFramePr>
          <p:nvPr/>
        </p:nvGraphicFramePr>
        <p:xfrm>
          <a:off x="548640" y="1691640"/>
          <a:ext cx="6766560" cy="38404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4" name="Rounded Rectangle 13"/>
          <p:cNvSpPr/>
          <p:nvPr/>
        </p:nvSpPr>
        <p:spPr>
          <a:xfrm>
            <a:off x="7589520" y="1691640"/>
            <a:ext cx="4023360" cy="123444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Oval 14"/>
          <p:cNvSpPr/>
          <p:nvPr/>
        </p:nvSpPr>
        <p:spPr>
          <a:xfrm>
            <a:off x="7790688" y="1837944"/>
            <a:ext cx="384048" cy="384048"/>
          </a:xfrm>
          <a:prstGeom prst="ellipse">
            <a:avLst/>
          </a:prstGeom>
          <a:solidFill>
            <a:srgbClr val="5EEA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÷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02752" y="1883664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5EEAD4"/>
                </a:solidFill>
                <a:latin typeface="Malgun Gothic"/>
              </a:rPr>
              <a:t>≈ 85배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18120" y="2359152"/>
            <a:ext cx="3566160" cy="4297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E5E7EB"/>
                </a:solidFill>
                <a:latin typeface="Malgun Gothic"/>
              </a:rPr>
              <a:t>B 115,000 vs C 1,400 (태거 464 + 설명 895). 교육과정 67,284 + 신입 공고 48,026 토큰을 매번 읽는 대신 지도를 읽는다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589520" y="3063240"/>
            <a:ext cx="4023360" cy="123444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Oval 18"/>
          <p:cNvSpPr/>
          <p:nvPr/>
        </p:nvSpPr>
        <p:spPr>
          <a:xfrm>
            <a:off x="7790688" y="3209544"/>
            <a:ext cx="384048" cy="384048"/>
          </a:xfrm>
          <a:prstGeom prst="ellipse">
            <a:avLst/>
          </a:prstGeom>
          <a:solidFill>
            <a:srgbClr val="5EEA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02752" y="3255264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5EEAD4"/>
                </a:solidFill>
                <a:latin typeface="Malgun Gothic"/>
              </a:rPr>
              <a:t>지도 만들기는 1회성 269,000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18120" y="3730752"/>
            <a:ext cx="3566160" cy="4297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E5E7EB"/>
                </a:solidFill>
                <a:latin typeface="Malgun Gothic"/>
              </a:rPr>
              <a:t>직무 172회 + 전공 105회 = 277회. B의 2.3회분 — 3번째 요청부터 우리가 싸다. 캐시 덕에 그래프를 열 번 넘게 다시 만들며 호출 0회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589520" y="4434840"/>
            <a:ext cx="4023360" cy="109728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Oval 22"/>
          <p:cNvSpPr/>
          <p:nvPr/>
        </p:nvSpPr>
        <p:spPr>
          <a:xfrm>
            <a:off x="7790688" y="4581144"/>
            <a:ext cx="384048" cy="384048"/>
          </a:xfrm>
          <a:prstGeom prst="ellipse">
            <a:avLst/>
          </a:prstGeom>
          <a:solidFill>
            <a:srgbClr val="FB7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=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02752" y="4626864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FB7185"/>
                </a:solidFill>
                <a:latin typeface="Malgun Gothic"/>
              </a:rPr>
              <a:t>돈보다 큰 이유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18120" y="5102351"/>
            <a:ext cx="3566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E5E7EB"/>
                </a:solidFill>
                <a:latin typeface="Malgun Gothic"/>
              </a:rPr>
              <a:t>B는 판정을 LLM이 한다 → 재현성 없음, 개수를 못 센다. 우리는 판정을 도구가 한다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58064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94A3B8"/>
                </a:solidFill>
                <a:latin typeface="Malgun Gothic"/>
              </a:rPr>
              <a:t>A는 데이터가 없어 기억으로 답한다(전수 순위·출처 불가). 숫자 근거: docs/20260916_발표_수치_4-5장.md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2801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 i="0">
                <a:solidFill>
                  <a:srgbClr val="1E293B"/>
                </a:solidFill>
                <a:latin typeface="Arial"/>
              </a:rPr>
              <a:t>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17320" y="502920"/>
            <a:ext cx="8778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E5E7EB"/>
                </a:solidFill>
                <a:latin typeface="Malgun Gothic"/>
              </a:rPr>
              <a:t>한계 — 솔직하게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078992"/>
            <a:ext cx="9418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94A3B8"/>
                </a:solidFill>
                <a:latin typeface="Malgun Gothic"/>
              </a:rPr>
              <a:t>발표에서 먼저 말하는 것이 질문받고 인정하는 것보다 낫다</a:t>
            </a:r>
          </a:p>
        </p:txBody>
      </p:sp>
      <p:cxnSp>
        <p:nvCxnSpPr>
          <p:cNvPr id="6" name="Connector 5"/>
          <p:cNvCxnSpPr/>
          <p:nvPr/>
        </p:nvCxnSpPr>
        <p:spPr>
          <a:xfrm flipV="1">
            <a:off x="10651845" y="593445"/>
            <a:ext cx="452628" cy="205740"/>
          </a:xfrm>
          <a:prstGeom prst="line">
            <a:avLst/>
          </a:prstGeom>
          <a:ln w="17145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1104473" y="593445"/>
            <a:ext cx="411480" cy="246888"/>
          </a:xfrm>
          <a:prstGeom prst="line">
            <a:avLst/>
          </a:prstGeom>
          <a:ln w="17145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Oval 7"/>
          <p:cNvSpPr/>
          <p:nvPr/>
        </p:nvSpPr>
        <p:spPr>
          <a:xfrm>
            <a:off x="10561320" y="708660"/>
            <a:ext cx="181051" cy="181051"/>
          </a:xfrm>
          <a:prstGeom prst="ellipse">
            <a:avLst/>
          </a:prstGeom>
          <a:solidFill>
            <a:srgbClr val="5EEA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013948" y="502920"/>
            <a:ext cx="181051" cy="181051"/>
          </a:xfrm>
          <a:prstGeom prst="ellipse">
            <a:avLst/>
          </a:prstGeom>
          <a:solidFill>
            <a:srgbClr val="FB7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425428" y="749808"/>
            <a:ext cx="181051" cy="181051"/>
          </a:xfrm>
          <a:prstGeom prst="ellipse">
            <a:avLst/>
          </a:prstGeom>
          <a:solidFill>
            <a:srgbClr val="5EEA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155680" y="644652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94A3B8"/>
                </a:solidFill>
                <a:latin typeface="Arial"/>
              </a:rPr>
              <a:t>15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94A3B8"/>
                </a:solidFill>
                <a:latin typeface="Malgun Gothic"/>
              </a:rPr>
              <a:t>역량 경로 추천 — 전공 ↔ 역량 ↔ LG 계열사 신입 직무 지식그래프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1783080"/>
            <a:ext cx="2606040" cy="178308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Oval 13"/>
          <p:cNvSpPr/>
          <p:nvPr/>
        </p:nvSpPr>
        <p:spPr>
          <a:xfrm>
            <a:off x="749808" y="1929384"/>
            <a:ext cx="384048" cy="384048"/>
          </a:xfrm>
          <a:prstGeom prst="ellipse">
            <a:avLst/>
          </a:prstGeom>
          <a:solidFill>
            <a:srgbClr val="5EEA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61872" y="1975103"/>
            <a:ext cx="1691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5EEAD4"/>
                </a:solidFill>
                <a:latin typeface="Malgun Gothic"/>
              </a:rPr>
              <a:t>서울대 1개교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2450591"/>
            <a:ext cx="2148840" cy="9784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E5E7EB"/>
                </a:solidFill>
                <a:latin typeface="Malgun Gothic"/>
              </a:rPr>
              <a:t>대학 비교 축이 없다 → "서울대 교육과정 기준 전공 추천"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383280" y="1783080"/>
            <a:ext cx="2606040" cy="178308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Oval 17"/>
          <p:cNvSpPr/>
          <p:nvPr/>
        </p:nvSpPr>
        <p:spPr>
          <a:xfrm>
            <a:off x="3584448" y="1929384"/>
            <a:ext cx="384048" cy="384048"/>
          </a:xfrm>
          <a:prstGeom prst="ellipse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96512" y="1975103"/>
            <a:ext cx="1691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94A3B8"/>
                </a:solidFill>
                <a:latin typeface="Malgun Gothic"/>
              </a:rPr>
              <a:t>과목 이름만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11880" y="2450591"/>
            <a:ext cx="2148840" cy="9784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E5E7EB"/>
                </a:solidFill>
                <a:latin typeface="Malgun Gothic"/>
              </a:rPr>
              <a:t>과목 설명이 없어 이름만 보고 판단. 그래서 전공 단위로 묶어 읽었다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1783080"/>
            <a:ext cx="2606040" cy="178308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Oval 21"/>
          <p:cNvSpPr/>
          <p:nvPr/>
        </p:nvSpPr>
        <p:spPr>
          <a:xfrm>
            <a:off x="6419088" y="1929384"/>
            <a:ext cx="384048" cy="384048"/>
          </a:xfrm>
          <a:prstGeom prst="ellipse">
            <a:avLst/>
          </a:prstGeom>
          <a:solidFill>
            <a:srgbClr val="5EEA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31152" y="1975103"/>
            <a:ext cx="1691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5EEAD4"/>
                </a:solidFill>
                <a:latin typeface="Malgun Gothic"/>
              </a:rPr>
              <a:t>공고는 스냅샷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46520" y="2450591"/>
            <a:ext cx="2148840" cy="9784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E5E7EB"/>
                </a:solidFill>
                <a:latin typeface="Malgun Gothic"/>
              </a:rPr>
              <a:t>9/11·9/15에 받은 것. LG CNS 신입 공고는 이미 닫혔다 — 날짜를 붙여 말한다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052560" y="1783080"/>
            <a:ext cx="2606040" cy="178308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Oval 25"/>
          <p:cNvSpPr/>
          <p:nvPr/>
        </p:nvSpPr>
        <p:spPr>
          <a:xfrm>
            <a:off x="9253728" y="1929384"/>
            <a:ext cx="384048" cy="384048"/>
          </a:xfrm>
          <a:prstGeom prst="ellipse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765792" y="1975103"/>
            <a:ext cx="1691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94A3B8"/>
                </a:solidFill>
                <a:latin typeface="Malgun Gothic"/>
              </a:rPr>
              <a:t>사전 밖 직무 10건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81160" y="2450591"/>
            <a:ext cx="2148840" cy="9784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E5E7EB"/>
                </a:solidFill>
                <a:latin typeface="Malgun Gothic"/>
              </a:rPr>
              <a:t>신입 85건 중. 어학·오피스 도구만 있는 사무직, 요구 역량 문장이 없는 공고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48640" y="3794760"/>
            <a:ext cx="2606040" cy="178308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Oval 29"/>
          <p:cNvSpPr/>
          <p:nvPr/>
        </p:nvSpPr>
        <p:spPr>
          <a:xfrm>
            <a:off x="749808" y="3941064"/>
            <a:ext cx="384048" cy="384048"/>
          </a:xfrm>
          <a:prstGeom prst="ellipse">
            <a:avLst/>
          </a:prstGeom>
          <a:solidFill>
            <a:srgbClr val="5EEA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61872" y="3986784"/>
            <a:ext cx="1691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5EEAD4"/>
                </a:solidFill>
                <a:latin typeface="Malgun Gothic"/>
              </a:rPr>
              <a:t>태도 데이터 절반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7240" y="4462272"/>
            <a:ext cx="2148840" cy="9784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E5E7EB"/>
                </a:solidFill>
                <a:latin typeface="Malgun Gothic"/>
              </a:rPr>
              <a:t>108건 중 48건. 빈 값이 "요구 없음"인지 "추출 누락"인지 몰라 동점 처리에만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383280" y="3794760"/>
            <a:ext cx="2606040" cy="178308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Oval 33"/>
          <p:cNvSpPr/>
          <p:nvPr/>
        </p:nvSpPr>
        <p:spPr>
          <a:xfrm>
            <a:off x="3584448" y="3941064"/>
            <a:ext cx="384048" cy="384048"/>
          </a:xfrm>
          <a:prstGeom prst="ellipse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096512" y="3986784"/>
            <a:ext cx="1691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94A3B8"/>
                </a:solidFill>
                <a:latin typeface="Malgun Gothic"/>
              </a:rPr>
              <a:t>LLM 비결정성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11880" y="4462272"/>
            <a:ext cx="2148840" cy="9784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E5E7EB"/>
                </a:solidFill>
                <a:latin typeface="Malgun Gothic"/>
              </a:rPr>
              <a:t>입력 쪽(태그·성향)에서 가끔 흔들린다. 판정은 아니지만 정답지로 계속 감시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217920" y="3794760"/>
            <a:ext cx="2606040" cy="178308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Oval 37"/>
          <p:cNvSpPr/>
          <p:nvPr/>
        </p:nvSpPr>
        <p:spPr>
          <a:xfrm>
            <a:off x="6419088" y="3941064"/>
            <a:ext cx="384048" cy="384048"/>
          </a:xfrm>
          <a:prstGeom prst="ellipse">
            <a:avLst/>
          </a:prstGeom>
          <a:solidFill>
            <a:srgbClr val="5EEA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931152" y="3986784"/>
            <a:ext cx="1691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5EEAD4"/>
                </a:solidFill>
                <a:latin typeface="Malgun Gothic"/>
              </a:rPr>
              <a:t>어학은 점수 밖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46520" y="4462272"/>
            <a:ext cx="2148840" cy="9784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E5E7EB"/>
                </a:solidFill>
                <a:latin typeface="Malgun Gothic"/>
              </a:rPr>
              <a:t>공고 32%가 요구하지만 역량이 아니라 지원 요건. 영어를 "기르는" 전공이 과목명엔 없다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9052560" y="3794760"/>
            <a:ext cx="2606040" cy="178308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Oval 41"/>
          <p:cNvSpPr/>
          <p:nvPr/>
        </p:nvSpPr>
        <p:spPr>
          <a:xfrm>
            <a:off x="9253728" y="3941064"/>
            <a:ext cx="384048" cy="384048"/>
          </a:xfrm>
          <a:prstGeom prst="ellipse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765792" y="3986784"/>
            <a:ext cx="1691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94A3B8"/>
                </a:solidFill>
                <a:latin typeface="Malgun Gothic"/>
              </a:rPr>
              <a:t>문장이 딱딱하다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281160" y="4462272"/>
            <a:ext cx="2148840" cy="9784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E5E7EB"/>
                </a:solidFill>
                <a:latin typeface="Malgun Gothic"/>
              </a:rPr>
              <a:t>판정을 도구에 넘긴 대가. 표현은 LLM 문단이 보완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2801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 i="0">
                <a:solidFill>
                  <a:srgbClr val="1E293B"/>
                </a:solidFill>
                <a:latin typeface="Arial"/>
              </a:rPr>
              <a:t>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17320" y="502920"/>
            <a:ext cx="8778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E5E7EB"/>
                </a:solidFill>
                <a:latin typeface="Malgun Gothic"/>
              </a:rPr>
              <a:t>다른 팀에 묻고 싶은 것 — 우리가 못 푼 문제 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078992"/>
            <a:ext cx="9418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94A3B8"/>
                </a:solidFill>
                <a:latin typeface="Malgun Gothic"/>
              </a:rPr>
              <a:t>이 발표에서 우리가 가장 배우고 싶은 부분입니다</a:t>
            </a:r>
          </a:p>
        </p:txBody>
      </p:sp>
      <p:cxnSp>
        <p:nvCxnSpPr>
          <p:cNvPr id="6" name="Connector 5"/>
          <p:cNvCxnSpPr/>
          <p:nvPr/>
        </p:nvCxnSpPr>
        <p:spPr>
          <a:xfrm flipV="1">
            <a:off x="10651845" y="593445"/>
            <a:ext cx="452628" cy="205740"/>
          </a:xfrm>
          <a:prstGeom prst="line">
            <a:avLst/>
          </a:prstGeom>
          <a:ln w="17145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1104473" y="593445"/>
            <a:ext cx="411480" cy="246888"/>
          </a:xfrm>
          <a:prstGeom prst="line">
            <a:avLst/>
          </a:prstGeom>
          <a:ln w="17145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Oval 7"/>
          <p:cNvSpPr/>
          <p:nvPr/>
        </p:nvSpPr>
        <p:spPr>
          <a:xfrm>
            <a:off x="10561320" y="708660"/>
            <a:ext cx="181051" cy="181051"/>
          </a:xfrm>
          <a:prstGeom prst="ellipse">
            <a:avLst/>
          </a:prstGeom>
          <a:solidFill>
            <a:srgbClr val="5EEA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013948" y="502920"/>
            <a:ext cx="181051" cy="181051"/>
          </a:xfrm>
          <a:prstGeom prst="ellipse">
            <a:avLst/>
          </a:prstGeom>
          <a:solidFill>
            <a:srgbClr val="FB7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425428" y="749808"/>
            <a:ext cx="181051" cy="181051"/>
          </a:xfrm>
          <a:prstGeom prst="ellipse">
            <a:avLst/>
          </a:prstGeom>
          <a:solidFill>
            <a:srgbClr val="5EEA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155680" y="644652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94A3B8"/>
                </a:solidFill>
                <a:latin typeface="Arial"/>
              </a:rPr>
              <a:t>16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94A3B8"/>
                </a:solidFill>
                <a:latin typeface="Malgun Gothic"/>
              </a:rPr>
              <a:t>역량 경로 추천 — 전공 ↔ 역량 ↔ LG 계열사 신입 직무 지식그래프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1737360"/>
            <a:ext cx="11064240" cy="96012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Oval 13"/>
          <p:cNvSpPr/>
          <p:nvPr/>
        </p:nvSpPr>
        <p:spPr>
          <a:xfrm>
            <a:off x="777240" y="1984248"/>
            <a:ext cx="457200" cy="457200"/>
          </a:xfrm>
          <a:prstGeom prst="ellipse">
            <a:avLst/>
          </a:prstGeom>
          <a:solidFill>
            <a:srgbClr val="FB7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1400">
                <a:solidFill>
                  <a:srgbClr val="FFFFFF"/>
                </a:solidFill>
                <a:latin typeface="Arial"/>
              </a:rPr>
              <a:t>Q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1874519"/>
            <a:ext cx="9966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E5E7EB"/>
                </a:solidFill>
                <a:latin typeface="Malgun Gothic"/>
              </a:rPr>
              <a:t>어휘(온톨로지)를 누가 어떻게 관리했나요?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2240280"/>
            <a:ext cx="99669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94A3B8"/>
                </a:solidFill>
                <a:latin typeface="Malgun Gothic"/>
              </a:rPr>
              <a:t>한 사람 담당으로 정했는데도 동시 편집이 났습니다. assert와 리포트 숫자 말고 방법이 있었나요?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2852928"/>
            <a:ext cx="11064240" cy="96012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Oval 17"/>
          <p:cNvSpPr/>
          <p:nvPr/>
        </p:nvSpPr>
        <p:spPr>
          <a:xfrm>
            <a:off x="777240" y="3099816"/>
            <a:ext cx="457200" cy="457200"/>
          </a:xfrm>
          <a:prstGeom prst="ellipse">
            <a:avLst/>
          </a:prstGeom>
          <a:solidFill>
            <a:srgbClr val="FB7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1400">
                <a:solidFill>
                  <a:srgbClr val="FFFFFF"/>
                </a:solidFill>
                <a:latin typeface="Arial"/>
              </a:rPr>
              <a:t>Q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2990088"/>
            <a:ext cx="9966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E5E7EB"/>
                </a:solidFill>
                <a:latin typeface="Malgun Gothic"/>
              </a:rPr>
              <a:t>LLM 출력의 흔들림을 어떻게 다뤘나요?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3355848"/>
            <a:ext cx="99669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94A3B8"/>
                </a:solidFill>
                <a:latin typeface="Malgun Gothic"/>
              </a:rPr>
              <a:t>temperature 0도 흔들렸습니다. 평가셋을 두 번 돌리는 것 말고 더 나은 방법이 있을까요?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3968496"/>
            <a:ext cx="11064240" cy="96012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Oval 21"/>
          <p:cNvSpPr/>
          <p:nvPr/>
        </p:nvSpPr>
        <p:spPr>
          <a:xfrm>
            <a:off x="777240" y="4215383"/>
            <a:ext cx="457200" cy="457200"/>
          </a:xfrm>
          <a:prstGeom prst="ellipse">
            <a:avLst/>
          </a:prstGeom>
          <a:solidFill>
            <a:srgbClr val="FB7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1400">
                <a:solidFill>
                  <a:srgbClr val="FFFFFF"/>
                </a:solidFill>
                <a:latin typeface="Arial"/>
              </a:rPr>
              <a:t>Q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63040" y="4105656"/>
            <a:ext cx="9966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E5E7EB"/>
                </a:solidFill>
                <a:latin typeface="Malgun Gothic"/>
              </a:rPr>
              <a:t>판정을 LLM에 맡긴 팀은 재현성·출처를 어떻게 확보했나요?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63040" y="4471416"/>
            <a:ext cx="99669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94A3B8"/>
                </a:solidFill>
                <a:latin typeface="Malgun Gothic"/>
              </a:rPr>
              <a:t>우리는 도구로 넘겼는데, 그 대가로 표현이 딱딱해졌습니다.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5084064"/>
            <a:ext cx="11064240" cy="96012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Oval 25"/>
          <p:cNvSpPr/>
          <p:nvPr/>
        </p:nvSpPr>
        <p:spPr>
          <a:xfrm>
            <a:off x="777240" y="5330952"/>
            <a:ext cx="457200" cy="457200"/>
          </a:xfrm>
          <a:prstGeom prst="ellipse">
            <a:avLst/>
          </a:prstGeom>
          <a:solidFill>
            <a:srgbClr val="FB7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1400">
                <a:solidFill>
                  <a:srgbClr val="FFFFFF"/>
                </a:solidFill>
                <a:latin typeface="Arial"/>
              </a:rPr>
              <a:t>Q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63040" y="5221224"/>
            <a:ext cx="9966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E5E7EB"/>
                </a:solidFill>
                <a:latin typeface="Malgun Gothic"/>
              </a:rPr>
              <a:t>사용자 입력을 어디까지 대화로 받았나요?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63040" y="5586984"/>
            <a:ext cx="99669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94A3B8"/>
                </a:solidFill>
                <a:latin typeface="Malgun Gothic"/>
              </a:rPr>
              <a:t>우리는 길어질수록 결과가 흔들려 두 영역만 물었습니다. 더 자연스럽게 받으면서 안정적인 방법이 있었나요?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2801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 i="0">
                <a:solidFill>
                  <a:srgbClr val="1E293B"/>
                </a:solidFill>
                <a:latin typeface="Arial"/>
              </a:rPr>
              <a:t>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17320" y="502920"/>
            <a:ext cx="8778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E5E7EB"/>
                </a:solidFill>
                <a:latin typeface="Malgun Gothic"/>
              </a:rPr>
              <a:t>역할과 회고 — 각자 "가장 크게 틀렸던 것"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078992"/>
            <a:ext cx="9418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94A3B8"/>
                </a:solidFill>
                <a:latin typeface="Malgun Gothic"/>
              </a:rPr>
              <a:t>이름·회고 문장은 팀원이 직접 채웁니다 (초안)</a:t>
            </a:r>
          </a:p>
        </p:txBody>
      </p:sp>
      <p:cxnSp>
        <p:nvCxnSpPr>
          <p:cNvPr id="6" name="Connector 5"/>
          <p:cNvCxnSpPr/>
          <p:nvPr/>
        </p:nvCxnSpPr>
        <p:spPr>
          <a:xfrm flipV="1">
            <a:off x="10651845" y="593445"/>
            <a:ext cx="452628" cy="205740"/>
          </a:xfrm>
          <a:prstGeom prst="line">
            <a:avLst/>
          </a:prstGeom>
          <a:ln w="17145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1104473" y="593445"/>
            <a:ext cx="411480" cy="246888"/>
          </a:xfrm>
          <a:prstGeom prst="line">
            <a:avLst/>
          </a:prstGeom>
          <a:ln w="17145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Oval 7"/>
          <p:cNvSpPr/>
          <p:nvPr/>
        </p:nvSpPr>
        <p:spPr>
          <a:xfrm>
            <a:off x="10561320" y="708660"/>
            <a:ext cx="181051" cy="181051"/>
          </a:xfrm>
          <a:prstGeom prst="ellipse">
            <a:avLst/>
          </a:prstGeom>
          <a:solidFill>
            <a:srgbClr val="5EEA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013948" y="502920"/>
            <a:ext cx="181051" cy="181051"/>
          </a:xfrm>
          <a:prstGeom prst="ellipse">
            <a:avLst/>
          </a:prstGeom>
          <a:solidFill>
            <a:srgbClr val="FB7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425428" y="749808"/>
            <a:ext cx="181051" cy="181051"/>
          </a:xfrm>
          <a:prstGeom prst="ellipse">
            <a:avLst/>
          </a:prstGeom>
          <a:solidFill>
            <a:srgbClr val="5EEA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155680" y="644652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94A3B8"/>
                </a:solidFill>
                <a:latin typeface="Arial"/>
              </a:rPr>
              <a:t>17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94A3B8"/>
                </a:solidFill>
                <a:latin typeface="Malgun Gothic"/>
              </a:rPr>
              <a:t>역량 경로 추천 — 전공 ↔ 역량 ↔ LG 계열사 신입 직무 지식그래프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548640" y="1737360"/>
          <a:ext cx="11064240" cy="3291840"/>
        </p:xfrm>
        <a:graphic>
          <a:graphicData uri="http://schemas.openxmlformats.org/drawingml/2006/table">
            <a:tbl>
              <a:tblPr firstRow="0" bandRow="0"/>
              <a:tblGrid>
                <a:gridCol w="1645920"/>
                <a:gridCol w="1280160"/>
                <a:gridCol w="3291840"/>
                <a:gridCol w="2651760"/>
                <a:gridCol w="2194560"/>
              </a:tblGrid>
              <a:tr h="65836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역할</a:t>
                      </a:r>
                    </a:p>
                  </a:txBody>
                  <a:tcPr marL="73152" marR="73152" marT="36576" marB="36576" anchor="ctr">
                    <a:solidFill>
                      <a:srgbClr val="5EEAD4"/>
                    </a:solidFill>
                    <a:lnL w="6350" cap="flat" cmpd="sng">
                      <a:solidFill>
                        <a:srgbClr val="FFFFFF"/>
                      </a:solidFill>
                    </a:lnL>
                    <a:lnR w="6350" cap="flat" cmpd="sng">
                      <a:solidFill>
                        <a:srgbClr val="FFFFFF"/>
                      </a:solidFill>
                    </a:lnR>
                    <a:lnT w="6350" cap="flat" cmpd="sng">
                      <a:solidFill>
                        <a:srgbClr val="FFFFFF"/>
                      </a:solidFill>
                    </a:lnT>
                    <a:lnB w="6350" cap="flat" cmpd="sng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담당 (이름)</a:t>
                      </a:r>
                    </a:p>
                  </a:txBody>
                  <a:tcPr marL="73152" marR="73152" marT="36576" marB="36576" anchor="ctr">
                    <a:solidFill>
                      <a:srgbClr val="5EEAD4"/>
                    </a:solidFill>
                    <a:lnL w="6350" cap="flat" cmpd="sng">
                      <a:solidFill>
                        <a:srgbClr val="FFFFFF"/>
                      </a:solidFill>
                    </a:lnL>
                    <a:lnR w="6350" cap="flat" cmpd="sng">
                      <a:solidFill>
                        <a:srgbClr val="FFFFFF"/>
                      </a:solidFill>
                    </a:lnR>
                    <a:lnT w="6350" cap="flat" cmpd="sng">
                      <a:solidFill>
                        <a:srgbClr val="FFFFFF"/>
                      </a:solidFill>
                    </a:lnT>
                    <a:lnB w="6350" cap="flat" cmpd="sng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맡은 것</a:t>
                      </a:r>
                    </a:p>
                  </a:txBody>
                  <a:tcPr marL="73152" marR="73152" marT="36576" marB="36576" anchor="ctr">
                    <a:solidFill>
                      <a:srgbClr val="5EEAD4"/>
                    </a:solidFill>
                    <a:lnL w="6350" cap="flat" cmpd="sng">
                      <a:solidFill>
                        <a:srgbClr val="FFFFFF"/>
                      </a:solidFill>
                    </a:lnL>
                    <a:lnR w="6350" cap="flat" cmpd="sng">
                      <a:solidFill>
                        <a:srgbClr val="FFFFFF"/>
                      </a:solidFill>
                    </a:lnR>
                    <a:lnT w="6350" cap="flat" cmpd="sng">
                      <a:solidFill>
                        <a:srgbClr val="FFFFFF"/>
                      </a:solidFill>
                    </a:lnT>
                    <a:lnB w="6350" cap="flat" cmpd="sng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가장 크게 틀렸던 것</a:t>
                      </a:r>
                    </a:p>
                  </a:txBody>
                  <a:tcPr marL="73152" marR="73152" marT="36576" marB="36576" anchor="ctr">
                    <a:solidFill>
                      <a:srgbClr val="5EEAD4"/>
                    </a:solidFill>
                    <a:lnL w="6350" cap="flat" cmpd="sng">
                      <a:solidFill>
                        <a:srgbClr val="FFFFFF"/>
                      </a:solidFill>
                    </a:lnL>
                    <a:lnR w="6350" cap="flat" cmpd="sng">
                      <a:solidFill>
                        <a:srgbClr val="FFFFFF"/>
                      </a:solidFill>
                    </a:lnR>
                    <a:lnT w="6350" cap="flat" cmpd="sng">
                      <a:solidFill>
                        <a:srgbClr val="FFFFFF"/>
                      </a:solidFill>
                    </a:lnT>
                    <a:lnB w="6350" cap="flat" cmpd="sng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다음엔</a:t>
                      </a:r>
                    </a:p>
                  </a:txBody>
                  <a:tcPr marL="73152" marR="73152" marT="36576" marB="36576" anchor="ctr">
                    <a:solidFill>
                      <a:srgbClr val="5EEAD4"/>
                    </a:solidFill>
                    <a:lnL w="6350" cap="flat" cmpd="sng">
                      <a:solidFill>
                        <a:srgbClr val="FFFFFF"/>
                      </a:solidFill>
                    </a:lnL>
                    <a:lnR w="6350" cap="flat" cmpd="sng">
                      <a:solidFill>
                        <a:srgbClr val="FFFFFF"/>
                      </a:solidFill>
                    </a:lnR>
                    <a:lnT w="6350" cap="flat" cmpd="sng">
                      <a:solidFill>
                        <a:srgbClr val="FFFFFF"/>
                      </a:solidFill>
                    </a:lnT>
                    <a:lnB w="6350" cap="flat" cmpd="sng">
                      <a:solidFill>
                        <a:srgbClr val="FFFFFF"/>
                      </a:solidFill>
                    </a:lnB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E5E7EB"/>
                          </a:solidFill>
                          <a:latin typeface="Malgun Gothic"/>
                        </a:rPr>
                        <a:t>A · 어휘·PM</a:t>
                      </a:r>
                    </a:p>
                  </a:txBody>
                  <a:tcPr marL="73152" marR="73152" marT="36576" marB="36576" anchor="ctr">
                    <a:solidFill>
                      <a:srgbClr val="172033"/>
                    </a:solidFill>
                    <a:lnL w="6350" cap="flat" cmpd="sng">
                      <a:solidFill>
                        <a:srgbClr val="334155"/>
                      </a:solidFill>
                    </a:lnL>
                    <a:lnR w="6350" cap="flat" cmpd="sng">
                      <a:solidFill>
                        <a:srgbClr val="334155"/>
                      </a:solidFill>
                    </a:lnR>
                    <a:lnT w="6350" cap="flat" cmpd="sng">
                      <a:solidFill>
                        <a:srgbClr val="334155"/>
                      </a:solidFill>
                    </a:lnT>
                    <a:lnB w="6350" cap="flat" cmpd="sng">
                      <a:solidFill>
                        <a:srgbClr val="33415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E5E7EB"/>
                          </a:solidFill>
                          <a:latin typeface="Malgun Gothic"/>
                        </a:rPr>
                        <a:t>(이름)</a:t>
                      </a:r>
                    </a:p>
                  </a:txBody>
                  <a:tcPr marL="73152" marR="73152" marT="36576" marB="36576" anchor="ctr">
                    <a:solidFill>
                      <a:srgbClr val="172033"/>
                    </a:solidFill>
                    <a:lnL w="6350" cap="flat" cmpd="sng">
                      <a:solidFill>
                        <a:srgbClr val="334155"/>
                      </a:solidFill>
                    </a:lnL>
                    <a:lnR w="6350" cap="flat" cmpd="sng">
                      <a:solidFill>
                        <a:srgbClr val="334155"/>
                      </a:solidFill>
                    </a:lnR>
                    <a:lnT w="6350" cap="flat" cmpd="sng">
                      <a:solidFill>
                        <a:srgbClr val="334155"/>
                      </a:solidFill>
                    </a:lnT>
                    <a:lnB w="6350" cap="flat" cmpd="sng">
                      <a:solidFill>
                        <a:srgbClr val="33415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E5E7EB"/>
                          </a:solidFill>
                          <a:latin typeface="Malgun Gothic"/>
                        </a:rPr>
                        <a:t>vocab.py — 대표 표기 139 · IS_A 102 · 성향↔역량</a:t>
                      </a:r>
                    </a:p>
                  </a:txBody>
                  <a:tcPr marL="73152" marR="73152" marT="36576" marB="36576" anchor="ctr">
                    <a:solidFill>
                      <a:srgbClr val="172033"/>
                    </a:solidFill>
                    <a:lnL w="6350" cap="flat" cmpd="sng">
                      <a:solidFill>
                        <a:srgbClr val="334155"/>
                      </a:solidFill>
                    </a:lnL>
                    <a:lnR w="6350" cap="flat" cmpd="sng">
                      <a:solidFill>
                        <a:srgbClr val="334155"/>
                      </a:solidFill>
                    </a:lnR>
                    <a:lnT w="6350" cap="flat" cmpd="sng">
                      <a:solidFill>
                        <a:srgbClr val="334155"/>
                      </a:solidFill>
                    </a:lnT>
                    <a:lnB w="6350" cap="flat" cmpd="sng">
                      <a:solidFill>
                        <a:srgbClr val="33415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E5E7EB"/>
                          </a:solidFill>
                          <a:latin typeface="Malgun Gothic"/>
                        </a:rPr>
                        <a:t>(직접 작성)</a:t>
                      </a:r>
                    </a:p>
                  </a:txBody>
                  <a:tcPr marL="73152" marR="73152" marT="36576" marB="36576" anchor="ctr">
                    <a:solidFill>
                      <a:srgbClr val="172033"/>
                    </a:solidFill>
                    <a:lnL w="6350" cap="flat" cmpd="sng">
                      <a:solidFill>
                        <a:srgbClr val="334155"/>
                      </a:solidFill>
                    </a:lnL>
                    <a:lnR w="6350" cap="flat" cmpd="sng">
                      <a:solidFill>
                        <a:srgbClr val="334155"/>
                      </a:solidFill>
                    </a:lnR>
                    <a:lnT w="6350" cap="flat" cmpd="sng">
                      <a:solidFill>
                        <a:srgbClr val="334155"/>
                      </a:solidFill>
                    </a:lnT>
                    <a:lnB w="6350" cap="flat" cmpd="sng">
                      <a:solidFill>
                        <a:srgbClr val="33415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E5E7EB"/>
                          </a:solidFill>
                          <a:latin typeface="Malgun Gothic"/>
                        </a:rPr>
                        <a:t>(직접 작성)</a:t>
                      </a:r>
                    </a:p>
                  </a:txBody>
                  <a:tcPr marL="73152" marR="73152" marT="36576" marB="36576" anchor="ctr">
                    <a:solidFill>
                      <a:srgbClr val="172033"/>
                    </a:solidFill>
                    <a:lnL w="6350" cap="flat" cmpd="sng">
                      <a:solidFill>
                        <a:srgbClr val="334155"/>
                      </a:solidFill>
                    </a:lnL>
                    <a:lnR w="6350" cap="flat" cmpd="sng">
                      <a:solidFill>
                        <a:srgbClr val="334155"/>
                      </a:solidFill>
                    </a:lnR>
                    <a:lnT w="6350" cap="flat" cmpd="sng">
                      <a:solidFill>
                        <a:srgbClr val="334155"/>
                      </a:solidFill>
                    </a:lnT>
                    <a:lnB w="6350" cap="flat" cmpd="sng">
                      <a:solidFill>
                        <a:srgbClr val="334155"/>
                      </a:solidFill>
                    </a:lnB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E5E7EB"/>
                          </a:solidFill>
                          <a:latin typeface="Malgun Gothic"/>
                        </a:rPr>
                        <a:t>B · 조회·통합</a:t>
                      </a:r>
                    </a:p>
                  </a:txBody>
                  <a:tcPr marL="73152" marR="73152" marT="36576" marB="36576" anchor="ctr">
                    <a:solidFill>
                      <a:srgbClr val="1E293B"/>
                    </a:solidFill>
                    <a:lnL w="6350" cap="flat" cmpd="sng">
                      <a:solidFill>
                        <a:srgbClr val="334155"/>
                      </a:solidFill>
                    </a:lnL>
                    <a:lnR w="6350" cap="flat" cmpd="sng">
                      <a:solidFill>
                        <a:srgbClr val="334155"/>
                      </a:solidFill>
                    </a:lnR>
                    <a:lnT w="6350" cap="flat" cmpd="sng">
                      <a:solidFill>
                        <a:srgbClr val="334155"/>
                      </a:solidFill>
                    </a:lnT>
                    <a:lnB w="6350" cap="flat" cmpd="sng">
                      <a:solidFill>
                        <a:srgbClr val="33415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E5E7EB"/>
                          </a:solidFill>
                          <a:latin typeface="Malgun Gothic"/>
                        </a:rPr>
                        <a:t>(이름)</a:t>
                      </a:r>
                    </a:p>
                  </a:txBody>
                  <a:tcPr marL="73152" marR="73152" marT="36576" marB="36576" anchor="ctr">
                    <a:solidFill>
                      <a:srgbClr val="1E293B"/>
                    </a:solidFill>
                    <a:lnL w="6350" cap="flat" cmpd="sng">
                      <a:solidFill>
                        <a:srgbClr val="334155"/>
                      </a:solidFill>
                    </a:lnL>
                    <a:lnR w="6350" cap="flat" cmpd="sng">
                      <a:solidFill>
                        <a:srgbClr val="334155"/>
                      </a:solidFill>
                    </a:lnR>
                    <a:lnT w="6350" cap="flat" cmpd="sng">
                      <a:solidFill>
                        <a:srgbClr val="334155"/>
                      </a:solidFill>
                    </a:lnT>
                    <a:lnB w="6350" cap="flat" cmpd="sng">
                      <a:solidFill>
                        <a:srgbClr val="33415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E5E7EB"/>
                          </a:solidFill>
                          <a:latin typeface="Malgun Gothic"/>
                        </a:rPr>
                        <a:t>graph_store.py — 조회 4함수 · 점수식 · Git 통합</a:t>
                      </a:r>
                    </a:p>
                  </a:txBody>
                  <a:tcPr marL="73152" marR="73152" marT="36576" marB="36576" anchor="ctr">
                    <a:solidFill>
                      <a:srgbClr val="1E293B"/>
                    </a:solidFill>
                    <a:lnL w="6350" cap="flat" cmpd="sng">
                      <a:solidFill>
                        <a:srgbClr val="334155"/>
                      </a:solidFill>
                    </a:lnL>
                    <a:lnR w="6350" cap="flat" cmpd="sng">
                      <a:solidFill>
                        <a:srgbClr val="334155"/>
                      </a:solidFill>
                    </a:lnR>
                    <a:lnT w="6350" cap="flat" cmpd="sng">
                      <a:solidFill>
                        <a:srgbClr val="334155"/>
                      </a:solidFill>
                    </a:lnT>
                    <a:lnB w="6350" cap="flat" cmpd="sng">
                      <a:solidFill>
                        <a:srgbClr val="33415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E5E7EB"/>
                          </a:solidFill>
                          <a:latin typeface="Malgun Gothic"/>
                        </a:rPr>
                        <a:t>(직접 작성)</a:t>
                      </a:r>
                    </a:p>
                  </a:txBody>
                  <a:tcPr marL="73152" marR="73152" marT="36576" marB="36576" anchor="ctr">
                    <a:solidFill>
                      <a:srgbClr val="1E293B"/>
                    </a:solidFill>
                    <a:lnL w="6350" cap="flat" cmpd="sng">
                      <a:solidFill>
                        <a:srgbClr val="334155"/>
                      </a:solidFill>
                    </a:lnL>
                    <a:lnR w="6350" cap="flat" cmpd="sng">
                      <a:solidFill>
                        <a:srgbClr val="334155"/>
                      </a:solidFill>
                    </a:lnR>
                    <a:lnT w="6350" cap="flat" cmpd="sng">
                      <a:solidFill>
                        <a:srgbClr val="334155"/>
                      </a:solidFill>
                    </a:lnT>
                    <a:lnB w="6350" cap="flat" cmpd="sng">
                      <a:solidFill>
                        <a:srgbClr val="33415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E5E7EB"/>
                          </a:solidFill>
                          <a:latin typeface="Malgun Gothic"/>
                        </a:rPr>
                        <a:t>(직접 작성)</a:t>
                      </a:r>
                    </a:p>
                  </a:txBody>
                  <a:tcPr marL="73152" marR="73152" marT="36576" marB="36576" anchor="ctr">
                    <a:solidFill>
                      <a:srgbClr val="1E293B"/>
                    </a:solidFill>
                    <a:lnL w="6350" cap="flat" cmpd="sng">
                      <a:solidFill>
                        <a:srgbClr val="334155"/>
                      </a:solidFill>
                    </a:lnL>
                    <a:lnR w="6350" cap="flat" cmpd="sng">
                      <a:solidFill>
                        <a:srgbClr val="334155"/>
                      </a:solidFill>
                    </a:lnR>
                    <a:lnT w="6350" cap="flat" cmpd="sng">
                      <a:solidFill>
                        <a:srgbClr val="334155"/>
                      </a:solidFill>
                    </a:lnT>
                    <a:lnB w="6350" cap="flat" cmpd="sng">
                      <a:solidFill>
                        <a:srgbClr val="334155"/>
                      </a:solidFill>
                    </a:lnB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E5E7EB"/>
                          </a:solidFill>
                          <a:latin typeface="Malgun Gothic"/>
                        </a:rPr>
                        <a:t>C · 데이터</a:t>
                      </a:r>
                    </a:p>
                  </a:txBody>
                  <a:tcPr marL="73152" marR="73152" marT="36576" marB="36576" anchor="ctr">
                    <a:solidFill>
                      <a:srgbClr val="172033"/>
                    </a:solidFill>
                    <a:lnL w="6350" cap="flat" cmpd="sng">
                      <a:solidFill>
                        <a:srgbClr val="334155"/>
                      </a:solidFill>
                    </a:lnL>
                    <a:lnR w="6350" cap="flat" cmpd="sng">
                      <a:solidFill>
                        <a:srgbClr val="334155"/>
                      </a:solidFill>
                    </a:lnR>
                    <a:lnT w="6350" cap="flat" cmpd="sng">
                      <a:solidFill>
                        <a:srgbClr val="334155"/>
                      </a:solidFill>
                    </a:lnT>
                    <a:lnB w="6350" cap="flat" cmpd="sng">
                      <a:solidFill>
                        <a:srgbClr val="33415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E5E7EB"/>
                          </a:solidFill>
                          <a:latin typeface="Malgun Gothic"/>
                        </a:rPr>
                        <a:t>(이름)</a:t>
                      </a:r>
                    </a:p>
                  </a:txBody>
                  <a:tcPr marL="73152" marR="73152" marT="36576" marB="36576" anchor="ctr">
                    <a:solidFill>
                      <a:srgbClr val="172033"/>
                    </a:solidFill>
                    <a:lnL w="6350" cap="flat" cmpd="sng">
                      <a:solidFill>
                        <a:srgbClr val="334155"/>
                      </a:solidFill>
                    </a:lnL>
                    <a:lnR w="6350" cap="flat" cmpd="sng">
                      <a:solidFill>
                        <a:srgbClr val="334155"/>
                      </a:solidFill>
                    </a:lnR>
                    <a:lnT w="6350" cap="flat" cmpd="sng">
                      <a:solidFill>
                        <a:srgbClr val="334155"/>
                      </a:solidFill>
                    </a:lnT>
                    <a:lnB w="6350" cap="flat" cmpd="sng">
                      <a:solidFill>
                        <a:srgbClr val="33415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E5E7EB"/>
                          </a:solidFill>
                          <a:latin typeface="Malgun Gothic"/>
                        </a:rPr>
                        <a:t>수집 스냅샷 · 추출 배치 · 필터 · 그래프 생성</a:t>
                      </a:r>
                    </a:p>
                  </a:txBody>
                  <a:tcPr marL="73152" marR="73152" marT="36576" marB="36576" anchor="ctr">
                    <a:solidFill>
                      <a:srgbClr val="172033"/>
                    </a:solidFill>
                    <a:lnL w="6350" cap="flat" cmpd="sng">
                      <a:solidFill>
                        <a:srgbClr val="334155"/>
                      </a:solidFill>
                    </a:lnL>
                    <a:lnR w="6350" cap="flat" cmpd="sng">
                      <a:solidFill>
                        <a:srgbClr val="334155"/>
                      </a:solidFill>
                    </a:lnR>
                    <a:lnT w="6350" cap="flat" cmpd="sng">
                      <a:solidFill>
                        <a:srgbClr val="334155"/>
                      </a:solidFill>
                    </a:lnT>
                    <a:lnB w="6350" cap="flat" cmpd="sng">
                      <a:solidFill>
                        <a:srgbClr val="33415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E5E7EB"/>
                          </a:solidFill>
                          <a:latin typeface="Malgun Gothic"/>
                        </a:rPr>
                        <a:t>(직접 작성)</a:t>
                      </a:r>
                    </a:p>
                  </a:txBody>
                  <a:tcPr marL="73152" marR="73152" marT="36576" marB="36576" anchor="ctr">
                    <a:solidFill>
                      <a:srgbClr val="172033"/>
                    </a:solidFill>
                    <a:lnL w="6350" cap="flat" cmpd="sng">
                      <a:solidFill>
                        <a:srgbClr val="334155"/>
                      </a:solidFill>
                    </a:lnL>
                    <a:lnR w="6350" cap="flat" cmpd="sng">
                      <a:solidFill>
                        <a:srgbClr val="334155"/>
                      </a:solidFill>
                    </a:lnR>
                    <a:lnT w="6350" cap="flat" cmpd="sng">
                      <a:solidFill>
                        <a:srgbClr val="334155"/>
                      </a:solidFill>
                    </a:lnT>
                    <a:lnB w="6350" cap="flat" cmpd="sng">
                      <a:solidFill>
                        <a:srgbClr val="33415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E5E7EB"/>
                          </a:solidFill>
                          <a:latin typeface="Malgun Gothic"/>
                        </a:rPr>
                        <a:t>(직접 작성)</a:t>
                      </a:r>
                    </a:p>
                  </a:txBody>
                  <a:tcPr marL="73152" marR="73152" marT="36576" marB="36576" anchor="ctr">
                    <a:solidFill>
                      <a:srgbClr val="172033"/>
                    </a:solidFill>
                    <a:lnL w="6350" cap="flat" cmpd="sng">
                      <a:solidFill>
                        <a:srgbClr val="334155"/>
                      </a:solidFill>
                    </a:lnL>
                    <a:lnR w="6350" cap="flat" cmpd="sng">
                      <a:solidFill>
                        <a:srgbClr val="334155"/>
                      </a:solidFill>
                    </a:lnR>
                    <a:lnT w="6350" cap="flat" cmpd="sng">
                      <a:solidFill>
                        <a:srgbClr val="334155"/>
                      </a:solidFill>
                    </a:lnT>
                    <a:lnB w="6350" cap="flat" cmpd="sng">
                      <a:solidFill>
                        <a:srgbClr val="334155"/>
                      </a:solidFill>
                    </a:lnB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E5E7EB"/>
                          </a:solidFill>
                          <a:latin typeface="Malgun Gothic"/>
                        </a:rPr>
                        <a:t>D · 온라인</a:t>
                      </a:r>
                    </a:p>
                  </a:txBody>
                  <a:tcPr marL="73152" marR="73152" marT="36576" marB="36576" anchor="ctr">
                    <a:solidFill>
                      <a:srgbClr val="1E293B"/>
                    </a:solidFill>
                    <a:lnL w="6350" cap="flat" cmpd="sng">
                      <a:solidFill>
                        <a:srgbClr val="334155"/>
                      </a:solidFill>
                    </a:lnL>
                    <a:lnR w="6350" cap="flat" cmpd="sng">
                      <a:solidFill>
                        <a:srgbClr val="334155"/>
                      </a:solidFill>
                    </a:lnR>
                    <a:lnT w="6350" cap="flat" cmpd="sng">
                      <a:solidFill>
                        <a:srgbClr val="334155"/>
                      </a:solidFill>
                    </a:lnT>
                    <a:lnB w="6350" cap="flat" cmpd="sng">
                      <a:solidFill>
                        <a:srgbClr val="33415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E5E7EB"/>
                          </a:solidFill>
                          <a:latin typeface="Malgun Gothic"/>
                        </a:rPr>
                        <a:t>(이름)</a:t>
                      </a:r>
                    </a:p>
                  </a:txBody>
                  <a:tcPr marL="73152" marR="73152" marT="36576" marB="36576" anchor="ctr">
                    <a:solidFill>
                      <a:srgbClr val="1E293B"/>
                    </a:solidFill>
                    <a:lnL w="6350" cap="flat" cmpd="sng">
                      <a:solidFill>
                        <a:srgbClr val="334155"/>
                      </a:solidFill>
                    </a:lnL>
                    <a:lnR w="6350" cap="flat" cmpd="sng">
                      <a:solidFill>
                        <a:srgbClr val="334155"/>
                      </a:solidFill>
                    </a:lnR>
                    <a:lnT w="6350" cap="flat" cmpd="sng">
                      <a:solidFill>
                        <a:srgbClr val="334155"/>
                      </a:solidFill>
                    </a:lnT>
                    <a:lnB w="6350" cap="flat" cmpd="sng">
                      <a:solidFill>
                        <a:srgbClr val="33415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E5E7EB"/>
                          </a:solidFill>
                          <a:latin typeface="Malgun Gothic"/>
                        </a:rPr>
                        <a:t>app.py 카드·문단 · 인터뷰 · 웹 · 평가셋</a:t>
                      </a:r>
                    </a:p>
                  </a:txBody>
                  <a:tcPr marL="73152" marR="73152" marT="36576" marB="36576" anchor="ctr">
                    <a:solidFill>
                      <a:srgbClr val="1E293B"/>
                    </a:solidFill>
                    <a:lnL w="6350" cap="flat" cmpd="sng">
                      <a:solidFill>
                        <a:srgbClr val="334155"/>
                      </a:solidFill>
                    </a:lnL>
                    <a:lnR w="6350" cap="flat" cmpd="sng">
                      <a:solidFill>
                        <a:srgbClr val="334155"/>
                      </a:solidFill>
                    </a:lnR>
                    <a:lnT w="6350" cap="flat" cmpd="sng">
                      <a:solidFill>
                        <a:srgbClr val="334155"/>
                      </a:solidFill>
                    </a:lnT>
                    <a:lnB w="6350" cap="flat" cmpd="sng">
                      <a:solidFill>
                        <a:srgbClr val="33415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E5E7EB"/>
                          </a:solidFill>
                          <a:latin typeface="Malgun Gothic"/>
                        </a:rPr>
                        <a:t>(직접 작성)</a:t>
                      </a:r>
                    </a:p>
                  </a:txBody>
                  <a:tcPr marL="73152" marR="73152" marT="36576" marB="36576" anchor="ctr">
                    <a:solidFill>
                      <a:srgbClr val="1E293B"/>
                    </a:solidFill>
                    <a:lnL w="6350" cap="flat" cmpd="sng">
                      <a:solidFill>
                        <a:srgbClr val="334155"/>
                      </a:solidFill>
                    </a:lnL>
                    <a:lnR w="6350" cap="flat" cmpd="sng">
                      <a:solidFill>
                        <a:srgbClr val="334155"/>
                      </a:solidFill>
                    </a:lnR>
                    <a:lnT w="6350" cap="flat" cmpd="sng">
                      <a:solidFill>
                        <a:srgbClr val="334155"/>
                      </a:solidFill>
                    </a:lnT>
                    <a:lnB w="6350" cap="flat" cmpd="sng">
                      <a:solidFill>
                        <a:srgbClr val="33415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E5E7EB"/>
                          </a:solidFill>
                          <a:latin typeface="Malgun Gothic"/>
                        </a:rPr>
                        <a:t>(직접 작성)</a:t>
                      </a:r>
                    </a:p>
                  </a:txBody>
                  <a:tcPr marL="73152" marR="73152" marT="36576" marB="36576" anchor="ctr">
                    <a:solidFill>
                      <a:srgbClr val="1E293B"/>
                    </a:solidFill>
                    <a:lnL w="6350" cap="flat" cmpd="sng">
                      <a:solidFill>
                        <a:srgbClr val="334155"/>
                      </a:solidFill>
                    </a:lnL>
                    <a:lnR w="6350" cap="flat" cmpd="sng">
                      <a:solidFill>
                        <a:srgbClr val="334155"/>
                      </a:solidFill>
                    </a:lnR>
                    <a:lnT w="6350" cap="flat" cmpd="sng">
                      <a:solidFill>
                        <a:srgbClr val="334155"/>
                      </a:solidFill>
                    </a:lnT>
                    <a:lnB w="6350" cap="flat" cmpd="sng">
                      <a:solidFill>
                        <a:srgbClr val="33415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4" name="Rounded Rectangle 13"/>
          <p:cNvSpPr/>
          <p:nvPr/>
        </p:nvSpPr>
        <p:spPr>
          <a:xfrm>
            <a:off x="548640" y="5257800"/>
            <a:ext cx="11064240" cy="86868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777240" y="5468112"/>
            <a:ext cx="10607040" cy="5212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E5E7EB"/>
                </a:solidFill>
                <a:latin typeface="Malgun Gothic"/>
              </a:rPr>
              <a:t>예시 (이 프로젝트에서 실제로 있었던 것): "규칙이 지워진 줄 알았는데 diff를 보니 한 단어였다" · "설명서만 머지한 줄 알았는데 브랜치 전체였다" · "7영역을 다 물으면 더 정확할 줄 알았다"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3" name="Connector 2"/>
          <p:cNvCxnSpPr/>
          <p:nvPr/>
        </p:nvCxnSpPr>
        <p:spPr>
          <a:xfrm flipV="1">
            <a:off x="10453420" y="577900"/>
            <a:ext cx="603504" cy="274320"/>
          </a:xfrm>
          <a:prstGeom prst="line">
            <a:avLst/>
          </a:prstGeom>
          <a:ln w="22859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1056924" y="577900"/>
            <a:ext cx="548640" cy="329184"/>
          </a:xfrm>
          <a:prstGeom prst="line">
            <a:avLst/>
          </a:prstGeom>
          <a:ln w="22859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Oval 4"/>
          <p:cNvSpPr/>
          <p:nvPr/>
        </p:nvSpPr>
        <p:spPr>
          <a:xfrm>
            <a:off x="10332720" y="731520"/>
            <a:ext cx="241401" cy="241401"/>
          </a:xfrm>
          <a:prstGeom prst="ellipse">
            <a:avLst/>
          </a:prstGeom>
          <a:solidFill>
            <a:srgbClr val="5B6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936224" y="457200"/>
            <a:ext cx="241401" cy="241401"/>
          </a:xfrm>
          <a:prstGeom prst="ellipse">
            <a:avLst/>
          </a:prstGeom>
          <a:solidFill>
            <a:srgbClr val="FB7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484864" y="786384"/>
            <a:ext cx="241401" cy="241401"/>
          </a:xfrm>
          <a:prstGeom prst="ellipse">
            <a:avLst/>
          </a:prstGeom>
          <a:solidFill>
            <a:srgbClr val="5B6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640080"/>
            <a:ext cx="9144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F8FAFC"/>
                </a:solidFill>
                <a:latin typeface="Malgun Gothic"/>
              </a:rPr>
              <a:t>배운 문장 여섯 개</a:t>
            </a:r>
          </a:p>
        </p:txBody>
      </p:sp>
      <p:sp>
        <p:nvSpPr>
          <p:cNvPr id="9" name="Oval 8"/>
          <p:cNvSpPr/>
          <p:nvPr/>
        </p:nvSpPr>
        <p:spPr>
          <a:xfrm>
            <a:off x="822960" y="1627632"/>
            <a:ext cx="384048" cy="384048"/>
          </a:xfrm>
          <a:prstGeom prst="ellipse">
            <a:avLst/>
          </a:prstGeom>
          <a:solidFill>
            <a:srgbClr val="FB7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120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164592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0">
                <a:solidFill>
                  <a:srgbClr val="F8FAFC"/>
                </a:solidFill>
                <a:latin typeface="Malgun Gothic"/>
              </a:rPr>
              <a:t>LLM에게 "없다"라고 말할 권리를 주지 않으면, 있는 것처럼 말한다.</a:t>
            </a:r>
          </a:p>
        </p:txBody>
      </p:sp>
      <p:sp>
        <p:nvSpPr>
          <p:cNvPr id="11" name="Oval 10"/>
          <p:cNvSpPr/>
          <p:nvPr/>
        </p:nvSpPr>
        <p:spPr>
          <a:xfrm>
            <a:off x="822960" y="2340864"/>
            <a:ext cx="384048" cy="384048"/>
          </a:xfrm>
          <a:prstGeom prst="ellipse">
            <a:avLst/>
          </a:prstGeom>
          <a:solidFill>
            <a:srgbClr val="FB7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120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2359152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0">
                <a:solidFill>
                  <a:srgbClr val="F8FAFC"/>
                </a:solidFill>
                <a:latin typeface="Malgun Gothic"/>
              </a:rPr>
              <a:t>온톨로지는 "A는 B의 한 종류" 100줄이었다. 방향(위로만)을 지키는 게 전부.</a:t>
            </a:r>
          </a:p>
        </p:txBody>
      </p:sp>
      <p:sp>
        <p:nvSpPr>
          <p:cNvPr id="13" name="Oval 12"/>
          <p:cNvSpPr/>
          <p:nvPr/>
        </p:nvSpPr>
        <p:spPr>
          <a:xfrm>
            <a:off x="822960" y="3054096"/>
            <a:ext cx="384048" cy="384048"/>
          </a:xfrm>
          <a:prstGeom prst="ellipse">
            <a:avLst/>
          </a:prstGeom>
          <a:solidFill>
            <a:srgbClr val="FB7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120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3072384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0">
                <a:solidFill>
                  <a:srgbClr val="F8FAFC"/>
                </a:solidFill>
                <a:latin typeface="Malgun Gothic"/>
              </a:rPr>
              <a:t>고치기 전에 정답지를 먼저 쓴다. 없으면 "고쳤다"와 "옮겼다"를 구분할 수 없다.</a:t>
            </a:r>
          </a:p>
        </p:txBody>
      </p:sp>
      <p:sp>
        <p:nvSpPr>
          <p:cNvPr id="15" name="Oval 14"/>
          <p:cNvSpPr/>
          <p:nvPr/>
        </p:nvSpPr>
        <p:spPr>
          <a:xfrm>
            <a:off x="822960" y="3767328"/>
            <a:ext cx="384048" cy="384048"/>
          </a:xfrm>
          <a:prstGeom prst="ellipse">
            <a:avLst/>
          </a:prstGeom>
          <a:solidFill>
            <a:srgbClr val="FB7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120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17320" y="3785615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0">
                <a:solidFill>
                  <a:srgbClr val="F8FAFC"/>
                </a:solidFill>
                <a:latin typeface="Malgun Gothic"/>
              </a:rPr>
              <a:t>"약점을 쓰지 않는다"는 결정과 "약점이라는 단어를 지운다"는 구현은 다른 일이다.</a:t>
            </a:r>
          </a:p>
        </p:txBody>
      </p:sp>
      <p:sp>
        <p:nvSpPr>
          <p:cNvPr id="17" name="Oval 16"/>
          <p:cNvSpPr/>
          <p:nvPr/>
        </p:nvSpPr>
        <p:spPr>
          <a:xfrm>
            <a:off x="822960" y="4480560"/>
            <a:ext cx="384048" cy="384048"/>
          </a:xfrm>
          <a:prstGeom prst="ellipse">
            <a:avLst/>
          </a:prstGeom>
          <a:solidFill>
            <a:srgbClr val="FB7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1200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17320" y="4498848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0">
                <a:solidFill>
                  <a:srgbClr val="F8FAFC"/>
                </a:solidFill>
                <a:latin typeface="Malgun Gothic"/>
              </a:rPr>
              <a:t>더 많이 물으면 더 잘 아는 게 아니라, 더 많이 흔들렸다.</a:t>
            </a:r>
          </a:p>
        </p:txBody>
      </p:sp>
      <p:sp>
        <p:nvSpPr>
          <p:cNvPr id="19" name="Oval 18"/>
          <p:cNvSpPr/>
          <p:nvPr/>
        </p:nvSpPr>
        <p:spPr>
          <a:xfrm>
            <a:off x="822960" y="5193792"/>
            <a:ext cx="384048" cy="384048"/>
          </a:xfrm>
          <a:prstGeom prst="ellipse">
            <a:avLst/>
          </a:prstGeom>
          <a:solidFill>
            <a:srgbClr val="FB7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1200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17320" y="521208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0">
                <a:solidFill>
                  <a:srgbClr val="F8FAFC"/>
                </a:solidFill>
                <a:latin typeface="Malgun Gothic"/>
              </a:rPr>
              <a:t>역할을 나눠도 파일은 겹친다. 문서와 숫자가 없었으면 다투다 끝났을 것이다.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598932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94A3B8"/>
                </a:solidFill>
                <a:latin typeface="Malgun Gothic"/>
              </a:rPr>
              <a:t>감사합니다 — 코드·문서·결정 기록: github.com/KU-CS-HTG/LG-CNS-KG-Project-1 (docs/ 12개 문서, 평가셋 24건)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8778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E5E7EB"/>
                </a:solidFill>
                <a:latin typeface="Malgun Gothic"/>
              </a:rPr>
              <a:t>부록 A — 예상 질문과 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78992"/>
            <a:ext cx="9418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94A3B8"/>
                </a:solidFill>
                <a:latin typeface="Malgun Gothic"/>
              </a:rPr>
              <a:t>Q&amp;A 대비 (설명서 6-1, 시연 대본, 챗봇 대조 문서에서 취합)</a:t>
            </a:r>
          </a:p>
        </p:txBody>
      </p:sp>
      <p:cxnSp>
        <p:nvCxnSpPr>
          <p:cNvPr id="5" name="Connector 4"/>
          <p:cNvCxnSpPr/>
          <p:nvPr/>
        </p:nvCxnSpPr>
        <p:spPr>
          <a:xfrm flipV="1">
            <a:off x="10651845" y="593445"/>
            <a:ext cx="452628" cy="205740"/>
          </a:xfrm>
          <a:prstGeom prst="line">
            <a:avLst/>
          </a:prstGeom>
          <a:ln w="17145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1104473" y="593445"/>
            <a:ext cx="411480" cy="246888"/>
          </a:xfrm>
          <a:prstGeom prst="line">
            <a:avLst/>
          </a:prstGeom>
          <a:ln w="17145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10561320" y="708660"/>
            <a:ext cx="181051" cy="181051"/>
          </a:xfrm>
          <a:prstGeom prst="ellipse">
            <a:avLst/>
          </a:prstGeom>
          <a:solidFill>
            <a:srgbClr val="5EEA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013948" y="502920"/>
            <a:ext cx="181051" cy="181051"/>
          </a:xfrm>
          <a:prstGeom prst="ellipse">
            <a:avLst/>
          </a:prstGeom>
          <a:solidFill>
            <a:srgbClr val="FB7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425428" y="749808"/>
            <a:ext cx="181051" cy="181051"/>
          </a:xfrm>
          <a:prstGeom prst="ellipse">
            <a:avLst/>
          </a:prstGeom>
          <a:solidFill>
            <a:srgbClr val="5EEA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155680" y="644652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94A3B8"/>
                </a:solidFill>
                <a:latin typeface="Arial"/>
              </a:rPr>
              <a:t>19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94A3B8"/>
                </a:solidFill>
                <a:latin typeface="Malgun Gothic"/>
              </a:rPr>
              <a:t>역량 경로 추천 — 전공 ↔ 역량 ↔ LG 계열사 신입 직무 지식그래프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548640" y="1691640"/>
          <a:ext cx="11064240" cy="4535424"/>
        </p:xfrm>
        <a:graphic>
          <a:graphicData uri="http://schemas.openxmlformats.org/drawingml/2006/table">
            <a:tbl>
              <a:tblPr firstRow="0" bandRow="0"/>
              <a:tblGrid>
                <a:gridCol w="3657600"/>
                <a:gridCol w="7406640"/>
              </a:tblGrid>
              <a:tr h="566928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</a:rPr>
                        <a:t>질문</a:t>
                      </a:r>
                    </a:p>
                  </a:txBody>
                  <a:tcPr marL="73152" marR="73152" marT="36576" marB="36576" anchor="ctr">
                    <a:solidFill>
                      <a:srgbClr val="5EEAD4"/>
                    </a:solidFill>
                    <a:lnL w="6350" cap="flat" cmpd="sng">
                      <a:solidFill>
                        <a:srgbClr val="FFFFFF"/>
                      </a:solidFill>
                    </a:lnL>
                    <a:lnR w="6350" cap="flat" cmpd="sng">
                      <a:solidFill>
                        <a:srgbClr val="FFFFFF"/>
                      </a:solidFill>
                    </a:lnR>
                    <a:lnT w="6350" cap="flat" cmpd="sng">
                      <a:solidFill>
                        <a:srgbClr val="FFFFFF"/>
                      </a:solidFill>
                    </a:lnT>
                    <a:lnB w="6350" cap="flat" cmpd="sng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</a:rPr>
                        <a:t>답</a:t>
                      </a:r>
                    </a:p>
                  </a:txBody>
                  <a:tcPr marL="73152" marR="73152" marT="36576" marB="36576" anchor="ctr">
                    <a:solidFill>
                      <a:srgbClr val="5EEAD4"/>
                    </a:solidFill>
                    <a:lnL w="6350" cap="flat" cmpd="sng">
                      <a:solidFill>
                        <a:srgbClr val="FFFFFF"/>
                      </a:solidFill>
                    </a:lnL>
                    <a:lnR w="6350" cap="flat" cmpd="sng">
                      <a:solidFill>
                        <a:srgbClr val="FFFFFF"/>
                      </a:solidFill>
                    </a:lnR>
                    <a:lnT w="6350" cap="flat" cmpd="sng">
                      <a:solidFill>
                        <a:srgbClr val="FFFFFF"/>
                      </a:solidFill>
                    </a:lnT>
                    <a:lnB w="6350" cap="flat" cmpd="sng">
                      <a:solidFill>
                        <a:srgbClr val="FFFFFF"/>
                      </a:solidFill>
                    </a:lnB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E5E7EB"/>
                          </a:solidFill>
                          <a:latin typeface="Malgun Gothic"/>
                        </a:rPr>
                        <a:t>왜 어학이 없나? B2B 영업은 외국어가 핵심인데</a:t>
                      </a:r>
                    </a:p>
                  </a:txBody>
                  <a:tcPr marL="73152" marR="73152" marT="36576" marB="36576" anchor="ctr">
                    <a:solidFill>
                      <a:srgbClr val="172033"/>
                    </a:solidFill>
                    <a:lnL w="6350" cap="flat" cmpd="sng">
                      <a:solidFill>
                        <a:srgbClr val="334155"/>
                      </a:solidFill>
                    </a:lnL>
                    <a:lnR w="6350" cap="flat" cmpd="sng">
                      <a:solidFill>
                        <a:srgbClr val="334155"/>
                      </a:solidFill>
                    </a:lnR>
                    <a:lnT w="6350" cap="flat" cmpd="sng">
                      <a:solidFill>
                        <a:srgbClr val="334155"/>
                      </a:solidFill>
                    </a:lnT>
                    <a:lnB w="6350" cap="flat" cmpd="sng">
                      <a:solidFill>
                        <a:srgbClr val="33415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E5E7EB"/>
                          </a:solidFill>
                          <a:latin typeface="Malgun Gothic"/>
                        </a:rPr>
                        <a:t>역량이 아니라 지원 요건(OPIc IH 이상). 과목명으로 영어를 기르는 전공이 없고, Skill로 세면 어학을 명시한 직무만 불리해진다(신입 85건 중 27건). 정보로 살리려면 카드 표시만</a:t>
                      </a:r>
                    </a:p>
                  </a:txBody>
                  <a:tcPr marL="73152" marR="73152" marT="36576" marB="36576" anchor="ctr">
                    <a:solidFill>
                      <a:srgbClr val="172033"/>
                    </a:solidFill>
                    <a:lnL w="6350" cap="flat" cmpd="sng">
                      <a:solidFill>
                        <a:srgbClr val="334155"/>
                      </a:solidFill>
                    </a:lnL>
                    <a:lnR w="6350" cap="flat" cmpd="sng">
                      <a:solidFill>
                        <a:srgbClr val="334155"/>
                      </a:solidFill>
                    </a:lnR>
                    <a:lnT w="6350" cap="flat" cmpd="sng">
                      <a:solidFill>
                        <a:srgbClr val="334155"/>
                      </a:solidFill>
                    </a:lnT>
                    <a:lnB w="6350" cap="flat" cmpd="sng">
                      <a:solidFill>
                        <a:srgbClr val="334155"/>
                      </a:solidFill>
                    </a:lnB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E5E7EB"/>
                          </a:solidFill>
                          <a:latin typeface="Malgun Gothic"/>
                        </a:rPr>
                        <a:t>왜 서울대만?</a:t>
                      </a:r>
                    </a:p>
                  </a:txBody>
                  <a:tcPr marL="73152" marR="73152" marT="36576" marB="36576" anchor="ctr">
                    <a:solidFill>
                      <a:srgbClr val="1E293B"/>
                    </a:solidFill>
                    <a:lnL w="6350" cap="flat" cmpd="sng">
                      <a:solidFill>
                        <a:srgbClr val="334155"/>
                      </a:solidFill>
                    </a:lnL>
                    <a:lnR w="6350" cap="flat" cmpd="sng">
                      <a:solidFill>
                        <a:srgbClr val="334155"/>
                      </a:solidFill>
                    </a:lnR>
                    <a:lnT w="6350" cap="flat" cmpd="sng">
                      <a:solidFill>
                        <a:srgbClr val="334155"/>
                      </a:solidFill>
                    </a:lnT>
                    <a:lnB w="6350" cap="flat" cmpd="sng">
                      <a:solidFill>
                        <a:srgbClr val="33415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E5E7EB"/>
                          </a:solidFill>
                          <a:latin typeface="Malgun Gothic"/>
                        </a:rPr>
                        <a:t>교육과정 데이터가 1개교. 대학 비교 축이 없어 "서울대 교육과정 기준 전공 추천"으로 정의</a:t>
                      </a:r>
                    </a:p>
                  </a:txBody>
                  <a:tcPr marL="73152" marR="73152" marT="36576" marB="36576" anchor="ctr">
                    <a:solidFill>
                      <a:srgbClr val="1E293B"/>
                    </a:solidFill>
                    <a:lnL w="6350" cap="flat" cmpd="sng">
                      <a:solidFill>
                        <a:srgbClr val="334155"/>
                      </a:solidFill>
                    </a:lnL>
                    <a:lnR w="6350" cap="flat" cmpd="sng">
                      <a:solidFill>
                        <a:srgbClr val="334155"/>
                      </a:solidFill>
                    </a:lnR>
                    <a:lnT w="6350" cap="flat" cmpd="sng">
                      <a:solidFill>
                        <a:srgbClr val="334155"/>
                      </a:solidFill>
                    </a:lnT>
                    <a:lnB w="6350" cap="flat" cmpd="sng">
                      <a:solidFill>
                        <a:srgbClr val="334155"/>
                      </a:solidFill>
                    </a:lnB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E5E7EB"/>
                          </a:solidFill>
                          <a:latin typeface="Malgun Gothic"/>
                        </a:rPr>
                        <a:t>CNS 신입 공고가 닫혔는데?</a:t>
                      </a:r>
                    </a:p>
                  </a:txBody>
                  <a:tcPr marL="73152" marR="73152" marT="36576" marB="36576" anchor="ctr">
                    <a:solidFill>
                      <a:srgbClr val="172033"/>
                    </a:solidFill>
                    <a:lnL w="6350" cap="flat" cmpd="sng">
                      <a:solidFill>
                        <a:srgbClr val="334155"/>
                      </a:solidFill>
                    </a:lnL>
                    <a:lnR w="6350" cap="flat" cmpd="sng">
                      <a:solidFill>
                        <a:srgbClr val="334155"/>
                      </a:solidFill>
                    </a:lnR>
                    <a:lnT w="6350" cap="flat" cmpd="sng">
                      <a:solidFill>
                        <a:srgbClr val="334155"/>
                      </a:solidFill>
                    </a:lnT>
                    <a:lnB w="6350" cap="flat" cmpd="sng">
                      <a:solidFill>
                        <a:srgbClr val="33415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E5E7EB"/>
                          </a:solidFill>
                          <a:latin typeface="Malgun Gothic"/>
                        </a:rPr>
                        <a:t>9/11 스냅샷. 그래서 "없다"가 아니라 "이 스냅샷에 없다"라고 날짜를 붙여 말한다</a:t>
                      </a:r>
                    </a:p>
                  </a:txBody>
                  <a:tcPr marL="73152" marR="73152" marT="36576" marB="36576" anchor="ctr">
                    <a:solidFill>
                      <a:srgbClr val="172033"/>
                    </a:solidFill>
                    <a:lnL w="6350" cap="flat" cmpd="sng">
                      <a:solidFill>
                        <a:srgbClr val="334155"/>
                      </a:solidFill>
                    </a:lnL>
                    <a:lnR w="6350" cap="flat" cmpd="sng">
                      <a:solidFill>
                        <a:srgbClr val="334155"/>
                      </a:solidFill>
                    </a:lnR>
                    <a:lnT w="6350" cap="flat" cmpd="sng">
                      <a:solidFill>
                        <a:srgbClr val="334155"/>
                      </a:solidFill>
                    </a:lnT>
                    <a:lnB w="6350" cap="flat" cmpd="sng">
                      <a:solidFill>
                        <a:srgbClr val="334155"/>
                      </a:solidFill>
                    </a:lnB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E5E7EB"/>
                          </a:solidFill>
                          <a:latin typeface="Malgun Gothic"/>
                        </a:rPr>
                        <a:t>ChatGPT에 물으면 안 되나?</a:t>
                      </a:r>
                    </a:p>
                  </a:txBody>
                  <a:tcPr marL="73152" marR="73152" marT="36576" marB="36576" anchor="ctr">
                    <a:solidFill>
                      <a:srgbClr val="1E293B"/>
                    </a:solidFill>
                    <a:lnL w="6350" cap="flat" cmpd="sng">
                      <a:solidFill>
                        <a:srgbClr val="334155"/>
                      </a:solidFill>
                    </a:lnL>
                    <a:lnR w="6350" cap="flat" cmpd="sng">
                      <a:solidFill>
                        <a:srgbClr val="334155"/>
                      </a:solidFill>
                    </a:lnR>
                    <a:lnT w="6350" cap="flat" cmpd="sng">
                      <a:solidFill>
                        <a:srgbClr val="334155"/>
                      </a:solidFill>
                    </a:lnT>
                    <a:lnB w="6350" cap="flat" cmpd="sng">
                      <a:solidFill>
                        <a:srgbClr val="33415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E5E7EB"/>
                          </a:solidFill>
                          <a:latin typeface="Malgun Gothic"/>
                        </a:rPr>
                        <a:t>결론(통계학과)은 같을 수 있다. 다른 건 근거 — "46개 중 1위·과목 7개·요구 2개 중 2개"를 세어서 보여주는 것과 "1위 후보로 봅니다"는 다르다</a:t>
                      </a:r>
                    </a:p>
                  </a:txBody>
                  <a:tcPr marL="73152" marR="73152" marT="36576" marB="36576" anchor="ctr">
                    <a:solidFill>
                      <a:srgbClr val="1E293B"/>
                    </a:solidFill>
                    <a:lnL w="6350" cap="flat" cmpd="sng">
                      <a:solidFill>
                        <a:srgbClr val="334155"/>
                      </a:solidFill>
                    </a:lnL>
                    <a:lnR w="6350" cap="flat" cmpd="sng">
                      <a:solidFill>
                        <a:srgbClr val="334155"/>
                      </a:solidFill>
                    </a:lnR>
                    <a:lnT w="6350" cap="flat" cmpd="sng">
                      <a:solidFill>
                        <a:srgbClr val="334155"/>
                      </a:solidFill>
                    </a:lnT>
                    <a:lnB w="6350" cap="flat" cmpd="sng">
                      <a:solidFill>
                        <a:srgbClr val="334155"/>
                      </a:solidFill>
                    </a:lnB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E5E7EB"/>
                          </a:solidFill>
                          <a:latin typeface="Malgun Gothic"/>
                        </a:rPr>
                        <a:t>LLM은 어디에 쓰나?</a:t>
                      </a:r>
                    </a:p>
                  </a:txBody>
                  <a:tcPr marL="73152" marR="73152" marT="36576" marB="36576" anchor="ctr">
                    <a:solidFill>
                      <a:srgbClr val="172033"/>
                    </a:solidFill>
                    <a:lnL w="6350" cap="flat" cmpd="sng">
                      <a:solidFill>
                        <a:srgbClr val="334155"/>
                      </a:solidFill>
                    </a:lnL>
                    <a:lnR w="6350" cap="flat" cmpd="sng">
                      <a:solidFill>
                        <a:srgbClr val="334155"/>
                      </a:solidFill>
                    </a:lnR>
                    <a:lnT w="6350" cap="flat" cmpd="sng">
                      <a:solidFill>
                        <a:srgbClr val="334155"/>
                      </a:solidFill>
                    </a:lnT>
                    <a:lnB w="6350" cap="flat" cmpd="sng">
                      <a:solidFill>
                        <a:srgbClr val="33415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E5E7EB"/>
                          </a:solidFill>
                          <a:latin typeface="Malgun Gothic"/>
                        </a:rPr>
                        <a:t>판정이 아니라 추출(과목·공고 → 역량)과 표현(설명 문단). 판정은 사전 조회와 집합 연산</a:t>
                      </a:r>
                    </a:p>
                  </a:txBody>
                  <a:tcPr marL="73152" marR="73152" marT="36576" marB="36576" anchor="ctr">
                    <a:solidFill>
                      <a:srgbClr val="172033"/>
                    </a:solidFill>
                    <a:lnL w="6350" cap="flat" cmpd="sng">
                      <a:solidFill>
                        <a:srgbClr val="334155"/>
                      </a:solidFill>
                    </a:lnL>
                    <a:lnR w="6350" cap="flat" cmpd="sng">
                      <a:solidFill>
                        <a:srgbClr val="334155"/>
                      </a:solidFill>
                    </a:lnR>
                    <a:lnT w="6350" cap="flat" cmpd="sng">
                      <a:solidFill>
                        <a:srgbClr val="334155"/>
                      </a:solidFill>
                    </a:lnT>
                    <a:lnB w="6350" cap="flat" cmpd="sng">
                      <a:solidFill>
                        <a:srgbClr val="334155"/>
                      </a:solidFill>
                    </a:lnB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E5E7EB"/>
                          </a:solidFill>
                          <a:latin typeface="Malgun Gothic"/>
                        </a:rPr>
                        <a:t>ChatGPT는 안 지어내던데? ("개수를 시키면 지어낸다"와 충돌?)</a:t>
                      </a:r>
                    </a:p>
                  </a:txBody>
                  <a:tcPr marL="73152" marR="73152" marT="36576" marB="36576" anchor="ctr">
                    <a:solidFill>
                      <a:srgbClr val="1E293B"/>
                    </a:solidFill>
                    <a:lnL w="6350" cap="flat" cmpd="sng">
                      <a:solidFill>
                        <a:srgbClr val="334155"/>
                      </a:solidFill>
                    </a:lnL>
                    <a:lnR w="6350" cap="flat" cmpd="sng">
                      <a:solidFill>
                        <a:srgbClr val="334155"/>
                      </a:solidFill>
                    </a:lnR>
                    <a:lnT w="6350" cap="flat" cmpd="sng">
                      <a:solidFill>
                        <a:srgbClr val="334155"/>
                      </a:solidFill>
                    </a:lnT>
                    <a:lnB w="6350" cap="flat" cmpd="sng">
                      <a:solidFill>
                        <a:srgbClr val="33415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E5E7EB"/>
                          </a:solidFill>
                          <a:latin typeface="Malgun Gothic"/>
                        </a:rPr>
                        <a:t>모델·프롬프트에 따라 다르다. 같은 날 ChatGPT 5.6은 비웠고 뤼튼은 채웠다(과목 2/3 없음). 모델 행동에 기대지 않고 데이터로 채운 이유</a:t>
                      </a:r>
                    </a:p>
                  </a:txBody>
                  <a:tcPr marL="73152" marR="73152" marT="36576" marB="36576" anchor="ctr">
                    <a:solidFill>
                      <a:srgbClr val="1E293B"/>
                    </a:solidFill>
                    <a:lnL w="6350" cap="flat" cmpd="sng">
                      <a:solidFill>
                        <a:srgbClr val="334155"/>
                      </a:solidFill>
                    </a:lnL>
                    <a:lnR w="6350" cap="flat" cmpd="sng">
                      <a:solidFill>
                        <a:srgbClr val="334155"/>
                      </a:solidFill>
                    </a:lnR>
                    <a:lnT w="6350" cap="flat" cmpd="sng">
                      <a:solidFill>
                        <a:srgbClr val="334155"/>
                      </a:solidFill>
                    </a:lnT>
                    <a:lnB w="6350" cap="flat" cmpd="sng">
                      <a:solidFill>
                        <a:srgbClr val="334155"/>
                      </a:solidFill>
                    </a:lnB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E5E7EB"/>
                          </a:solidFill>
                          <a:latin typeface="Malgun Gothic"/>
                        </a:rPr>
                        <a:t>46%는 무슨 뜻?</a:t>
                      </a:r>
                    </a:p>
                  </a:txBody>
                  <a:tcPr marL="73152" marR="73152" marT="36576" marB="36576" anchor="ctr">
                    <a:solidFill>
                      <a:srgbClr val="172033"/>
                    </a:solidFill>
                    <a:lnL w="6350" cap="flat" cmpd="sng">
                      <a:solidFill>
                        <a:srgbClr val="334155"/>
                      </a:solidFill>
                    </a:lnL>
                    <a:lnR w="6350" cap="flat" cmpd="sng">
                      <a:solidFill>
                        <a:srgbClr val="334155"/>
                      </a:solidFill>
                    </a:lnR>
                    <a:lnT w="6350" cap="flat" cmpd="sng">
                      <a:solidFill>
                        <a:srgbClr val="334155"/>
                      </a:solidFill>
                    </a:lnT>
                    <a:lnB w="6350" cap="flat" cmpd="sng">
                      <a:solidFill>
                        <a:srgbClr val="33415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E5E7EB"/>
                          </a:solidFill>
                          <a:latin typeface="Malgun Gothic"/>
                        </a:rPr>
                        <a:t>"어울릴 확률"이 아니라 학생 역량이 그 전공 과목과 이어지는 정도(√idf 가중 커버리지). 1위가 22%인 입력도 있다</a:t>
                      </a:r>
                    </a:p>
                  </a:txBody>
                  <a:tcPr marL="73152" marR="73152" marT="36576" marB="36576" anchor="ctr">
                    <a:solidFill>
                      <a:srgbClr val="172033"/>
                    </a:solidFill>
                    <a:lnL w="6350" cap="flat" cmpd="sng">
                      <a:solidFill>
                        <a:srgbClr val="334155"/>
                      </a:solidFill>
                    </a:lnL>
                    <a:lnR w="6350" cap="flat" cmpd="sng">
                      <a:solidFill>
                        <a:srgbClr val="334155"/>
                      </a:solidFill>
                    </a:lnR>
                    <a:lnT w="6350" cap="flat" cmpd="sng">
                      <a:solidFill>
                        <a:srgbClr val="334155"/>
                      </a:solidFill>
                    </a:lnT>
                    <a:lnB w="6350" cap="flat" cmpd="sng">
                      <a:solidFill>
                        <a:srgbClr val="334155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8778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E5E7EB"/>
                </a:solidFill>
                <a:latin typeface="Malgun Gothic"/>
              </a:rPr>
              <a:t>부록 B — 수치와 문서 지도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78992"/>
            <a:ext cx="9418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94A3B8"/>
                </a:solidFill>
                <a:latin typeface="Malgun Gothic"/>
              </a:rPr>
              <a:t>발표 수치 원본과 결정 기록. 전부 저장소 docs/ 에 있다</a:t>
            </a:r>
          </a:p>
        </p:txBody>
      </p:sp>
      <p:cxnSp>
        <p:nvCxnSpPr>
          <p:cNvPr id="5" name="Connector 4"/>
          <p:cNvCxnSpPr/>
          <p:nvPr/>
        </p:nvCxnSpPr>
        <p:spPr>
          <a:xfrm flipV="1">
            <a:off x="10651845" y="593445"/>
            <a:ext cx="452628" cy="205740"/>
          </a:xfrm>
          <a:prstGeom prst="line">
            <a:avLst/>
          </a:prstGeom>
          <a:ln w="17145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1104473" y="593445"/>
            <a:ext cx="411480" cy="246888"/>
          </a:xfrm>
          <a:prstGeom prst="line">
            <a:avLst/>
          </a:prstGeom>
          <a:ln w="17145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10561320" y="708660"/>
            <a:ext cx="181051" cy="181051"/>
          </a:xfrm>
          <a:prstGeom prst="ellipse">
            <a:avLst/>
          </a:prstGeom>
          <a:solidFill>
            <a:srgbClr val="5EEA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013948" y="502920"/>
            <a:ext cx="181051" cy="181051"/>
          </a:xfrm>
          <a:prstGeom prst="ellipse">
            <a:avLst/>
          </a:prstGeom>
          <a:solidFill>
            <a:srgbClr val="FB7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425428" y="749808"/>
            <a:ext cx="181051" cy="181051"/>
          </a:xfrm>
          <a:prstGeom prst="ellipse">
            <a:avLst/>
          </a:prstGeom>
          <a:solidFill>
            <a:srgbClr val="5EEA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155680" y="644652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94A3B8"/>
                </a:solidFill>
                <a:latin typeface="Arial"/>
              </a:rPr>
              <a:t>20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94A3B8"/>
                </a:solidFill>
                <a:latin typeface="Malgun Gothic"/>
              </a:rPr>
              <a:t>역량 경로 추천 — 전공 ↔ 역량 ↔ LG 계열사 신입 직무 지식그래프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548640" y="1691640"/>
          <a:ext cx="11064240" cy="3291840"/>
        </p:xfrm>
        <a:graphic>
          <a:graphicData uri="http://schemas.openxmlformats.org/drawingml/2006/table">
            <a:tbl>
              <a:tblPr firstRow="0" bandRow="0"/>
              <a:tblGrid>
                <a:gridCol w="1645920"/>
                <a:gridCol w="9418320"/>
              </a:tblGrid>
              <a:tr h="54864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</a:rPr>
                        <a:t>항목</a:t>
                      </a:r>
                    </a:p>
                  </a:txBody>
                  <a:tcPr marL="73152" marR="73152" marT="36576" marB="36576" anchor="ctr">
                    <a:solidFill>
                      <a:srgbClr val="5EEAD4"/>
                    </a:solidFill>
                    <a:lnL w="6350" cap="flat" cmpd="sng">
                      <a:solidFill>
                        <a:srgbClr val="FFFFFF"/>
                      </a:solidFill>
                    </a:lnL>
                    <a:lnR w="6350" cap="flat" cmpd="sng">
                      <a:solidFill>
                        <a:srgbClr val="FFFFFF"/>
                      </a:solidFill>
                    </a:lnR>
                    <a:lnT w="6350" cap="flat" cmpd="sng">
                      <a:solidFill>
                        <a:srgbClr val="FFFFFF"/>
                      </a:solidFill>
                    </a:lnT>
                    <a:lnB w="6350" cap="flat" cmpd="sng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</a:rPr>
                        <a:t>값</a:t>
                      </a:r>
                    </a:p>
                  </a:txBody>
                  <a:tcPr marL="73152" marR="73152" marT="36576" marB="36576" anchor="ctr">
                    <a:solidFill>
                      <a:srgbClr val="5EEAD4"/>
                    </a:solidFill>
                    <a:lnL w="6350" cap="flat" cmpd="sng">
                      <a:solidFill>
                        <a:srgbClr val="FFFFFF"/>
                      </a:solidFill>
                    </a:lnL>
                    <a:lnR w="6350" cap="flat" cmpd="sng">
                      <a:solidFill>
                        <a:srgbClr val="FFFFFF"/>
                      </a:solidFill>
                    </a:lnR>
                    <a:lnT w="6350" cap="flat" cmpd="sng">
                      <a:solidFill>
                        <a:srgbClr val="FFFFFF"/>
                      </a:solidFill>
                    </a:lnT>
                    <a:lnB w="6350" cap="flat" cmpd="sng">
                      <a:solidFill>
                        <a:srgbClr val="FFFFFF"/>
                      </a:solidFill>
                    </a:lnB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E5E7EB"/>
                          </a:solidFill>
                          <a:latin typeface="Malgun Gothic"/>
                        </a:rPr>
                        <a:t>입력</a:t>
                      </a:r>
                    </a:p>
                  </a:txBody>
                  <a:tcPr marL="73152" marR="73152" marT="36576" marB="36576" anchor="ctr">
                    <a:solidFill>
                      <a:srgbClr val="172033"/>
                    </a:solidFill>
                    <a:lnL w="6350" cap="flat" cmpd="sng">
                      <a:solidFill>
                        <a:srgbClr val="334155"/>
                      </a:solidFill>
                    </a:lnL>
                    <a:lnR w="6350" cap="flat" cmpd="sng">
                      <a:solidFill>
                        <a:srgbClr val="334155"/>
                      </a:solidFill>
                    </a:lnR>
                    <a:lnT w="6350" cap="flat" cmpd="sng">
                      <a:solidFill>
                        <a:srgbClr val="334155"/>
                      </a:solidFill>
                    </a:lnT>
                    <a:lnB w="6350" cap="flat" cmpd="sng">
                      <a:solidFill>
                        <a:srgbClr val="33415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E5E7EB"/>
                          </a:solidFill>
                          <a:latin typeface="Malgun Gothic"/>
                        </a:rPr>
                        <a:t>서울대 105 전공 · 과목 3,829행(고유 3,560) / LG 계열사 9곳 · 공고 50 → 직무 172(신입 85)</a:t>
                      </a:r>
                    </a:p>
                  </a:txBody>
                  <a:tcPr marL="73152" marR="73152" marT="36576" marB="36576" anchor="ctr">
                    <a:solidFill>
                      <a:srgbClr val="172033"/>
                    </a:solidFill>
                    <a:lnL w="6350" cap="flat" cmpd="sng">
                      <a:solidFill>
                        <a:srgbClr val="334155"/>
                      </a:solidFill>
                    </a:lnL>
                    <a:lnR w="6350" cap="flat" cmpd="sng">
                      <a:solidFill>
                        <a:srgbClr val="334155"/>
                      </a:solidFill>
                    </a:lnR>
                    <a:lnT w="6350" cap="flat" cmpd="sng">
                      <a:solidFill>
                        <a:srgbClr val="334155"/>
                      </a:solidFill>
                    </a:lnT>
                    <a:lnB w="6350" cap="flat" cmpd="sng">
                      <a:solidFill>
                        <a:srgbClr val="334155"/>
                      </a:solidFill>
                    </a:lnB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E5E7EB"/>
                          </a:solidFill>
                          <a:latin typeface="Malgun Gothic"/>
                        </a:rPr>
                        <a:t>그래프</a:t>
                      </a:r>
                    </a:p>
                  </a:txBody>
                  <a:tcPr marL="73152" marR="73152" marT="36576" marB="36576" anchor="ctr">
                    <a:solidFill>
                      <a:srgbClr val="1E293B"/>
                    </a:solidFill>
                    <a:lnL w="6350" cap="flat" cmpd="sng">
                      <a:solidFill>
                        <a:srgbClr val="334155"/>
                      </a:solidFill>
                    </a:lnL>
                    <a:lnR w="6350" cap="flat" cmpd="sng">
                      <a:solidFill>
                        <a:srgbClr val="334155"/>
                      </a:solidFill>
                    </a:lnR>
                    <a:lnT w="6350" cap="flat" cmpd="sng">
                      <a:solidFill>
                        <a:srgbClr val="334155"/>
                      </a:solidFill>
                    </a:lnT>
                    <a:lnB w="6350" cap="flat" cmpd="sng">
                      <a:solidFill>
                        <a:srgbClr val="33415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E5E7EB"/>
                          </a:solidFill>
                          <a:latin typeface="Malgun Gothic"/>
                        </a:rPr>
                        <a:t>Major 61 · Job 108(신입 75) · Skill 120 · Trait 30 · SoftSkill 10 / DEVELOPS 174(근거 과목 454) · REQUIRES 277 · PREFERS 170 · IS_A 102 · SUGGESTS 7 · MATCHES 17 · WANTS 83</a:t>
                      </a:r>
                    </a:p>
                  </a:txBody>
                  <a:tcPr marL="73152" marR="73152" marT="36576" marB="36576" anchor="ctr">
                    <a:solidFill>
                      <a:srgbClr val="1E293B"/>
                    </a:solidFill>
                    <a:lnL w="6350" cap="flat" cmpd="sng">
                      <a:solidFill>
                        <a:srgbClr val="334155"/>
                      </a:solidFill>
                    </a:lnL>
                    <a:lnR w="6350" cap="flat" cmpd="sng">
                      <a:solidFill>
                        <a:srgbClr val="334155"/>
                      </a:solidFill>
                    </a:lnR>
                    <a:lnT w="6350" cap="flat" cmpd="sng">
                      <a:solidFill>
                        <a:srgbClr val="334155"/>
                      </a:solidFill>
                    </a:lnT>
                    <a:lnB w="6350" cap="flat" cmpd="sng">
                      <a:solidFill>
                        <a:srgbClr val="334155"/>
                      </a:solidFill>
                    </a:lnB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E5E7EB"/>
                          </a:solidFill>
                          <a:latin typeface="Malgun Gothic"/>
                        </a:rPr>
                        <a:t>어휘</a:t>
                      </a:r>
                    </a:p>
                  </a:txBody>
                  <a:tcPr marL="73152" marR="73152" marT="36576" marB="36576" anchor="ctr">
                    <a:solidFill>
                      <a:srgbClr val="172033"/>
                    </a:solidFill>
                    <a:lnL w="6350" cap="flat" cmpd="sng">
                      <a:solidFill>
                        <a:srgbClr val="334155"/>
                      </a:solidFill>
                    </a:lnL>
                    <a:lnR w="6350" cap="flat" cmpd="sng">
                      <a:solidFill>
                        <a:srgbClr val="334155"/>
                      </a:solidFill>
                    </a:lnR>
                    <a:lnT w="6350" cap="flat" cmpd="sng">
                      <a:solidFill>
                        <a:srgbClr val="334155"/>
                      </a:solidFill>
                    </a:lnT>
                    <a:lnB w="6350" cap="flat" cmpd="sng">
                      <a:solidFill>
                        <a:srgbClr val="33415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E5E7EB"/>
                          </a:solidFill>
                          <a:latin typeface="Malgun Gothic"/>
                        </a:rPr>
                        <a:t>대표 표기 139 · 별칭 417 · 상위 개념 23 · 공통 Skill 30 · IS_A 한 홉 연결 75</a:t>
                      </a:r>
                    </a:p>
                  </a:txBody>
                  <a:tcPr marL="73152" marR="73152" marT="36576" marB="36576" anchor="ctr">
                    <a:solidFill>
                      <a:srgbClr val="172033"/>
                    </a:solidFill>
                    <a:lnL w="6350" cap="flat" cmpd="sng">
                      <a:solidFill>
                        <a:srgbClr val="334155"/>
                      </a:solidFill>
                    </a:lnL>
                    <a:lnR w="6350" cap="flat" cmpd="sng">
                      <a:solidFill>
                        <a:srgbClr val="334155"/>
                      </a:solidFill>
                    </a:lnR>
                    <a:lnT w="6350" cap="flat" cmpd="sng">
                      <a:solidFill>
                        <a:srgbClr val="334155"/>
                      </a:solidFill>
                    </a:lnT>
                    <a:lnB w="6350" cap="flat" cmpd="sng">
                      <a:solidFill>
                        <a:srgbClr val="334155"/>
                      </a:solidFill>
                    </a:lnB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E5E7EB"/>
                          </a:solidFill>
                          <a:latin typeface="Malgun Gothic"/>
                        </a:rPr>
                        <a:t>LLM 호출</a:t>
                      </a:r>
                    </a:p>
                  </a:txBody>
                  <a:tcPr marL="73152" marR="73152" marT="36576" marB="36576" anchor="ctr">
                    <a:solidFill>
                      <a:srgbClr val="1E293B"/>
                    </a:solidFill>
                    <a:lnL w="6350" cap="flat" cmpd="sng">
                      <a:solidFill>
                        <a:srgbClr val="334155"/>
                      </a:solidFill>
                    </a:lnL>
                    <a:lnR w="6350" cap="flat" cmpd="sng">
                      <a:solidFill>
                        <a:srgbClr val="334155"/>
                      </a:solidFill>
                    </a:lnR>
                    <a:lnT w="6350" cap="flat" cmpd="sng">
                      <a:solidFill>
                        <a:srgbClr val="334155"/>
                      </a:solidFill>
                    </a:lnT>
                    <a:lnB w="6350" cap="flat" cmpd="sng">
                      <a:solidFill>
                        <a:srgbClr val="33415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E5E7EB"/>
                          </a:solidFill>
                          <a:latin typeface="Malgun Gothic"/>
                        </a:rPr>
                        <a:t>오프라인 277회(1회성) · 온라인 --basic 2 / --interview 4~6 / 기본 대화 6~8 / --profile 3 · check.py ≈45</a:t>
                      </a:r>
                    </a:p>
                  </a:txBody>
                  <a:tcPr marL="73152" marR="73152" marT="36576" marB="36576" anchor="ctr">
                    <a:solidFill>
                      <a:srgbClr val="1E293B"/>
                    </a:solidFill>
                    <a:lnL w="6350" cap="flat" cmpd="sng">
                      <a:solidFill>
                        <a:srgbClr val="334155"/>
                      </a:solidFill>
                    </a:lnL>
                    <a:lnR w="6350" cap="flat" cmpd="sng">
                      <a:solidFill>
                        <a:srgbClr val="334155"/>
                      </a:solidFill>
                    </a:lnR>
                    <a:lnT w="6350" cap="flat" cmpd="sng">
                      <a:solidFill>
                        <a:srgbClr val="334155"/>
                      </a:solidFill>
                    </a:lnT>
                    <a:lnB w="6350" cap="flat" cmpd="sng">
                      <a:solidFill>
                        <a:srgbClr val="334155"/>
                      </a:solidFill>
                    </a:lnB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E5E7EB"/>
                          </a:solidFill>
                          <a:latin typeface="Malgun Gothic"/>
                        </a:rPr>
                        <a:t>검증</a:t>
                      </a:r>
                    </a:p>
                  </a:txBody>
                  <a:tcPr marL="73152" marR="73152" marT="36576" marB="36576" anchor="ctr">
                    <a:solidFill>
                      <a:srgbClr val="172033"/>
                    </a:solidFill>
                    <a:lnL w="6350" cap="flat" cmpd="sng">
                      <a:solidFill>
                        <a:srgbClr val="334155"/>
                      </a:solidFill>
                    </a:lnL>
                    <a:lnR w="6350" cap="flat" cmpd="sng">
                      <a:solidFill>
                        <a:srgbClr val="334155"/>
                      </a:solidFill>
                    </a:lnR>
                    <a:lnT w="6350" cap="flat" cmpd="sng">
                      <a:solidFill>
                        <a:srgbClr val="334155"/>
                      </a:solidFill>
                    </a:lnT>
                    <a:lnB w="6350" cap="flat" cmpd="sng">
                      <a:solidFill>
                        <a:srgbClr val="33415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E5E7EB"/>
                          </a:solidFill>
                          <a:latin typeface="Malgun Gothic"/>
                        </a:rPr>
                        <a:t>확인 3건 · 평가셋 3질문 20/20 · 인터뷰 4/4 (두 번 연속)</a:t>
                      </a:r>
                    </a:p>
                  </a:txBody>
                  <a:tcPr marL="73152" marR="73152" marT="36576" marB="36576" anchor="ctr">
                    <a:solidFill>
                      <a:srgbClr val="172033"/>
                    </a:solidFill>
                    <a:lnL w="6350" cap="flat" cmpd="sng">
                      <a:solidFill>
                        <a:srgbClr val="334155"/>
                      </a:solidFill>
                    </a:lnL>
                    <a:lnR w="6350" cap="flat" cmpd="sng">
                      <a:solidFill>
                        <a:srgbClr val="334155"/>
                      </a:solidFill>
                    </a:lnR>
                    <a:lnT w="6350" cap="flat" cmpd="sng">
                      <a:solidFill>
                        <a:srgbClr val="334155"/>
                      </a:solidFill>
                    </a:lnT>
                    <a:lnB w="6350" cap="flat" cmpd="sng">
                      <a:solidFill>
                        <a:srgbClr val="33415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3" name="Rounded Rectangle 12"/>
          <p:cNvSpPr/>
          <p:nvPr/>
        </p:nvSpPr>
        <p:spPr>
          <a:xfrm>
            <a:off x="548640" y="4663440"/>
            <a:ext cx="11064240" cy="141732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Oval 13"/>
          <p:cNvSpPr/>
          <p:nvPr/>
        </p:nvSpPr>
        <p:spPr>
          <a:xfrm>
            <a:off x="749808" y="4809744"/>
            <a:ext cx="384048" cy="384048"/>
          </a:xfrm>
          <a:prstGeom prst="ellipse">
            <a:avLst/>
          </a:prstGeom>
          <a:solidFill>
            <a:srgbClr val="5EEA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61872" y="4855464"/>
            <a:ext cx="10149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5EEAD4"/>
                </a:solidFill>
                <a:latin typeface="Malgun Gothic"/>
              </a:rPr>
              <a:t>결정 기록 (docs/, 날짜순)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5330951"/>
            <a:ext cx="10607040" cy="612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01168" indent="-201168">
              <a:lnSpc>
                <a:spcPct val="112000"/>
              </a:lnSpc>
              <a:spcAft>
                <a:spcPts val="600"/>
              </a:spcAft>
              <a:buClr>
                <a:srgbClr val="5EEAD4"/>
              </a:buClr>
              <a:buFont typeface="Arial"/>
              <a:buChar char="•"/>
            </a:pPr>
            <a:r>
              <a:rPr sz="1100" b="0">
                <a:solidFill>
                  <a:srgbClr val="E5E7EB"/>
                </a:solidFill>
                <a:latin typeface="Malgun Gothic"/>
              </a:rPr>
              <a:t>09-15 전공추출_필터수정 · 온톨로지_계층</a:t>
            </a:r>
          </a:p>
          <a:p>
            <a:pPr marL="201168" indent="-201168">
              <a:lnSpc>
                <a:spcPct val="112000"/>
              </a:lnSpc>
              <a:spcAft>
                <a:spcPts val="600"/>
              </a:spcAft>
              <a:buClr>
                <a:srgbClr val="5EEAD4"/>
              </a:buClr>
              <a:buFont typeface="Arial"/>
              <a:buChar char="•"/>
            </a:pPr>
            <a:r>
              <a:rPr sz="1100" b="0">
                <a:solidFill>
                  <a:srgbClr val="E5E7EB"/>
                </a:solidFill>
                <a:latin typeface="Malgun Gothic"/>
              </a:rPr>
              <a:t>09-16 어휘_3단계_초안 · 대화형_입력_검토 · render_v2_스펙 · 인터뷰_평가_회귀_분석 · 발표_수치_4-5장 · 시연_대본</a:t>
            </a:r>
          </a:p>
          <a:p>
            <a:pPr marL="201168" indent="-201168">
              <a:lnSpc>
                <a:spcPct val="112000"/>
              </a:lnSpc>
              <a:spcAft>
                <a:spcPts val="600"/>
              </a:spcAft>
              <a:buClr>
                <a:srgbClr val="5EEAD4"/>
              </a:buClr>
              <a:buFont typeface="Arial"/>
              <a:buChar char="•"/>
            </a:pPr>
            <a:r>
              <a:rPr sz="1100" b="0">
                <a:solidFill>
                  <a:srgbClr val="E5E7EB"/>
                </a:solidFill>
                <a:latin typeface="Malgun Gothic"/>
              </a:rPr>
              <a:t>09-17 발표_내용_취합 · 챗봇_대조 · 쉽게-읽는-프로젝트-소개 · 프로젝트-설명서(12장, 1,200줄)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